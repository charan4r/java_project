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embeddedFontLst>
    <p:embeddedFont>
      <p:font typeface="Consolas" panose="020B0609020204030204" pitchFamily="49" charset="0"/>
      <p:regular r:id="rId22"/>
      <p:bold r:id="rId23"/>
      <p:italic r:id="rId24"/>
      <p:boldItalic r:id="rId25"/>
    </p:embeddedFont>
    <p:embeddedFont>
      <p:font typeface="Public Sans" panose="020B0604020202020204" charset="0"/>
      <p:regular r:id="rId26"/>
    </p:embeddedFont>
    <p:embeddedFont>
      <p:font typeface="Public Sans Bold" panose="020B0604020202020204" charset="0"/>
      <p:regular r:id="rId27"/>
    </p:embeddedFont>
    <p:embeddedFont>
      <p:font typeface="Public Sans SemiBold" panose="020B0604020202020204" charset="0"/>
      <p:regular r:id="rId28"/>
    </p:embeddedFont>
    <p:embeddedFont>
      <p:font typeface="Saira Semi Condensed" panose="020B0604020202020204" charset="0"/>
      <p:regular r:id="rId2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9" d="100"/>
          <a:sy n="89" d="100"/>
        </p:scale>
        <p:origin x="437"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360003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A3F46"/>
        </a:solidFill>
        <a:effectLst/>
      </p:bgPr>
    </p:bg>
    <p:spTree>
      <p:nvGrpSpPr>
        <p:cNvPr id="1" name=""/>
        <p:cNvGrpSpPr/>
        <p:nvPr/>
      </p:nvGrpSpPr>
      <p:grpSpPr>
        <a:xfrm>
          <a:off x="0" y="0"/>
          <a:ext cx="0" cy="0"/>
          <a:chOff x="0" y="0"/>
          <a:chExt cx="0" cy="0"/>
        </a:xfrm>
      </p:grpSpPr>
      <p:pic>
        <p:nvPicPr>
          <p:cNvPr id="2"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0A3F46"/>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A3F46"/>
          </a:solidFill>
          <a:ln/>
        </p:spPr>
      </p:sp>
      <p:pic>
        <p:nvPicPr>
          <p:cNvPr id="3"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6908627" cy="6858000"/>
          </a:xfrm>
          <a:prstGeom prst="rect">
            <a:avLst/>
          </a:prstGeom>
          <a:solidFill>
            <a:srgbClr val="0A3F46"/>
          </a:solidFill>
          <a:ln/>
        </p:spPr>
      </p:sp>
      <p:sp>
        <p:nvSpPr>
          <p:cNvPr id="3" name="Text 1"/>
          <p:cNvSpPr/>
          <p:nvPr/>
        </p:nvSpPr>
        <p:spPr>
          <a:xfrm>
            <a:off x="431789" y="534353"/>
            <a:ext cx="6476838"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FFFFFF"/>
                </a:solidFill>
                <a:latin typeface="Public Sans" pitchFamily="34" charset="0"/>
                <a:ea typeface="Public Sans" pitchFamily="34" charset="-122"/>
                <a:cs typeface="Public Sans" pitchFamily="34" charset="-120"/>
              </a:rPr>
              <a:t>CAPSTONE PROJECT</a:t>
            </a:r>
            <a:endParaRPr lang="en-US" sz="1050" dirty="0"/>
          </a:p>
        </p:txBody>
      </p:sp>
      <p:sp>
        <p:nvSpPr>
          <p:cNvPr id="4" name="Text 2"/>
          <p:cNvSpPr/>
          <p:nvPr/>
        </p:nvSpPr>
        <p:spPr>
          <a:xfrm>
            <a:off x="431789" y="3655715"/>
            <a:ext cx="6045049" cy="1270000"/>
          </a:xfrm>
          <a:prstGeom prst="rect">
            <a:avLst/>
          </a:prstGeom>
          <a:noFill/>
          <a:ln/>
        </p:spPr>
        <p:txBody>
          <a:bodyPr wrap="square" lIns="0" tIns="0" rIns="0" bIns="0" rtlCol="0" anchor="t">
            <a:normAutofit lnSpcReduction="10000"/>
          </a:bodyPr>
          <a:lstStyle/>
          <a:p>
            <a:pPr marL="0" indent="0" algn="l">
              <a:lnSpc>
                <a:spcPct val="83000"/>
              </a:lnSpc>
              <a:buNone/>
            </a:pPr>
            <a:r>
              <a:rPr lang="en-US" sz="5000" dirty="0">
                <a:solidFill>
                  <a:srgbClr val="FFFFFF"/>
                </a:solidFill>
                <a:latin typeface="Saira Semi Condensed" pitchFamily="34" charset="0"/>
                <a:ea typeface="Saira Semi Condensed" pitchFamily="34" charset="-122"/>
                <a:cs typeface="Saira Semi Condensed" pitchFamily="34" charset="-120"/>
              </a:rPr>
              <a:t>University Grade &amp; Attendance Tracker</a:t>
            </a:r>
            <a:endParaRPr lang="en-US" sz="5000" dirty="0"/>
          </a:p>
        </p:txBody>
      </p:sp>
      <p:sp>
        <p:nvSpPr>
          <p:cNvPr id="5" name="Text 3"/>
          <p:cNvSpPr/>
          <p:nvPr/>
        </p:nvSpPr>
        <p:spPr>
          <a:xfrm>
            <a:off x="431789" y="5042872"/>
            <a:ext cx="6045049" cy="497681"/>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FFFFFF"/>
                </a:solidFill>
                <a:latin typeface="Public Sans" pitchFamily="34" charset="0"/>
                <a:ea typeface="Public Sans" pitchFamily="34" charset="-122"/>
                <a:cs typeface="Public Sans" pitchFamily="34" charset="-120"/>
              </a:rPr>
              <a:t>A Centralized Java Application for Academic Record Management, Automated Grading, and Attendance Analytics</a:t>
            </a:r>
            <a:endParaRPr lang="en-US" sz="1400" dirty="0"/>
          </a:p>
        </p:txBody>
      </p:sp>
      <p:sp>
        <p:nvSpPr>
          <p:cNvPr id="6" name="Text 4"/>
          <p:cNvSpPr/>
          <p:nvPr/>
        </p:nvSpPr>
        <p:spPr>
          <a:xfrm>
            <a:off x="431789" y="5765661"/>
            <a:ext cx="6045049" cy="559891"/>
          </a:xfrm>
          <a:prstGeom prst="rect">
            <a:avLst/>
          </a:prstGeom>
          <a:noFill/>
          <a:ln/>
        </p:spPr>
        <p:txBody>
          <a:bodyPr wrap="square" lIns="0" tIns="0" rIns="0" bIns="0" rtlCol="0" anchor="t">
            <a:normAutofit/>
          </a:bodyPr>
          <a:lstStyle/>
          <a:p>
            <a:pPr marL="0" indent="0" algn="l">
              <a:lnSpc>
                <a:spcPct val="117000"/>
              </a:lnSpc>
              <a:buNone/>
            </a:pPr>
            <a:r>
              <a:rPr lang="en-US" sz="1050" dirty="0">
                <a:solidFill>
                  <a:srgbClr val="FFFFFF"/>
                </a:solidFill>
                <a:latin typeface="Public Sans" pitchFamily="34" charset="0"/>
                <a:ea typeface="Public Sans" pitchFamily="34" charset="-122"/>
                <a:cs typeface="Public Sans" pitchFamily="34" charset="-120"/>
              </a:rPr>
              <a:t>TEAM MEMBERS:</a:t>
            </a:r>
            <a:endParaRPr lang="en-US" sz="1050" dirty="0"/>
          </a:p>
          <a:p>
            <a:pPr marL="0" indent="0" algn="l">
              <a:lnSpc>
                <a:spcPct val="117000"/>
              </a:lnSpc>
              <a:buNone/>
            </a:pPr>
            <a:r>
              <a:rPr lang="en-US" sz="1050" dirty="0">
                <a:solidFill>
                  <a:srgbClr val="FFFFFF"/>
                </a:solidFill>
                <a:latin typeface="Public Sans" pitchFamily="34" charset="0"/>
                <a:ea typeface="Public Sans" pitchFamily="34" charset="-122"/>
                <a:cs typeface="Public Sans" pitchFamily="34" charset="-120"/>
              </a:rPr>
              <a:t>MARTHA HEMANTH SAI – 2620030510</a:t>
            </a:r>
            <a:endParaRPr lang="en-US" sz="1050" dirty="0"/>
          </a:p>
          <a:p>
            <a:pPr marL="0" indent="0" algn="l">
              <a:lnSpc>
                <a:spcPct val="117000"/>
              </a:lnSpc>
              <a:buNone/>
            </a:pPr>
            <a:r>
              <a:rPr lang="en-US" sz="1050" dirty="0">
                <a:solidFill>
                  <a:srgbClr val="FFFFFF"/>
                </a:solidFill>
                <a:latin typeface="Public Sans" pitchFamily="34" charset="0"/>
                <a:ea typeface="Public Sans" pitchFamily="34" charset="-122"/>
                <a:cs typeface="Public Sans" pitchFamily="34" charset="-120"/>
              </a:rPr>
              <a:t>PERICHARLA CHARAN VARMA - 2620030362</a:t>
            </a:r>
            <a:endParaRPr lang="en-US" sz="1050" dirty="0"/>
          </a:p>
        </p:txBody>
      </p:sp>
      <p:sp>
        <p:nvSpPr>
          <p:cNvPr id="7" name="Shape 5"/>
          <p:cNvSpPr/>
          <p:nvPr/>
        </p:nvSpPr>
        <p:spPr>
          <a:xfrm>
            <a:off x="6908627" y="0"/>
            <a:ext cx="5283068" cy="6858000"/>
          </a:xfrm>
          <a:prstGeom prst="rect">
            <a:avLst/>
          </a:prstGeom>
          <a:solidFill>
            <a:srgbClr val="0A3F46"/>
          </a:solidFill>
          <a:ln/>
        </p:spPr>
      </p:sp>
      <p:pic>
        <p:nvPicPr>
          <p:cNvPr id="8" name="Image 0" descr="preencoded.png"/>
          <p:cNvPicPr>
            <a:picLocks noChangeAspect="1"/>
          </p:cNvPicPr>
          <p:nvPr/>
        </p:nvPicPr>
        <p:blipFill>
          <a:blip r:embed="rId3"/>
          <a:stretch>
            <a:fillRect/>
          </a:stretch>
        </p:blipFill>
        <p:spPr>
          <a:xfrm>
            <a:off x="7264218" y="655042"/>
            <a:ext cx="3006749" cy="1257201"/>
          </a:xfrm>
          <a:prstGeom prst="rect">
            <a:avLst/>
          </a:prstGeom>
        </p:spPr>
      </p:pic>
      <p:pic>
        <p:nvPicPr>
          <p:cNvPr id="9" name="Image 1" descr="preencoded.png"/>
          <p:cNvPicPr>
            <a:picLocks noChangeAspect="1"/>
          </p:cNvPicPr>
          <p:nvPr/>
        </p:nvPicPr>
        <p:blipFill>
          <a:blip r:embed="rId4"/>
          <a:stretch>
            <a:fillRect/>
          </a:stretch>
        </p:blipFill>
        <p:spPr>
          <a:xfrm>
            <a:off x="7264218" y="2382143"/>
            <a:ext cx="4571886" cy="269041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34984" y="1818045"/>
            <a:ext cx="11531312"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FFFFFF"/>
                </a:solidFill>
                <a:latin typeface="Public Sans" pitchFamily="34" charset="0"/>
                <a:ea typeface="Public Sans" pitchFamily="34" charset="-122"/>
                <a:cs typeface="Public Sans" pitchFamily="34" charset="-120"/>
              </a:rPr>
              <a:t>01 / PROJECT FOUNDATION</a:t>
            </a:r>
            <a:endParaRPr lang="en-US" sz="1050" dirty="0"/>
          </a:p>
        </p:txBody>
      </p:sp>
      <p:sp>
        <p:nvSpPr>
          <p:cNvPr id="3" name="Text 1"/>
          <p:cNvSpPr/>
          <p:nvPr/>
        </p:nvSpPr>
        <p:spPr>
          <a:xfrm>
            <a:off x="634984" y="2141835"/>
            <a:ext cx="10921727" cy="635000"/>
          </a:xfrm>
          <a:prstGeom prst="rect">
            <a:avLst/>
          </a:prstGeom>
          <a:noFill/>
          <a:ln/>
        </p:spPr>
        <p:txBody>
          <a:bodyPr wrap="none" lIns="0" tIns="0" rIns="0" bIns="0" rtlCol="0" anchor="t"/>
          <a:lstStyle/>
          <a:p>
            <a:pPr marL="0" indent="0" algn="l">
              <a:lnSpc>
                <a:spcPct val="83000"/>
              </a:lnSpc>
              <a:buNone/>
            </a:pPr>
            <a:r>
              <a:rPr lang="en-US" sz="5000" dirty="0">
                <a:solidFill>
                  <a:srgbClr val="FFFFFF"/>
                </a:solidFill>
                <a:latin typeface="Saira Semi Condensed" pitchFamily="34" charset="0"/>
                <a:ea typeface="Saira Semi Condensed" pitchFamily="34" charset="-122"/>
                <a:cs typeface="Saira Semi Condensed" pitchFamily="34" charset="-120"/>
              </a:rPr>
              <a:t>ABSTRACT</a:t>
            </a:r>
            <a:endParaRPr lang="en-US" sz="5000" dirty="0"/>
          </a:p>
        </p:txBody>
      </p:sp>
      <p:sp>
        <p:nvSpPr>
          <p:cNvPr id="4" name="Shape 2"/>
          <p:cNvSpPr/>
          <p:nvPr/>
        </p:nvSpPr>
        <p:spPr>
          <a:xfrm>
            <a:off x="634984" y="2933998"/>
            <a:ext cx="3604130" cy="38100"/>
          </a:xfrm>
          <a:prstGeom prst="roundRect">
            <a:avLst>
              <a:gd name="adj" fmla="val 49999"/>
            </a:avLst>
          </a:prstGeom>
          <a:solidFill>
            <a:srgbClr val="E8744F"/>
          </a:solidFill>
          <a:ln/>
        </p:spPr>
      </p:sp>
      <p:sp>
        <p:nvSpPr>
          <p:cNvPr id="5" name="Text 3"/>
          <p:cNvSpPr/>
          <p:nvPr/>
        </p:nvSpPr>
        <p:spPr>
          <a:xfrm>
            <a:off x="634984" y="3175298"/>
            <a:ext cx="10921727" cy="1865511"/>
          </a:xfrm>
          <a:prstGeom prst="rect">
            <a:avLst/>
          </a:prstGeom>
          <a:noFill/>
          <a:ln/>
        </p:spPr>
        <p:txBody>
          <a:bodyPr wrap="square" lIns="0" tIns="0" rIns="0" bIns="0" rtlCol="0" anchor="t">
            <a:normAutofit/>
          </a:bodyPr>
          <a:lstStyle/>
          <a:p>
            <a:pPr marL="0" indent="0" algn="l">
              <a:lnSpc>
                <a:spcPct val="117000"/>
              </a:lnSpc>
              <a:spcAft>
                <a:spcPts val="1200"/>
              </a:spcAft>
              <a:buNone/>
            </a:pPr>
            <a:r>
              <a:rPr lang="en-US" sz="1600" dirty="0">
                <a:solidFill>
                  <a:srgbClr val="FFFFFF"/>
                </a:solidFill>
                <a:latin typeface="Public Sans" pitchFamily="34" charset="0"/>
                <a:ea typeface="Public Sans" pitchFamily="34" charset="-122"/>
                <a:cs typeface="Public Sans" pitchFamily="34" charset="-120"/>
              </a:rPr>
              <a:t>The University Grade &amp; Attendance Tracker is a centralized Java application designed to manage student academic records, automate grade calculations, and monitor attendance. The system stores student profiles, subject marks, and attendance information in a structured way, helping standardize academic evaluation.</a:t>
            </a:r>
            <a:endParaRPr lang="en-US" sz="1600" dirty="0"/>
          </a:p>
          <a:p>
            <a:pPr marL="0" indent="0" algn="l">
              <a:lnSpc>
                <a:spcPct val="117000"/>
              </a:lnSpc>
              <a:buNone/>
            </a:pPr>
            <a:r>
              <a:rPr lang="en-US" sz="1600" dirty="0">
                <a:solidFill>
                  <a:srgbClr val="FFFFFF"/>
                </a:solidFill>
                <a:latin typeface="Public Sans" pitchFamily="34" charset="0"/>
                <a:ea typeface="Public Sans" pitchFamily="34" charset="-122"/>
                <a:cs typeface="Public Sans" pitchFamily="34" charset="-120"/>
              </a:rPr>
              <a:t>The application reduces the time and calculation errors associated with manual record management. It automatically calculates totals, percentages, grade points, and attendance status, while identifying attendance shortages and supporting clear academic reports.</a:t>
            </a:r>
            <a:endParaRPr lang="en-US" sz="1600" dirty="0"/>
          </a:p>
        </p:txBody>
      </p:sp>
      <p:sp>
        <p:nvSpPr>
          <p:cNvPr id="6" name="Text 4"/>
          <p:cNvSpPr/>
          <p:nvPr/>
        </p:nvSpPr>
        <p:spPr>
          <a:xfrm>
            <a:off x="177895" y="6466086"/>
            <a:ext cx="2161030" cy="174129"/>
          </a:xfrm>
          <a:prstGeom prst="rect">
            <a:avLst/>
          </a:prstGeom>
          <a:noFill/>
          <a:ln/>
        </p:spPr>
        <p:txBody>
          <a:bodyPr wrap="none" lIns="0" tIns="0" rIns="0" bIns="0" rtlCol="0" anchor="ctr"/>
          <a:lstStyle/>
          <a:p>
            <a:pPr marL="0" indent="0" algn="l">
              <a:lnSpc>
                <a:spcPct val="117000"/>
              </a:lnSpc>
              <a:buNone/>
            </a:pPr>
            <a:r>
              <a:rPr lang="en-US" sz="1000" dirty="0">
                <a:solidFill>
                  <a:srgbClr val="EAF6FA"/>
                </a:solidFill>
                <a:latin typeface="Public Sans" pitchFamily="34" charset="0"/>
                <a:ea typeface="Public Sans" pitchFamily="34" charset="-122"/>
                <a:cs typeface="Public Sans" pitchFamily="34" charset="-120"/>
              </a:rPr>
              <a:t>JAVA • ACADEMIC SYSTEM</a:t>
            </a:r>
            <a:endParaRPr lang="en-US" sz="1000" dirty="0"/>
          </a:p>
        </p:txBody>
      </p:sp>
      <p:sp>
        <p:nvSpPr>
          <p:cNvPr id="7" name="Text 5"/>
          <p:cNvSpPr/>
          <p:nvPr/>
        </p:nvSpPr>
        <p:spPr>
          <a:xfrm>
            <a:off x="11939686" y="6466086"/>
            <a:ext cx="252009" cy="174129"/>
          </a:xfrm>
          <a:prstGeom prst="rect">
            <a:avLst/>
          </a:prstGeom>
          <a:noFill/>
          <a:ln/>
        </p:spPr>
        <p:txBody>
          <a:bodyPr wrap="none" lIns="0" tIns="0" rIns="0" bIns="0" rtlCol="0" anchor="ctr"/>
          <a:lstStyle/>
          <a:p>
            <a:pPr marL="0" indent="0" algn="l">
              <a:lnSpc>
                <a:spcPct val="117000"/>
              </a:lnSpc>
              <a:buNone/>
            </a:pPr>
            <a:r>
              <a:rPr lang="en-US" sz="1000" dirty="0">
                <a:solidFill>
                  <a:srgbClr val="EAF6FA"/>
                </a:solidFill>
                <a:latin typeface="Public Sans" pitchFamily="34" charset="0"/>
                <a:ea typeface="Public Sans" pitchFamily="34" charset="-122"/>
                <a:cs typeface="Public Sans"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34984" y="1701264"/>
            <a:ext cx="11531312"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FFFFFF"/>
                </a:solidFill>
                <a:latin typeface="Public Sans" pitchFamily="34" charset="0"/>
                <a:ea typeface="Public Sans" pitchFamily="34" charset="-122"/>
                <a:cs typeface="Public Sans" pitchFamily="34" charset="-120"/>
              </a:rPr>
              <a:t>02 / CONTEXT</a:t>
            </a:r>
            <a:endParaRPr lang="en-US" sz="1050" dirty="0"/>
          </a:p>
        </p:txBody>
      </p:sp>
      <p:sp>
        <p:nvSpPr>
          <p:cNvPr id="3" name="Text 1"/>
          <p:cNvSpPr/>
          <p:nvPr/>
        </p:nvSpPr>
        <p:spPr>
          <a:xfrm>
            <a:off x="634984" y="2025055"/>
            <a:ext cx="10921727" cy="635000"/>
          </a:xfrm>
          <a:prstGeom prst="rect">
            <a:avLst/>
          </a:prstGeom>
          <a:noFill/>
          <a:ln/>
        </p:spPr>
        <p:txBody>
          <a:bodyPr wrap="none" lIns="0" tIns="0" rIns="0" bIns="0" rtlCol="0" anchor="t"/>
          <a:lstStyle/>
          <a:p>
            <a:pPr marL="0" indent="0" algn="l">
              <a:lnSpc>
                <a:spcPct val="83000"/>
              </a:lnSpc>
              <a:buNone/>
            </a:pPr>
            <a:r>
              <a:rPr lang="en-US" sz="5000" dirty="0">
                <a:solidFill>
                  <a:srgbClr val="FFFFFF"/>
                </a:solidFill>
                <a:latin typeface="Saira Semi Condensed" pitchFamily="34" charset="0"/>
                <a:ea typeface="Saira Semi Condensed" pitchFamily="34" charset="-122"/>
                <a:cs typeface="Saira Semi Condensed" pitchFamily="34" charset="-120"/>
              </a:rPr>
              <a:t>INTRODUCTION</a:t>
            </a:r>
            <a:endParaRPr lang="en-US" sz="5000" dirty="0"/>
          </a:p>
        </p:txBody>
      </p:sp>
      <p:sp>
        <p:nvSpPr>
          <p:cNvPr id="4" name="Shape 2"/>
          <p:cNvSpPr/>
          <p:nvPr/>
        </p:nvSpPr>
        <p:spPr>
          <a:xfrm>
            <a:off x="634984" y="2766417"/>
            <a:ext cx="3604130" cy="38100"/>
          </a:xfrm>
          <a:prstGeom prst="roundRect">
            <a:avLst>
              <a:gd name="adj" fmla="val 49999"/>
            </a:avLst>
          </a:prstGeom>
          <a:solidFill>
            <a:srgbClr val="E8744F"/>
          </a:solidFill>
          <a:ln/>
        </p:spPr>
      </p:sp>
      <p:sp>
        <p:nvSpPr>
          <p:cNvPr id="5" name="Text 3"/>
          <p:cNvSpPr/>
          <p:nvPr/>
        </p:nvSpPr>
        <p:spPr>
          <a:xfrm>
            <a:off x="634984" y="3007717"/>
            <a:ext cx="10921727" cy="2149971"/>
          </a:xfrm>
          <a:prstGeom prst="rect">
            <a:avLst/>
          </a:prstGeom>
          <a:noFill/>
          <a:ln/>
        </p:spPr>
        <p:txBody>
          <a:bodyPr wrap="square" lIns="0" tIns="0" rIns="0" bIns="0" rtlCol="0" anchor="t">
            <a:normAutofit/>
          </a:bodyPr>
          <a:lstStyle/>
          <a:p>
            <a:pPr marL="0" indent="0" algn="l">
              <a:lnSpc>
                <a:spcPct val="117000"/>
              </a:lnSpc>
              <a:spcAft>
                <a:spcPts val="1200"/>
              </a:spcAft>
              <a:buNone/>
            </a:pPr>
            <a:r>
              <a:rPr lang="en-US" sz="1600" dirty="0">
                <a:solidFill>
                  <a:srgbClr val="FFFFFF"/>
                </a:solidFill>
                <a:latin typeface="Public Sans" pitchFamily="34" charset="0"/>
                <a:ea typeface="Public Sans" pitchFamily="34" charset="-122"/>
                <a:cs typeface="Public Sans" pitchFamily="34" charset="-120"/>
              </a:rPr>
              <a:t>Academic record management is an important part of university administration, but manual handling of student marks and attendance can be time-consuming and may lead to calculation or record-keeping errors. A centralized system can organize these records and make routine academic evaluation more consistent and efficient.</a:t>
            </a:r>
            <a:endParaRPr lang="en-US" sz="1600" dirty="0"/>
          </a:p>
          <a:p>
            <a:pPr marL="0" indent="0" algn="l">
              <a:lnSpc>
                <a:spcPct val="117000"/>
              </a:lnSpc>
              <a:buNone/>
            </a:pPr>
            <a:r>
              <a:rPr lang="en-US" sz="1600" dirty="0">
                <a:solidFill>
                  <a:srgbClr val="FFFFFF"/>
                </a:solidFill>
                <a:latin typeface="Public Sans" pitchFamily="34" charset="0"/>
                <a:ea typeface="Public Sans" pitchFamily="34" charset="-122"/>
                <a:cs typeface="Public Sans" pitchFamily="34" charset="-120"/>
              </a:rPr>
              <a:t>This project uses Java to develop a University Grade &amp; Attendance Tracker that combines student profiling, automated grade calculation, attendance monitoring, and reporting. The system applies conditional statements, loops, arrays, methods, and logical rules to process academic data and determine performance and attendance eligibility.</a:t>
            </a:r>
            <a:endParaRPr lang="en-US" sz="1600" dirty="0"/>
          </a:p>
        </p:txBody>
      </p:sp>
      <p:sp>
        <p:nvSpPr>
          <p:cNvPr id="6" name="Text 4"/>
          <p:cNvSpPr/>
          <p:nvPr/>
        </p:nvSpPr>
        <p:spPr>
          <a:xfrm>
            <a:off x="177895" y="6466086"/>
            <a:ext cx="2161030" cy="174129"/>
          </a:xfrm>
          <a:prstGeom prst="rect">
            <a:avLst/>
          </a:prstGeom>
          <a:noFill/>
          <a:ln/>
        </p:spPr>
        <p:txBody>
          <a:bodyPr wrap="none" lIns="0" tIns="0" rIns="0" bIns="0" rtlCol="0" anchor="ctr"/>
          <a:lstStyle/>
          <a:p>
            <a:pPr marL="0" indent="0" algn="l">
              <a:lnSpc>
                <a:spcPct val="117000"/>
              </a:lnSpc>
              <a:buNone/>
            </a:pPr>
            <a:r>
              <a:rPr lang="en-US" sz="1000" dirty="0">
                <a:solidFill>
                  <a:srgbClr val="EAF6FA"/>
                </a:solidFill>
                <a:latin typeface="Public Sans" pitchFamily="34" charset="0"/>
                <a:ea typeface="Public Sans" pitchFamily="34" charset="-122"/>
                <a:cs typeface="Public Sans" pitchFamily="34" charset="-120"/>
              </a:rPr>
              <a:t>JAVA • ACADEMIC SYSTEM</a:t>
            </a:r>
            <a:endParaRPr lang="en-US" sz="1000" dirty="0"/>
          </a:p>
        </p:txBody>
      </p:sp>
      <p:sp>
        <p:nvSpPr>
          <p:cNvPr id="7" name="Text 5"/>
          <p:cNvSpPr/>
          <p:nvPr/>
        </p:nvSpPr>
        <p:spPr>
          <a:xfrm>
            <a:off x="11935419" y="6466086"/>
            <a:ext cx="256276" cy="174129"/>
          </a:xfrm>
          <a:prstGeom prst="rect">
            <a:avLst/>
          </a:prstGeom>
          <a:noFill/>
          <a:ln/>
        </p:spPr>
        <p:txBody>
          <a:bodyPr wrap="none" lIns="0" tIns="0" rIns="0" bIns="0" rtlCol="0" anchor="ctr"/>
          <a:lstStyle/>
          <a:p>
            <a:pPr marL="0" indent="0" algn="l">
              <a:lnSpc>
                <a:spcPct val="117000"/>
              </a:lnSpc>
              <a:buNone/>
            </a:pPr>
            <a:r>
              <a:rPr lang="en-US" sz="1000" dirty="0">
                <a:solidFill>
                  <a:srgbClr val="EAF6FA"/>
                </a:solidFill>
                <a:latin typeface="Public Sans" pitchFamily="34" charset="0"/>
                <a:ea typeface="Public Sans" pitchFamily="34" charset="-122"/>
                <a:cs typeface="Public Sans"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09585" y="610553"/>
            <a:ext cx="11582110"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A9DDF0"/>
                </a:solidFill>
                <a:latin typeface="Public Sans" pitchFamily="34" charset="0"/>
                <a:ea typeface="Public Sans" pitchFamily="34" charset="-122"/>
                <a:cs typeface="Public Sans" pitchFamily="34" charset="-120"/>
              </a:rPr>
              <a:t>03 / PURPOSE &amp; GOALS</a:t>
            </a:r>
            <a:endParaRPr lang="en-US" sz="1050" dirty="0"/>
          </a:p>
        </p:txBody>
      </p:sp>
      <p:sp>
        <p:nvSpPr>
          <p:cNvPr id="3" name="Text 1"/>
          <p:cNvSpPr/>
          <p:nvPr/>
        </p:nvSpPr>
        <p:spPr>
          <a:xfrm>
            <a:off x="609585" y="934343"/>
            <a:ext cx="10972526" cy="635000"/>
          </a:xfrm>
          <a:prstGeom prst="rect">
            <a:avLst/>
          </a:prstGeom>
          <a:noFill/>
          <a:ln/>
        </p:spPr>
        <p:txBody>
          <a:bodyPr wrap="none" lIns="0" tIns="0" rIns="0" bIns="0" rtlCol="0" anchor="t"/>
          <a:lstStyle/>
          <a:p>
            <a:pPr marL="0" indent="0" algn="l">
              <a:lnSpc>
                <a:spcPct val="83000"/>
              </a:lnSpc>
              <a:buNone/>
            </a:pPr>
            <a:r>
              <a:rPr lang="en-US" sz="5000" dirty="0">
                <a:solidFill>
                  <a:srgbClr val="EAF6FA"/>
                </a:solidFill>
                <a:latin typeface="Saira Semi Condensed" pitchFamily="34" charset="0"/>
                <a:ea typeface="Saira Semi Condensed" pitchFamily="34" charset="-122"/>
                <a:cs typeface="Saira Semi Condensed" pitchFamily="34" charset="-120"/>
              </a:rPr>
              <a:t>PROJECT OBJECTIVES</a:t>
            </a:r>
            <a:endParaRPr lang="en-US" sz="5000" dirty="0"/>
          </a:p>
        </p:txBody>
      </p:sp>
      <p:sp>
        <p:nvSpPr>
          <p:cNvPr id="4" name="Text 2"/>
          <p:cNvSpPr/>
          <p:nvPr/>
        </p:nvSpPr>
        <p:spPr>
          <a:xfrm>
            <a:off x="609585" y="1686501"/>
            <a:ext cx="11582110" cy="248841"/>
          </a:xfrm>
          <a:prstGeom prst="rect">
            <a:avLst/>
          </a:prstGeom>
          <a:noFill/>
          <a:ln/>
        </p:spPr>
        <p:txBody>
          <a:bodyPr wrap="none" lIns="0" tIns="0" rIns="0" bIns="0" rtlCol="0" anchor="t"/>
          <a:lstStyle/>
          <a:p>
            <a:pPr marL="0" indent="0" algn="l">
              <a:lnSpc>
                <a:spcPct val="117000"/>
              </a:lnSpc>
              <a:buNone/>
            </a:pPr>
            <a:r>
              <a:rPr lang="en-US" sz="1400" dirty="0">
                <a:solidFill>
                  <a:srgbClr val="EAF6FA"/>
                </a:solidFill>
                <a:latin typeface="Public Sans" pitchFamily="34" charset="0"/>
                <a:ea typeface="Public Sans" pitchFamily="34" charset="-122"/>
                <a:cs typeface="Public Sans" pitchFamily="34" charset="-120"/>
              </a:rPr>
              <a:t>Four capabilities turn academic records into a consistent workflow.</a:t>
            </a:r>
            <a:endParaRPr lang="en-US" sz="1400" dirty="0"/>
          </a:p>
        </p:txBody>
      </p:sp>
      <p:sp>
        <p:nvSpPr>
          <p:cNvPr id="5" name="Shape 3"/>
          <p:cNvSpPr/>
          <p:nvPr/>
        </p:nvSpPr>
        <p:spPr>
          <a:xfrm>
            <a:off x="609585" y="2089646"/>
            <a:ext cx="2514537" cy="2936478"/>
          </a:xfrm>
          <a:prstGeom prst="roundRect">
            <a:avLst>
              <a:gd name="adj" fmla="val 455"/>
            </a:avLst>
          </a:prstGeom>
          <a:solidFill>
            <a:srgbClr val="0A3F46"/>
          </a:solidFill>
          <a:ln/>
        </p:spPr>
      </p:sp>
      <p:pic>
        <p:nvPicPr>
          <p:cNvPr id="6" name="Image 0" descr="preencoded.png"/>
          <p:cNvPicPr>
            <a:picLocks noChangeAspect="1"/>
          </p:cNvPicPr>
          <p:nvPr/>
        </p:nvPicPr>
        <p:blipFill>
          <a:blip r:embed="rId3"/>
          <a:stretch>
            <a:fillRect/>
          </a:stretch>
        </p:blipFill>
        <p:spPr>
          <a:xfrm>
            <a:off x="838179" y="2318246"/>
            <a:ext cx="390515" cy="390525"/>
          </a:xfrm>
          <a:prstGeom prst="rect">
            <a:avLst/>
          </a:prstGeom>
        </p:spPr>
      </p:pic>
      <p:sp>
        <p:nvSpPr>
          <p:cNvPr id="7" name="Text 4"/>
          <p:cNvSpPr/>
          <p:nvPr/>
        </p:nvSpPr>
        <p:spPr>
          <a:xfrm>
            <a:off x="838179" y="2883396"/>
            <a:ext cx="2057349" cy="558800"/>
          </a:xfrm>
          <a:prstGeom prst="rect">
            <a:avLst/>
          </a:prstGeom>
          <a:noFill/>
          <a:ln/>
        </p:spPr>
        <p:txBody>
          <a:bodyPr wrap="square" lIns="0" tIns="0" rIns="0" bIns="0" rtlCol="0" anchor="t">
            <a:normAutofit lnSpcReduction="10000"/>
          </a:bodyPr>
          <a:lstStyle/>
          <a:p>
            <a:pPr marL="0" indent="0" algn="l">
              <a:lnSpc>
                <a:spcPct val="92000"/>
              </a:lnSpc>
              <a:buNone/>
            </a:pPr>
            <a:r>
              <a:rPr lang="en-US" sz="2000" dirty="0">
                <a:solidFill>
                  <a:srgbClr val="A9DDF0"/>
                </a:solidFill>
                <a:latin typeface="Saira Semi Condensed" pitchFamily="34" charset="0"/>
                <a:ea typeface="Saira Semi Condensed" pitchFamily="34" charset="-122"/>
                <a:cs typeface="Saira Semi Condensed" pitchFamily="34" charset="-120"/>
              </a:rPr>
              <a:t>Centralized Profiling</a:t>
            </a:r>
            <a:endParaRPr lang="en-US" sz="2000" dirty="0"/>
          </a:p>
        </p:txBody>
      </p:sp>
      <p:sp>
        <p:nvSpPr>
          <p:cNvPr id="8" name="Text 5"/>
          <p:cNvSpPr/>
          <p:nvPr/>
        </p:nvSpPr>
        <p:spPr>
          <a:xfrm>
            <a:off x="838179" y="3557766"/>
            <a:ext cx="2057349" cy="995363"/>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EAF6FA"/>
                </a:solidFill>
                <a:latin typeface="Public Sans" pitchFamily="34" charset="0"/>
                <a:ea typeface="Public Sans" pitchFamily="34" charset="-122"/>
                <a:cs typeface="Public Sans" pitchFamily="34" charset="-120"/>
              </a:rPr>
              <a:t>Standardize student records, marks, and attendance data in single dynamic arrays.</a:t>
            </a:r>
            <a:endParaRPr lang="en-US" sz="1400" dirty="0"/>
          </a:p>
        </p:txBody>
      </p:sp>
      <p:sp>
        <p:nvSpPr>
          <p:cNvPr id="9" name="Shape 6"/>
          <p:cNvSpPr/>
          <p:nvPr/>
        </p:nvSpPr>
        <p:spPr>
          <a:xfrm>
            <a:off x="3428914" y="2089646"/>
            <a:ext cx="2514537" cy="2936478"/>
          </a:xfrm>
          <a:prstGeom prst="roundRect">
            <a:avLst>
              <a:gd name="adj" fmla="val 455"/>
            </a:avLst>
          </a:prstGeom>
          <a:solidFill>
            <a:srgbClr val="0A3F46"/>
          </a:solidFill>
          <a:ln/>
        </p:spPr>
      </p:sp>
      <p:pic>
        <p:nvPicPr>
          <p:cNvPr id="10" name="Image 1" descr="preencoded.png"/>
          <p:cNvPicPr>
            <a:picLocks noChangeAspect="1"/>
          </p:cNvPicPr>
          <p:nvPr/>
        </p:nvPicPr>
        <p:blipFill>
          <a:blip r:embed="rId4"/>
          <a:stretch>
            <a:fillRect/>
          </a:stretch>
        </p:blipFill>
        <p:spPr>
          <a:xfrm>
            <a:off x="3657509" y="2318246"/>
            <a:ext cx="390515" cy="390525"/>
          </a:xfrm>
          <a:prstGeom prst="rect">
            <a:avLst/>
          </a:prstGeom>
        </p:spPr>
      </p:pic>
      <p:sp>
        <p:nvSpPr>
          <p:cNvPr id="11" name="Text 7"/>
          <p:cNvSpPr/>
          <p:nvPr/>
        </p:nvSpPr>
        <p:spPr>
          <a:xfrm>
            <a:off x="3657509" y="2883396"/>
            <a:ext cx="2057349" cy="558800"/>
          </a:xfrm>
          <a:prstGeom prst="rect">
            <a:avLst/>
          </a:prstGeom>
          <a:noFill/>
          <a:ln/>
        </p:spPr>
        <p:txBody>
          <a:bodyPr wrap="square" lIns="0" tIns="0" rIns="0" bIns="0" rtlCol="0" anchor="t">
            <a:normAutofit lnSpcReduction="10000"/>
          </a:bodyPr>
          <a:lstStyle/>
          <a:p>
            <a:pPr marL="0" indent="0" algn="l">
              <a:lnSpc>
                <a:spcPct val="92000"/>
              </a:lnSpc>
              <a:buNone/>
            </a:pPr>
            <a:r>
              <a:rPr lang="en-US" sz="2000" dirty="0">
                <a:solidFill>
                  <a:srgbClr val="A9DDF0"/>
                </a:solidFill>
                <a:latin typeface="Saira Semi Condensed" pitchFamily="34" charset="0"/>
                <a:ea typeface="Saira Semi Condensed" pitchFamily="34" charset="-122"/>
                <a:cs typeface="Saira Semi Condensed" pitchFamily="34" charset="-120"/>
              </a:rPr>
              <a:t>Automated Grade Engine</a:t>
            </a:r>
            <a:endParaRPr lang="en-US" sz="2000" dirty="0"/>
          </a:p>
        </p:txBody>
      </p:sp>
      <p:sp>
        <p:nvSpPr>
          <p:cNvPr id="12" name="Text 8"/>
          <p:cNvSpPr/>
          <p:nvPr/>
        </p:nvSpPr>
        <p:spPr>
          <a:xfrm>
            <a:off x="3657509" y="3557766"/>
            <a:ext cx="2057349" cy="1244203"/>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EAF6FA"/>
                </a:solidFill>
                <a:latin typeface="Public Sans" pitchFamily="34" charset="0"/>
                <a:ea typeface="Public Sans" pitchFamily="34" charset="-122"/>
                <a:cs typeface="Public Sans" pitchFamily="34" charset="-120"/>
              </a:rPr>
              <a:t>Calculate totals, percentages, GPA points, and letter grades without manual arithmetic.</a:t>
            </a:r>
            <a:endParaRPr lang="en-US" sz="1400" dirty="0"/>
          </a:p>
        </p:txBody>
      </p:sp>
      <p:sp>
        <p:nvSpPr>
          <p:cNvPr id="13" name="Shape 9"/>
          <p:cNvSpPr/>
          <p:nvPr/>
        </p:nvSpPr>
        <p:spPr>
          <a:xfrm>
            <a:off x="6248244" y="2089646"/>
            <a:ext cx="2514537" cy="2936478"/>
          </a:xfrm>
          <a:prstGeom prst="roundRect">
            <a:avLst>
              <a:gd name="adj" fmla="val 455"/>
            </a:avLst>
          </a:prstGeom>
          <a:solidFill>
            <a:srgbClr val="0A3F46"/>
          </a:solidFill>
          <a:ln/>
        </p:spPr>
      </p:sp>
      <p:pic>
        <p:nvPicPr>
          <p:cNvPr id="14" name="Image 2" descr="preencoded.png"/>
          <p:cNvPicPr>
            <a:picLocks noChangeAspect="1"/>
          </p:cNvPicPr>
          <p:nvPr/>
        </p:nvPicPr>
        <p:blipFill>
          <a:blip r:embed="rId3"/>
          <a:stretch>
            <a:fillRect/>
          </a:stretch>
        </p:blipFill>
        <p:spPr>
          <a:xfrm>
            <a:off x="6476838" y="2318246"/>
            <a:ext cx="390515" cy="390525"/>
          </a:xfrm>
          <a:prstGeom prst="rect">
            <a:avLst/>
          </a:prstGeom>
        </p:spPr>
      </p:pic>
      <p:sp>
        <p:nvSpPr>
          <p:cNvPr id="15" name="Text 10"/>
          <p:cNvSpPr/>
          <p:nvPr/>
        </p:nvSpPr>
        <p:spPr>
          <a:xfrm>
            <a:off x="6476838" y="2883396"/>
            <a:ext cx="2057349" cy="558800"/>
          </a:xfrm>
          <a:prstGeom prst="rect">
            <a:avLst/>
          </a:prstGeom>
          <a:noFill/>
          <a:ln/>
        </p:spPr>
        <p:txBody>
          <a:bodyPr wrap="square" lIns="0" tIns="0" rIns="0" bIns="0" rtlCol="0" anchor="t">
            <a:normAutofit lnSpcReduction="10000"/>
          </a:bodyPr>
          <a:lstStyle/>
          <a:p>
            <a:pPr marL="0" indent="0" algn="l">
              <a:lnSpc>
                <a:spcPct val="92000"/>
              </a:lnSpc>
              <a:buNone/>
            </a:pPr>
            <a:r>
              <a:rPr lang="en-US" sz="2000" dirty="0">
                <a:solidFill>
                  <a:srgbClr val="A9DDF0"/>
                </a:solidFill>
                <a:latin typeface="Saira Semi Condensed" pitchFamily="34" charset="0"/>
                <a:ea typeface="Saira Semi Condensed" pitchFamily="34" charset="-122"/>
                <a:cs typeface="Saira Semi Condensed" pitchFamily="34" charset="-120"/>
              </a:rPr>
              <a:t>Attendance Tracking</a:t>
            </a:r>
            <a:endParaRPr lang="en-US" sz="2000" dirty="0"/>
          </a:p>
        </p:txBody>
      </p:sp>
      <p:sp>
        <p:nvSpPr>
          <p:cNvPr id="16" name="Text 11"/>
          <p:cNvSpPr/>
          <p:nvPr/>
        </p:nvSpPr>
        <p:spPr>
          <a:xfrm>
            <a:off x="6476838" y="3557766"/>
            <a:ext cx="2057349" cy="995363"/>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EAF6FA"/>
                </a:solidFill>
                <a:latin typeface="Public Sans" pitchFamily="34" charset="0"/>
                <a:ea typeface="Public Sans" pitchFamily="34" charset="-122"/>
                <a:cs typeface="Public Sans" pitchFamily="34" charset="-120"/>
              </a:rPr>
              <a:t>Monitor subject-wise attendance and trigger automatic eligibility warnings at 75%.</a:t>
            </a:r>
            <a:endParaRPr lang="en-US" sz="1400" dirty="0"/>
          </a:p>
        </p:txBody>
      </p:sp>
      <p:sp>
        <p:nvSpPr>
          <p:cNvPr id="17" name="Shape 12"/>
          <p:cNvSpPr/>
          <p:nvPr/>
        </p:nvSpPr>
        <p:spPr>
          <a:xfrm>
            <a:off x="9067573" y="2089646"/>
            <a:ext cx="2514537" cy="2936478"/>
          </a:xfrm>
          <a:prstGeom prst="roundRect">
            <a:avLst>
              <a:gd name="adj" fmla="val 455"/>
            </a:avLst>
          </a:prstGeom>
          <a:solidFill>
            <a:srgbClr val="0A3F46"/>
          </a:solidFill>
          <a:ln/>
        </p:spPr>
      </p:sp>
      <p:pic>
        <p:nvPicPr>
          <p:cNvPr id="18" name="Image 3" descr="preencoded.png"/>
          <p:cNvPicPr>
            <a:picLocks noChangeAspect="1"/>
          </p:cNvPicPr>
          <p:nvPr/>
        </p:nvPicPr>
        <p:blipFill>
          <a:blip r:embed="rId5"/>
          <a:stretch>
            <a:fillRect/>
          </a:stretch>
        </p:blipFill>
        <p:spPr>
          <a:xfrm>
            <a:off x="9296167" y="2318246"/>
            <a:ext cx="390515" cy="390525"/>
          </a:xfrm>
          <a:prstGeom prst="rect">
            <a:avLst/>
          </a:prstGeom>
        </p:spPr>
      </p:pic>
      <p:sp>
        <p:nvSpPr>
          <p:cNvPr id="19" name="Text 13"/>
          <p:cNvSpPr/>
          <p:nvPr/>
        </p:nvSpPr>
        <p:spPr>
          <a:xfrm>
            <a:off x="9296167" y="2883396"/>
            <a:ext cx="2057349" cy="558800"/>
          </a:xfrm>
          <a:prstGeom prst="rect">
            <a:avLst/>
          </a:prstGeom>
          <a:noFill/>
          <a:ln/>
        </p:spPr>
        <p:txBody>
          <a:bodyPr wrap="square" lIns="0" tIns="0" rIns="0" bIns="0" rtlCol="0" anchor="t">
            <a:normAutofit lnSpcReduction="10000"/>
          </a:bodyPr>
          <a:lstStyle/>
          <a:p>
            <a:pPr marL="0" indent="0" algn="l">
              <a:lnSpc>
                <a:spcPct val="92000"/>
              </a:lnSpc>
              <a:buNone/>
            </a:pPr>
            <a:r>
              <a:rPr lang="en-US" sz="2000" dirty="0">
                <a:solidFill>
                  <a:srgbClr val="A9DDF0"/>
                </a:solidFill>
                <a:latin typeface="Saira Semi Condensed" pitchFamily="34" charset="0"/>
                <a:ea typeface="Saira Semi Condensed" pitchFamily="34" charset="-122"/>
                <a:cs typeface="Saira Semi Condensed" pitchFamily="34" charset="-120"/>
              </a:rPr>
              <a:t>Transcript Generation</a:t>
            </a:r>
            <a:endParaRPr lang="en-US" sz="2000" dirty="0"/>
          </a:p>
        </p:txBody>
      </p:sp>
      <p:sp>
        <p:nvSpPr>
          <p:cNvPr id="20" name="Text 14"/>
          <p:cNvSpPr/>
          <p:nvPr/>
        </p:nvSpPr>
        <p:spPr>
          <a:xfrm>
            <a:off x="9296167" y="3557766"/>
            <a:ext cx="2057349" cy="995363"/>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EAF6FA"/>
                </a:solidFill>
                <a:latin typeface="Public Sans" pitchFamily="34" charset="0"/>
                <a:ea typeface="Public Sans" pitchFamily="34" charset="-122"/>
                <a:cs typeface="Public Sans" pitchFamily="34" charset="-120"/>
              </a:rPr>
              <a:t>Generate clean, structured performance reports for faculty review and archives.</a:t>
            </a:r>
            <a:endParaRPr lang="en-US" sz="1400" dirty="0"/>
          </a:p>
        </p:txBody>
      </p:sp>
      <p:sp>
        <p:nvSpPr>
          <p:cNvPr id="21" name="Text 15"/>
          <p:cNvSpPr/>
          <p:nvPr/>
        </p:nvSpPr>
        <p:spPr>
          <a:xfrm>
            <a:off x="177895" y="6466086"/>
            <a:ext cx="2161030" cy="174129"/>
          </a:xfrm>
          <a:prstGeom prst="rect">
            <a:avLst/>
          </a:prstGeom>
          <a:noFill/>
          <a:ln/>
        </p:spPr>
        <p:txBody>
          <a:bodyPr wrap="none" lIns="0" tIns="0" rIns="0" bIns="0" rtlCol="0" anchor="ctr"/>
          <a:lstStyle/>
          <a:p>
            <a:pPr marL="0" indent="0" algn="l">
              <a:lnSpc>
                <a:spcPct val="117000"/>
              </a:lnSpc>
              <a:buNone/>
            </a:pPr>
            <a:r>
              <a:rPr lang="en-US" sz="1000" dirty="0">
                <a:solidFill>
                  <a:srgbClr val="EAF6FA"/>
                </a:solidFill>
                <a:latin typeface="Public Sans" pitchFamily="34" charset="0"/>
                <a:ea typeface="Public Sans" pitchFamily="34" charset="-122"/>
                <a:cs typeface="Public Sans" pitchFamily="34" charset="-120"/>
              </a:rPr>
              <a:t>JAVA • ACADEMIC SYSTEM</a:t>
            </a:r>
            <a:endParaRPr lang="en-US" sz="1000" dirty="0"/>
          </a:p>
        </p:txBody>
      </p:sp>
      <p:sp>
        <p:nvSpPr>
          <p:cNvPr id="22" name="Text 16"/>
          <p:cNvSpPr/>
          <p:nvPr/>
        </p:nvSpPr>
        <p:spPr>
          <a:xfrm>
            <a:off x="11935618" y="6466086"/>
            <a:ext cx="256077" cy="174129"/>
          </a:xfrm>
          <a:prstGeom prst="rect">
            <a:avLst/>
          </a:prstGeom>
          <a:noFill/>
          <a:ln/>
        </p:spPr>
        <p:txBody>
          <a:bodyPr wrap="none" lIns="0" tIns="0" rIns="0" bIns="0" rtlCol="0" anchor="ctr"/>
          <a:lstStyle/>
          <a:p>
            <a:pPr marL="0" indent="0" algn="l">
              <a:lnSpc>
                <a:spcPct val="117000"/>
              </a:lnSpc>
              <a:buNone/>
            </a:pPr>
            <a:r>
              <a:rPr lang="en-US" sz="1000" dirty="0">
                <a:solidFill>
                  <a:srgbClr val="EAF6FA"/>
                </a:solidFill>
                <a:latin typeface="Public Sans" pitchFamily="34" charset="0"/>
                <a:ea typeface="Public Sans" pitchFamily="34" charset="-122"/>
                <a:cs typeface="Public Sans"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09585" y="610553"/>
            <a:ext cx="11582110"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A9DDF0"/>
                </a:solidFill>
                <a:latin typeface="Public Sans" pitchFamily="34" charset="0"/>
                <a:ea typeface="Public Sans" pitchFamily="34" charset="-122"/>
                <a:cs typeface="Public Sans" pitchFamily="34" charset="-120"/>
              </a:rPr>
              <a:t>04 / EVALUATION &amp; BALANCED ANALYSIS</a:t>
            </a:r>
            <a:endParaRPr lang="en-US" sz="1050" dirty="0"/>
          </a:p>
        </p:txBody>
      </p:sp>
      <p:sp>
        <p:nvSpPr>
          <p:cNvPr id="3" name="Text 1"/>
          <p:cNvSpPr/>
          <p:nvPr/>
        </p:nvSpPr>
        <p:spPr>
          <a:xfrm>
            <a:off x="609585" y="934343"/>
            <a:ext cx="10972526" cy="635000"/>
          </a:xfrm>
          <a:prstGeom prst="rect">
            <a:avLst/>
          </a:prstGeom>
          <a:noFill/>
          <a:ln/>
        </p:spPr>
        <p:txBody>
          <a:bodyPr wrap="none" lIns="0" tIns="0" rIns="0" bIns="0" rtlCol="0" anchor="t"/>
          <a:lstStyle/>
          <a:p>
            <a:pPr marL="0" indent="0" algn="l">
              <a:lnSpc>
                <a:spcPct val="83000"/>
              </a:lnSpc>
              <a:buNone/>
            </a:pPr>
            <a:r>
              <a:rPr lang="en-US" sz="5000" dirty="0">
                <a:solidFill>
                  <a:srgbClr val="EAF6FA"/>
                </a:solidFill>
                <a:latin typeface="Saira Semi Condensed" pitchFamily="34" charset="0"/>
                <a:ea typeface="Saira Semi Condensed" pitchFamily="34" charset="-122"/>
                <a:cs typeface="Saira Semi Condensed" pitchFamily="34" charset="-120"/>
              </a:rPr>
              <a:t>ADVANTAGES &amp; LIMITATIONS</a:t>
            </a:r>
            <a:endParaRPr lang="en-US" sz="5000" dirty="0"/>
          </a:p>
        </p:txBody>
      </p:sp>
      <p:sp>
        <p:nvSpPr>
          <p:cNvPr id="4" name="Shape 2"/>
          <p:cNvSpPr/>
          <p:nvPr/>
        </p:nvSpPr>
        <p:spPr>
          <a:xfrm>
            <a:off x="609585" y="1682055"/>
            <a:ext cx="6400640" cy="3929261"/>
          </a:xfrm>
          <a:prstGeom prst="rect">
            <a:avLst/>
          </a:prstGeom>
          <a:solidFill>
            <a:srgbClr val="0A3F46"/>
          </a:solidFill>
          <a:ln/>
        </p:spPr>
      </p:sp>
      <p:sp>
        <p:nvSpPr>
          <p:cNvPr id="5" name="Text 3"/>
          <p:cNvSpPr/>
          <p:nvPr/>
        </p:nvSpPr>
        <p:spPr>
          <a:xfrm>
            <a:off x="990575" y="2013208"/>
            <a:ext cx="6019649"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FFFFFF"/>
                </a:solidFill>
                <a:latin typeface="Public Sans" pitchFamily="34" charset="0"/>
                <a:ea typeface="Public Sans" pitchFamily="34" charset="-122"/>
                <a:cs typeface="Public Sans" pitchFamily="34" charset="-120"/>
              </a:rPr>
              <a:t>KEY SYSTEM ADVANTAGES</a:t>
            </a:r>
            <a:endParaRPr lang="en-US" sz="1050" dirty="0"/>
          </a:p>
        </p:txBody>
      </p:sp>
      <p:sp>
        <p:nvSpPr>
          <p:cNvPr id="6" name="Text 4"/>
          <p:cNvSpPr/>
          <p:nvPr/>
        </p:nvSpPr>
        <p:spPr>
          <a:xfrm>
            <a:off x="990575" y="2298264"/>
            <a:ext cx="5638659" cy="446980"/>
          </a:xfrm>
          <a:prstGeom prst="rect">
            <a:avLst/>
          </a:prstGeom>
          <a:noFill/>
          <a:ln/>
        </p:spPr>
        <p:txBody>
          <a:bodyPr wrap="none" lIns="0" tIns="0" rIns="0" bIns="0" rtlCol="0" anchor="t"/>
          <a:lstStyle/>
          <a:p>
            <a:pPr marL="0" indent="0" algn="l">
              <a:lnSpc>
                <a:spcPct val="92000"/>
              </a:lnSpc>
              <a:buNone/>
            </a:pPr>
            <a:r>
              <a:rPr lang="en-US" sz="3200" dirty="0">
                <a:solidFill>
                  <a:srgbClr val="FFFFFF"/>
                </a:solidFill>
                <a:latin typeface="Saira Semi Condensed" pitchFamily="34" charset="0"/>
                <a:ea typeface="Saira Semi Condensed" pitchFamily="34" charset="-122"/>
                <a:cs typeface="Saira Semi Condensed" pitchFamily="34" charset="-120"/>
              </a:rPr>
              <a:t>Precision with less manual effort.</a:t>
            </a:r>
            <a:endParaRPr lang="en-US" sz="3200" dirty="0"/>
          </a:p>
        </p:txBody>
      </p:sp>
      <p:pic>
        <p:nvPicPr>
          <p:cNvPr id="7" name="Image 0" descr="preencoded.png"/>
          <p:cNvPicPr>
            <a:picLocks noChangeAspect="1"/>
          </p:cNvPicPr>
          <p:nvPr/>
        </p:nvPicPr>
        <p:blipFill>
          <a:blip r:embed="rId3"/>
          <a:stretch>
            <a:fillRect/>
          </a:stretch>
        </p:blipFill>
        <p:spPr>
          <a:xfrm>
            <a:off x="990575" y="2823666"/>
            <a:ext cx="228594" cy="228600"/>
          </a:xfrm>
          <a:prstGeom prst="rect">
            <a:avLst/>
          </a:prstGeom>
        </p:spPr>
      </p:pic>
      <p:sp>
        <p:nvSpPr>
          <p:cNvPr id="8" name="Text 5"/>
          <p:cNvSpPr/>
          <p:nvPr/>
        </p:nvSpPr>
        <p:spPr>
          <a:xfrm>
            <a:off x="990575" y="3157041"/>
            <a:ext cx="5638659" cy="2124075"/>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b="1" dirty="0">
                <a:solidFill>
                  <a:srgbClr val="FFFFFF"/>
                </a:solidFill>
                <a:latin typeface="Public Sans Bold" pitchFamily="34" charset="0"/>
                <a:ea typeface="Public Sans Bold" pitchFamily="34" charset="-122"/>
                <a:cs typeface="Public Sans Bold" pitchFamily="34" charset="-120"/>
              </a:rPr>
              <a:t>100% Calculation Precision:</a:t>
            </a:r>
            <a:r>
              <a:rPr lang="en-US" sz="1400" dirty="0">
                <a:solidFill>
                  <a:srgbClr val="FFFFFF"/>
                </a:solidFill>
                <a:latin typeface="Public Sans" pitchFamily="34" charset="0"/>
                <a:ea typeface="Public Sans" pitchFamily="34" charset="-122"/>
                <a:cs typeface="Public Sans" pitchFamily="34" charset="-120"/>
              </a:rPr>
              <a:t> Eliminates manual grading and percentage errors.</a:t>
            </a:r>
            <a:endParaRPr lang="en-US" sz="1400" dirty="0"/>
          </a:p>
          <a:p>
            <a:pPr marL="284480" indent="-284480" algn="l">
              <a:lnSpc>
                <a:spcPct val="117000"/>
              </a:lnSpc>
              <a:buSzPct val="100000"/>
              <a:buChar char="•"/>
            </a:pPr>
            <a:r>
              <a:rPr lang="en-US" sz="1400" b="1" dirty="0">
                <a:solidFill>
                  <a:srgbClr val="FFFFFF"/>
                </a:solidFill>
                <a:latin typeface="Public Sans Bold" pitchFamily="34" charset="0"/>
                <a:ea typeface="Public Sans Bold" pitchFamily="34" charset="-122"/>
                <a:cs typeface="Public Sans Bold" pitchFamily="34" charset="-120"/>
              </a:rPr>
              <a:t>Time Efficiency:</a:t>
            </a:r>
            <a:r>
              <a:rPr lang="en-US" sz="1400" dirty="0">
                <a:solidFill>
                  <a:srgbClr val="FFFFFF"/>
                </a:solidFill>
                <a:latin typeface="Public Sans" pitchFamily="34" charset="0"/>
                <a:ea typeface="Public Sans" pitchFamily="34" charset="-122"/>
                <a:cs typeface="Public Sans" pitchFamily="34" charset="-120"/>
              </a:rPr>
              <a:t> Rapidly processes multi-course marks and attendance metrics.</a:t>
            </a:r>
            <a:endParaRPr lang="en-US" sz="1400" dirty="0"/>
          </a:p>
          <a:p>
            <a:pPr marL="284480" indent="-284480" algn="l">
              <a:lnSpc>
                <a:spcPct val="117000"/>
              </a:lnSpc>
              <a:buSzPct val="100000"/>
              <a:buChar char="•"/>
            </a:pPr>
            <a:r>
              <a:rPr lang="en-US" sz="1400" b="1" dirty="0">
                <a:solidFill>
                  <a:srgbClr val="FFFFFF"/>
                </a:solidFill>
                <a:latin typeface="Public Sans Bold" pitchFamily="34" charset="0"/>
                <a:ea typeface="Public Sans Bold" pitchFamily="34" charset="-122"/>
                <a:cs typeface="Public Sans Bold" pitchFamily="34" charset="-120"/>
              </a:rPr>
              <a:t>Automated Shortage Alerts:</a:t>
            </a:r>
            <a:r>
              <a:rPr lang="en-US" sz="1400" dirty="0">
                <a:solidFill>
                  <a:srgbClr val="FFFFFF"/>
                </a:solidFill>
                <a:latin typeface="Public Sans" pitchFamily="34" charset="0"/>
                <a:ea typeface="Public Sans" pitchFamily="34" charset="-122"/>
                <a:cs typeface="Public Sans" pitchFamily="34" charset="-120"/>
              </a:rPr>
              <a:t> Instantly flags attendance below 75% threshold.</a:t>
            </a:r>
            <a:endParaRPr lang="en-US" sz="1400" dirty="0"/>
          </a:p>
          <a:p>
            <a:pPr marL="284480" indent="-284480" algn="l">
              <a:lnSpc>
                <a:spcPct val="117000"/>
              </a:lnSpc>
              <a:buSzPct val="100000"/>
              <a:buChar char="•"/>
            </a:pPr>
            <a:r>
              <a:rPr lang="en-US" sz="1400" b="1" dirty="0">
                <a:solidFill>
                  <a:srgbClr val="FFFFFF"/>
                </a:solidFill>
                <a:latin typeface="Public Sans Bold" pitchFamily="34" charset="0"/>
                <a:ea typeface="Public Sans Bold" pitchFamily="34" charset="-122"/>
                <a:cs typeface="Public Sans Bold" pitchFamily="34" charset="-120"/>
              </a:rPr>
              <a:t>Lightweight Execution:</a:t>
            </a:r>
            <a:r>
              <a:rPr lang="en-US" sz="1400" dirty="0">
                <a:solidFill>
                  <a:srgbClr val="FFFFFF"/>
                </a:solidFill>
                <a:latin typeface="Public Sans" pitchFamily="34" charset="0"/>
                <a:ea typeface="Public Sans" pitchFamily="34" charset="-122"/>
                <a:cs typeface="Public Sans" pitchFamily="34" charset="-120"/>
              </a:rPr>
              <a:t> Operates seamlessly on standard JVM without heavy overhead.</a:t>
            </a:r>
            <a:endParaRPr lang="en-US" sz="1400" dirty="0"/>
          </a:p>
        </p:txBody>
      </p:sp>
      <p:sp>
        <p:nvSpPr>
          <p:cNvPr id="9" name="Shape 6"/>
          <p:cNvSpPr/>
          <p:nvPr/>
        </p:nvSpPr>
        <p:spPr>
          <a:xfrm>
            <a:off x="7314918" y="1682055"/>
            <a:ext cx="4267192" cy="3929261"/>
          </a:xfrm>
          <a:prstGeom prst="rect">
            <a:avLst/>
          </a:prstGeom>
          <a:solidFill>
            <a:srgbClr val="2F6A73"/>
          </a:solidFill>
          <a:ln/>
        </p:spPr>
      </p:sp>
      <p:sp>
        <p:nvSpPr>
          <p:cNvPr id="10" name="Text 7"/>
          <p:cNvSpPr/>
          <p:nvPr/>
        </p:nvSpPr>
        <p:spPr>
          <a:xfrm>
            <a:off x="7695908" y="2161639"/>
            <a:ext cx="3886202"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FFFFFF"/>
                </a:solidFill>
                <a:latin typeface="Public Sans" pitchFamily="34" charset="0"/>
                <a:ea typeface="Public Sans" pitchFamily="34" charset="-122"/>
                <a:cs typeface="Public Sans" pitchFamily="34" charset="-120"/>
              </a:rPr>
              <a:t>SYSTEM VALUE</a:t>
            </a:r>
            <a:endParaRPr lang="en-US" sz="1050" dirty="0"/>
          </a:p>
        </p:txBody>
      </p:sp>
      <p:sp>
        <p:nvSpPr>
          <p:cNvPr id="11" name="Text 8"/>
          <p:cNvSpPr/>
          <p:nvPr/>
        </p:nvSpPr>
        <p:spPr>
          <a:xfrm>
            <a:off x="7695908" y="2446695"/>
            <a:ext cx="3505212" cy="1787922"/>
          </a:xfrm>
          <a:prstGeom prst="rect">
            <a:avLst/>
          </a:prstGeom>
          <a:noFill/>
          <a:ln/>
        </p:spPr>
        <p:txBody>
          <a:bodyPr wrap="square" lIns="0" tIns="0" rIns="0" bIns="0" rtlCol="0" anchor="t">
            <a:normAutofit lnSpcReduction="10000"/>
          </a:bodyPr>
          <a:lstStyle/>
          <a:p>
            <a:pPr marL="0" indent="0" algn="l">
              <a:lnSpc>
                <a:spcPct val="92000"/>
              </a:lnSpc>
              <a:buNone/>
            </a:pPr>
            <a:r>
              <a:rPr lang="en-US" sz="3200" dirty="0">
                <a:solidFill>
                  <a:srgbClr val="FFFFFF"/>
                </a:solidFill>
                <a:latin typeface="Saira Semi Condensed" pitchFamily="34" charset="0"/>
                <a:ea typeface="Saira Semi Condensed" pitchFamily="34" charset="-122"/>
                <a:cs typeface="Saira Semi Condensed" pitchFamily="34" charset="-120"/>
              </a:rPr>
              <a:t>A clearer academic record, built for repeatable evaluation.</a:t>
            </a:r>
            <a:endParaRPr lang="en-US" sz="3200" dirty="0"/>
          </a:p>
        </p:txBody>
      </p:sp>
      <p:sp>
        <p:nvSpPr>
          <p:cNvPr id="12" name="Text 9"/>
          <p:cNvSpPr/>
          <p:nvPr/>
        </p:nvSpPr>
        <p:spPr>
          <a:xfrm>
            <a:off x="7695908" y="4390509"/>
            <a:ext cx="3505212" cy="746522"/>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FFFFFF"/>
                </a:solidFill>
                <a:latin typeface="Public Sans" pitchFamily="34" charset="0"/>
                <a:ea typeface="Public Sans" pitchFamily="34" charset="-122"/>
                <a:cs typeface="Public Sans" pitchFamily="34" charset="-120"/>
              </a:rPr>
              <a:t>Centralized records, automated calculations, and threshold-based alerts create a dependable review workflow.</a:t>
            </a:r>
            <a:endParaRPr lang="en-US" sz="1400" dirty="0"/>
          </a:p>
        </p:txBody>
      </p:sp>
      <p:sp>
        <p:nvSpPr>
          <p:cNvPr id="13" name="Text 10"/>
          <p:cNvSpPr/>
          <p:nvPr/>
        </p:nvSpPr>
        <p:spPr>
          <a:xfrm>
            <a:off x="177895" y="6466086"/>
            <a:ext cx="2161030" cy="174129"/>
          </a:xfrm>
          <a:prstGeom prst="rect">
            <a:avLst/>
          </a:prstGeom>
          <a:noFill/>
          <a:ln/>
        </p:spPr>
        <p:txBody>
          <a:bodyPr wrap="none" lIns="0" tIns="0" rIns="0" bIns="0" rtlCol="0" anchor="ctr"/>
          <a:lstStyle/>
          <a:p>
            <a:pPr marL="0" indent="0" algn="l">
              <a:lnSpc>
                <a:spcPct val="117000"/>
              </a:lnSpc>
              <a:buNone/>
            </a:pPr>
            <a:r>
              <a:rPr lang="en-US" sz="1000" dirty="0">
                <a:solidFill>
                  <a:srgbClr val="EAF6FA"/>
                </a:solidFill>
                <a:latin typeface="Public Sans" pitchFamily="34" charset="0"/>
                <a:ea typeface="Public Sans" pitchFamily="34" charset="-122"/>
                <a:cs typeface="Public Sans" pitchFamily="34" charset="-120"/>
              </a:rPr>
              <a:t>JAVA • ACADEMIC SYSTEM</a:t>
            </a:r>
            <a:endParaRPr lang="en-US" sz="1000" dirty="0"/>
          </a:p>
        </p:txBody>
      </p:sp>
      <p:sp>
        <p:nvSpPr>
          <p:cNvPr id="14" name="Text 11"/>
          <p:cNvSpPr/>
          <p:nvPr/>
        </p:nvSpPr>
        <p:spPr>
          <a:xfrm>
            <a:off x="11934130" y="6466086"/>
            <a:ext cx="257565" cy="174129"/>
          </a:xfrm>
          <a:prstGeom prst="rect">
            <a:avLst/>
          </a:prstGeom>
          <a:noFill/>
          <a:ln/>
        </p:spPr>
        <p:txBody>
          <a:bodyPr wrap="none" lIns="0" tIns="0" rIns="0" bIns="0" rtlCol="0" anchor="ctr"/>
          <a:lstStyle/>
          <a:p>
            <a:pPr marL="0" indent="0" algn="l">
              <a:lnSpc>
                <a:spcPct val="117000"/>
              </a:lnSpc>
              <a:buNone/>
            </a:pPr>
            <a:r>
              <a:rPr lang="en-US" sz="1000" dirty="0">
                <a:solidFill>
                  <a:srgbClr val="EAF6FA"/>
                </a:solidFill>
                <a:latin typeface="Public Sans" pitchFamily="34" charset="0"/>
                <a:ea typeface="Public Sans" pitchFamily="34" charset="-122"/>
                <a:cs typeface="Public Sans"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09585" y="610553"/>
            <a:ext cx="11582110"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A9DDF0"/>
                </a:solidFill>
                <a:latin typeface="Public Sans" pitchFamily="34" charset="0"/>
                <a:ea typeface="Public Sans" pitchFamily="34" charset="-122"/>
                <a:cs typeface="Public Sans" pitchFamily="34" charset="-120"/>
              </a:rPr>
              <a:t>05 / METHODOLOGY &amp; ARCHITECTURE</a:t>
            </a:r>
            <a:endParaRPr lang="en-US" sz="1050" dirty="0"/>
          </a:p>
        </p:txBody>
      </p:sp>
      <p:sp>
        <p:nvSpPr>
          <p:cNvPr id="3" name="Text 1"/>
          <p:cNvSpPr/>
          <p:nvPr/>
        </p:nvSpPr>
        <p:spPr>
          <a:xfrm>
            <a:off x="609585" y="934343"/>
            <a:ext cx="10972526" cy="635000"/>
          </a:xfrm>
          <a:prstGeom prst="rect">
            <a:avLst/>
          </a:prstGeom>
          <a:noFill/>
          <a:ln/>
        </p:spPr>
        <p:txBody>
          <a:bodyPr wrap="none" lIns="0" tIns="0" rIns="0" bIns="0" rtlCol="0" anchor="t"/>
          <a:lstStyle/>
          <a:p>
            <a:pPr marL="0" indent="0" algn="l">
              <a:lnSpc>
                <a:spcPct val="83000"/>
              </a:lnSpc>
              <a:buNone/>
            </a:pPr>
            <a:r>
              <a:rPr lang="en-US" sz="5000" dirty="0">
                <a:solidFill>
                  <a:srgbClr val="EAF6FA"/>
                </a:solidFill>
                <a:latin typeface="Saira Semi Condensed" pitchFamily="34" charset="0"/>
                <a:ea typeface="Saira Semi Condensed" pitchFamily="34" charset="-122"/>
                <a:cs typeface="Saira Semi Condensed" pitchFamily="34" charset="-120"/>
              </a:rPr>
              <a:t>PROJECT DEVELOPMENT</a:t>
            </a:r>
            <a:endParaRPr lang="en-US" sz="5000" dirty="0"/>
          </a:p>
        </p:txBody>
      </p:sp>
      <p:sp>
        <p:nvSpPr>
          <p:cNvPr id="4" name="Shape 2"/>
          <p:cNvSpPr/>
          <p:nvPr/>
        </p:nvSpPr>
        <p:spPr>
          <a:xfrm>
            <a:off x="609585" y="1684139"/>
            <a:ext cx="313424" cy="313432"/>
          </a:xfrm>
          <a:prstGeom prst="ellipse">
            <a:avLst/>
          </a:prstGeom>
          <a:solidFill>
            <a:srgbClr val="0A3F46"/>
          </a:solidFill>
          <a:ln w="19050">
            <a:solidFill>
              <a:srgbClr val="23585F"/>
            </a:solidFill>
            <a:prstDash val="solid"/>
          </a:ln>
        </p:spPr>
      </p:sp>
      <p:sp>
        <p:nvSpPr>
          <p:cNvPr id="5" name="Text 3"/>
          <p:cNvSpPr/>
          <p:nvPr/>
        </p:nvSpPr>
        <p:spPr>
          <a:xfrm>
            <a:off x="673083" y="1751905"/>
            <a:ext cx="796012" cy="177800"/>
          </a:xfrm>
          <a:prstGeom prst="rect">
            <a:avLst/>
          </a:prstGeom>
          <a:noFill/>
          <a:ln/>
        </p:spPr>
        <p:txBody>
          <a:bodyPr wrap="none" lIns="0" tIns="0" rIns="0" bIns="0" rtlCol="0" anchor="t"/>
          <a:lstStyle/>
          <a:p>
            <a:pPr marL="0" indent="0" algn="l">
              <a:lnSpc>
                <a:spcPct val="83000"/>
              </a:lnSpc>
              <a:buNone/>
            </a:pPr>
            <a:r>
              <a:rPr lang="en-US" sz="1400" dirty="0">
                <a:solidFill>
                  <a:srgbClr val="FFFFFF"/>
                </a:solidFill>
                <a:latin typeface="Public Sans SemiBold" pitchFamily="34" charset="0"/>
                <a:ea typeface="Public Sans SemiBold" pitchFamily="34" charset="-122"/>
                <a:cs typeface="Public Sans SemiBold" pitchFamily="34" charset="-120"/>
              </a:rPr>
              <a:t>01</a:t>
            </a:r>
            <a:endParaRPr lang="en-US" sz="1400" dirty="0"/>
          </a:p>
        </p:txBody>
      </p:sp>
      <p:sp>
        <p:nvSpPr>
          <p:cNvPr id="6" name="Text 4"/>
          <p:cNvSpPr/>
          <p:nvPr/>
        </p:nvSpPr>
        <p:spPr>
          <a:xfrm>
            <a:off x="1100804" y="1697931"/>
            <a:ext cx="10481306" cy="279400"/>
          </a:xfrm>
          <a:prstGeom prst="rect">
            <a:avLst/>
          </a:prstGeom>
          <a:noFill/>
          <a:ln/>
        </p:spPr>
        <p:txBody>
          <a:bodyPr wrap="none" lIns="0" tIns="0" rIns="0" bIns="0" rtlCol="0" anchor="t"/>
          <a:lstStyle/>
          <a:p>
            <a:pPr marL="0" indent="0" algn="l">
              <a:lnSpc>
                <a:spcPct val="92000"/>
              </a:lnSpc>
              <a:buNone/>
            </a:pPr>
            <a:r>
              <a:rPr lang="en-US" sz="2000" dirty="0">
                <a:solidFill>
                  <a:srgbClr val="A9DDF0"/>
                </a:solidFill>
                <a:latin typeface="Saira Semi Condensed" pitchFamily="34" charset="0"/>
                <a:ea typeface="Saira Semi Condensed" pitchFamily="34" charset="-122"/>
                <a:cs typeface="Saira Semi Condensed" pitchFamily="34" charset="-120"/>
              </a:rPr>
              <a:t>Requirement Analysis &amp; Schema Design</a:t>
            </a:r>
            <a:endParaRPr lang="en-US" sz="2000" dirty="0"/>
          </a:p>
        </p:txBody>
      </p:sp>
      <p:sp>
        <p:nvSpPr>
          <p:cNvPr id="7" name="Text 5"/>
          <p:cNvSpPr/>
          <p:nvPr/>
        </p:nvSpPr>
        <p:spPr>
          <a:xfrm>
            <a:off x="1100804" y="2092901"/>
            <a:ext cx="10481306" cy="248841"/>
          </a:xfrm>
          <a:prstGeom prst="rect">
            <a:avLst/>
          </a:prstGeom>
          <a:noFill/>
          <a:ln/>
        </p:spPr>
        <p:txBody>
          <a:bodyPr wrap="none" lIns="0" tIns="0" rIns="0" bIns="0" rtlCol="0" anchor="t"/>
          <a:lstStyle/>
          <a:p>
            <a:pPr marL="0" indent="0" algn="l">
              <a:lnSpc>
                <a:spcPct val="117000"/>
              </a:lnSpc>
              <a:buNone/>
            </a:pPr>
            <a:r>
              <a:rPr lang="en-US" sz="1400" dirty="0">
                <a:solidFill>
                  <a:srgbClr val="EAF6FA"/>
                </a:solidFill>
                <a:latin typeface="Public Sans" pitchFamily="34" charset="0"/>
                <a:ea typeface="Public Sans" pitchFamily="34" charset="-122"/>
                <a:cs typeface="Public Sans" pitchFamily="34" charset="-120"/>
              </a:rPr>
              <a:t>Identified key academic parameters: subject marks, total classes, attended sessions, and evaluation thresholds.</a:t>
            </a:r>
            <a:endParaRPr lang="en-US" sz="1400" dirty="0"/>
          </a:p>
        </p:txBody>
      </p:sp>
      <p:sp>
        <p:nvSpPr>
          <p:cNvPr id="8" name="Shape 6"/>
          <p:cNvSpPr/>
          <p:nvPr/>
        </p:nvSpPr>
        <p:spPr>
          <a:xfrm>
            <a:off x="609585" y="2925068"/>
            <a:ext cx="348745" cy="348754"/>
          </a:xfrm>
          <a:prstGeom prst="ellipse">
            <a:avLst/>
          </a:prstGeom>
          <a:solidFill>
            <a:srgbClr val="0A3F46"/>
          </a:solidFill>
          <a:ln w="19050">
            <a:solidFill>
              <a:srgbClr val="23585F"/>
            </a:solidFill>
            <a:prstDash val="solid"/>
          </a:ln>
        </p:spPr>
      </p:sp>
      <p:sp>
        <p:nvSpPr>
          <p:cNvPr id="9" name="Text 7"/>
          <p:cNvSpPr/>
          <p:nvPr/>
        </p:nvSpPr>
        <p:spPr>
          <a:xfrm>
            <a:off x="673083" y="3010495"/>
            <a:ext cx="831333" cy="177800"/>
          </a:xfrm>
          <a:prstGeom prst="rect">
            <a:avLst/>
          </a:prstGeom>
          <a:noFill/>
          <a:ln/>
        </p:spPr>
        <p:txBody>
          <a:bodyPr wrap="none" lIns="0" tIns="0" rIns="0" bIns="0" rtlCol="0" anchor="t"/>
          <a:lstStyle/>
          <a:p>
            <a:pPr marL="0" indent="0" algn="l">
              <a:lnSpc>
                <a:spcPct val="83000"/>
              </a:lnSpc>
              <a:buNone/>
            </a:pPr>
            <a:r>
              <a:rPr lang="en-US" sz="1400" dirty="0">
                <a:solidFill>
                  <a:srgbClr val="FFFFFF"/>
                </a:solidFill>
                <a:latin typeface="Public Sans SemiBold" pitchFamily="34" charset="0"/>
                <a:ea typeface="Public Sans SemiBold" pitchFamily="34" charset="-122"/>
                <a:cs typeface="Public Sans SemiBold" pitchFamily="34" charset="-120"/>
              </a:rPr>
              <a:t>02</a:t>
            </a:r>
            <a:endParaRPr lang="en-US" sz="1400" dirty="0"/>
          </a:p>
        </p:txBody>
      </p:sp>
      <p:sp>
        <p:nvSpPr>
          <p:cNvPr id="10" name="Text 8"/>
          <p:cNvSpPr/>
          <p:nvPr/>
        </p:nvSpPr>
        <p:spPr>
          <a:xfrm>
            <a:off x="1136125" y="2956520"/>
            <a:ext cx="10445985" cy="279400"/>
          </a:xfrm>
          <a:prstGeom prst="rect">
            <a:avLst/>
          </a:prstGeom>
          <a:noFill/>
          <a:ln/>
        </p:spPr>
        <p:txBody>
          <a:bodyPr wrap="none" lIns="0" tIns="0" rIns="0" bIns="0" rtlCol="0" anchor="t"/>
          <a:lstStyle/>
          <a:p>
            <a:pPr marL="0" indent="0" algn="l">
              <a:lnSpc>
                <a:spcPct val="92000"/>
              </a:lnSpc>
              <a:buNone/>
            </a:pPr>
            <a:r>
              <a:rPr lang="en-US" sz="2000" dirty="0">
                <a:solidFill>
                  <a:srgbClr val="A9DDF0"/>
                </a:solidFill>
                <a:latin typeface="Saira Semi Condensed" pitchFamily="34" charset="0"/>
                <a:ea typeface="Saira Semi Condensed" pitchFamily="34" charset="-122"/>
                <a:cs typeface="Saira Semi Condensed" pitchFamily="34" charset="-120"/>
              </a:rPr>
              <a:t>Core Technology Selection</a:t>
            </a:r>
            <a:endParaRPr lang="en-US" sz="2000" dirty="0"/>
          </a:p>
        </p:txBody>
      </p:sp>
      <p:sp>
        <p:nvSpPr>
          <p:cNvPr id="11" name="Text 9"/>
          <p:cNvSpPr/>
          <p:nvPr/>
        </p:nvSpPr>
        <p:spPr>
          <a:xfrm>
            <a:off x="1136125" y="3351490"/>
            <a:ext cx="10445985" cy="248841"/>
          </a:xfrm>
          <a:prstGeom prst="rect">
            <a:avLst/>
          </a:prstGeom>
          <a:noFill/>
          <a:ln/>
        </p:spPr>
        <p:txBody>
          <a:bodyPr wrap="none" lIns="0" tIns="0" rIns="0" bIns="0" rtlCol="0" anchor="t"/>
          <a:lstStyle/>
          <a:p>
            <a:pPr marL="0" indent="0" algn="l">
              <a:lnSpc>
                <a:spcPct val="117000"/>
              </a:lnSpc>
              <a:buNone/>
            </a:pPr>
            <a:r>
              <a:rPr lang="en-US" sz="1400" dirty="0">
                <a:solidFill>
                  <a:srgbClr val="EAF6FA"/>
                </a:solidFill>
                <a:latin typeface="Public Sans" pitchFamily="34" charset="0"/>
                <a:ea typeface="Public Sans" pitchFamily="34" charset="-122"/>
                <a:cs typeface="Public Sans" pitchFamily="34" charset="-120"/>
              </a:rPr>
              <a:t>Selected Core Java (JDK 11+) and standard IDE tooling (VS Code / Eclipse) for platform-independent execution.</a:t>
            </a:r>
            <a:endParaRPr lang="en-US" sz="1400" dirty="0"/>
          </a:p>
        </p:txBody>
      </p:sp>
      <p:sp>
        <p:nvSpPr>
          <p:cNvPr id="12" name="Shape 10"/>
          <p:cNvSpPr/>
          <p:nvPr/>
        </p:nvSpPr>
        <p:spPr>
          <a:xfrm>
            <a:off x="609585" y="4183757"/>
            <a:ext cx="353508" cy="353516"/>
          </a:xfrm>
          <a:prstGeom prst="ellipse">
            <a:avLst/>
          </a:prstGeom>
          <a:solidFill>
            <a:srgbClr val="0A3F46"/>
          </a:solidFill>
          <a:ln w="19050">
            <a:solidFill>
              <a:srgbClr val="23585F"/>
            </a:solidFill>
            <a:prstDash val="solid"/>
          </a:ln>
        </p:spPr>
      </p:sp>
      <p:sp>
        <p:nvSpPr>
          <p:cNvPr id="13" name="Text 11"/>
          <p:cNvSpPr/>
          <p:nvPr/>
        </p:nvSpPr>
        <p:spPr>
          <a:xfrm>
            <a:off x="673083" y="4271566"/>
            <a:ext cx="836095" cy="177800"/>
          </a:xfrm>
          <a:prstGeom prst="rect">
            <a:avLst/>
          </a:prstGeom>
          <a:noFill/>
          <a:ln/>
        </p:spPr>
        <p:txBody>
          <a:bodyPr wrap="none" lIns="0" tIns="0" rIns="0" bIns="0" rtlCol="0" anchor="t"/>
          <a:lstStyle/>
          <a:p>
            <a:pPr marL="0" indent="0" algn="l">
              <a:lnSpc>
                <a:spcPct val="83000"/>
              </a:lnSpc>
              <a:buNone/>
            </a:pPr>
            <a:r>
              <a:rPr lang="en-US" sz="1400" dirty="0">
                <a:solidFill>
                  <a:srgbClr val="FFFFFF"/>
                </a:solidFill>
                <a:latin typeface="Public Sans SemiBold" pitchFamily="34" charset="0"/>
                <a:ea typeface="Public Sans SemiBold" pitchFamily="34" charset="-122"/>
                <a:cs typeface="Public Sans SemiBold" pitchFamily="34" charset="-120"/>
              </a:rPr>
              <a:t>03</a:t>
            </a:r>
            <a:endParaRPr lang="en-US" sz="1400" dirty="0"/>
          </a:p>
        </p:txBody>
      </p:sp>
      <p:sp>
        <p:nvSpPr>
          <p:cNvPr id="14" name="Text 12"/>
          <p:cNvSpPr/>
          <p:nvPr/>
        </p:nvSpPr>
        <p:spPr>
          <a:xfrm>
            <a:off x="1140888" y="4217591"/>
            <a:ext cx="10441222" cy="279400"/>
          </a:xfrm>
          <a:prstGeom prst="rect">
            <a:avLst/>
          </a:prstGeom>
          <a:noFill/>
          <a:ln/>
        </p:spPr>
        <p:txBody>
          <a:bodyPr wrap="none" lIns="0" tIns="0" rIns="0" bIns="0" rtlCol="0" anchor="t"/>
          <a:lstStyle/>
          <a:p>
            <a:pPr marL="0" indent="0" algn="l">
              <a:lnSpc>
                <a:spcPct val="92000"/>
              </a:lnSpc>
              <a:buNone/>
            </a:pPr>
            <a:r>
              <a:rPr lang="en-US" sz="2000" dirty="0">
                <a:solidFill>
                  <a:srgbClr val="A9DDF0"/>
                </a:solidFill>
                <a:latin typeface="Saira Semi Condensed" pitchFamily="34" charset="0"/>
                <a:ea typeface="Saira Semi Condensed" pitchFamily="34" charset="-122"/>
                <a:cs typeface="Saira Semi Condensed" pitchFamily="34" charset="-120"/>
              </a:rPr>
              <a:t>Algorithmic Logic &amp; Business Rules Implementation</a:t>
            </a:r>
            <a:endParaRPr lang="en-US" sz="2000" dirty="0"/>
          </a:p>
        </p:txBody>
      </p:sp>
      <p:sp>
        <p:nvSpPr>
          <p:cNvPr id="15" name="Text 13"/>
          <p:cNvSpPr/>
          <p:nvPr/>
        </p:nvSpPr>
        <p:spPr>
          <a:xfrm>
            <a:off x="1140888" y="4612561"/>
            <a:ext cx="10441222" cy="248841"/>
          </a:xfrm>
          <a:prstGeom prst="rect">
            <a:avLst/>
          </a:prstGeom>
          <a:noFill/>
          <a:ln/>
        </p:spPr>
        <p:txBody>
          <a:bodyPr wrap="none" lIns="0" tIns="0" rIns="0" bIns="0" rtlCol="0" anchor="t"/>
          <a:lstStyle/>
          <a:p>
            <a:pPr marL="0" indent="0" algn="l">
              <a:lnSpc>
                <a:spcPct val="117000"/>
              </a:lnSpc>
              <a:buNone/>
            </a:pPr>
            <a:r>
              <a:rPr lang="en-US" sz="1400" dirty="0">
                <a:solidFill>
                  <a:srgbClr val="EAF6FA"/>
                </a:solidFill>
                <a:latin typeface="Public Sans" pitchFamily="34" charset="0"/>
                <a:ea typeface="Public Sans" pitchFamily="34" charset="-122"/>
                <a:cs typeface="Public Sans" pitchFamily="34" charset="-120"/>
              </a:rPr>
              <a:t>Coded mathematical grading formulas, GPA mapping, and 75% attendance threshold verification logic.</a:t>
            </a:r>
            <a:endParaRPr lang="en-US" sz="1400" dirty="0"/>
          </a:p>
        </p:txBody>
      </p:sp>
      <p:sp>
        <p:nvSpPr>
          <p:cNvPr id="16" name="Shape 14"/>
          <p:cNvSpPr/>
          <p:nvPr/>
        </p:nvSpPr>
        <p:spPr>
          <a:xfrm>
            <a:off x="609585" y="5444827"/>
            <a:ext cx="352912" cy="352921"/>
          </a:xfrm>
          <a:prstGeom prst="ellipse">
            <a:avLst/>
          </a:prstGeom>
          <a:solidFill>
            <a:srgbClr val="0A3F46"/>
          </a:solidFill>
          <a:ln w="19050">
            <a:solidFill>
              <a:srgbClr val="23585F"/>
            </a:solidFill>
            <a:prstDash val="solid"/>
          </a:ln>
        </p:spPr>
      </p:sp>
      <p:sp>
        <p:nvSpPr>
          <p:cNvPr id="17" name="Text 15"/>
          <p:cNvSpPr/>
          <p:nvPr/>
        </p:nvSpPr>
        <p:spPr>
          <a:xfrm>
            <a:off x="673083" y="5532338"/>
            <a:ext cx="835500" cy="177800"/>
          </a:xfrm>
          <a:prstGeom prst="rect">
            <a:avLst/>
          </a:prstGeom>
          <a:noFill/>
          <a:ln/>
        </p:spPr>
        <p:txBody>
          <a:bodyPr wrap="none" lIns="0" tIns="0" rIns="0" bIns="0" rtlCol="0" anchor="t"/>
          <a:lstStyle/>
          <a:p>
            <a:pPr marL="0" indent="0" algn="l">
              <a:lnSpc>
                <a:spcPct val="83000"/>
              </a:lnSpc>
              <a:buNone/>
            </a:pPr>
            <a:r>
              <a:rPr lang="en-US" sz="1400" dirty="0">
                <a:solidFill>
                  <a:srgbClr val="FFFFFF"/>
                </a:solidFill>
                <a:latin typeface="Public Sans SemiBold" pitchFamily="34" charset="0"/>
                <a:ea typeface="Public Sans SemiBold" pitchFamily="34" charset="-122"/>
                <a:cs typeface="Public Sans SemiBold" pitchFamily="34" charset="-120"/>
              </a:rPr>
              <a:t>04</a:t>
            </a:r>
            <a:endParaRPr lang="en-US" sz="1400" dirty="0"/>
          </a:p>
        </p:txBody>
      </p:sp>
      <p:sp>
        <p:nvSpPr>
          <p:cNvPr id="18" name="Text 16"/>
          <p:cNvSpPr/>
          <p:nvPr/>
        </p:nvSpPr>
        <p:spPr>
          <a:xfrm>
            <a:off x="1140293" y="5478363"/>
            <a:ext cx="10441818" cy="279400"/>
          </a:xfrm>
          <a:prstGeom prst="rect">
            <a:avLst/>
          </a:prstGeom>
          <a:noFill/>
          <a:ln/>
        </p:spPr>
        <p:txBody>
          <a:bodyPr wrap="none" lIns="0" tIns="0" rIns="0" bIns="0" rtlCol="0" anchor="t"/>
          <a:lstStyle/>
          <a:p>
            <a:pPr marL="0" indent="0" algn="l">
              <a:lnSpc>
                <a:spcPct val="92000"/>
              </a:lnSpc>
              <a:buNone/>
            </a:pPr>
            <a:r>
              <a:rPr lang="en-US" sz="2000" dirty="0">
                <a:solidFill>
                  <a:srgbClr val="A9DDF0"/>
                </a:solidFill>
                <a:latin typeface="Saira Semi Condensed" pitchFamily="34" charset="0"/>
                <a:ea typeface="Saira Semi Condensed" pitchFamily="34" charset="-122"/>
                <a:cs typeface="Saira Semi Condensed" pitchFamily="34" charset="-120"/>
              </a:rPr>
              <a:t>Verification &amp; Boundary Testing</a:t>
            </a:r>
            <a:endParaRPr lang="en-US" sz="2000" dirty="0"/>
          </a:p>
        </p:txBody>
      </p:sp>
      <p:sp>
        <p:nvSpPr>
          <p:cNvPr id="19" name="Text 17"/>
          <p:cNvSpPr/>
          <p:nvPr/>
        </p:nvSpPr>
        <p:spPr>
          <a:xfrm>
            <a:off x="1140293" y="5873333"/>
            <a:ext cx="10441818" cy="248841"/>
          </a:xfrm>
          <a:prstGeom prst="rect">
            <a:avLst/>
          </a:prstGeom>
          <a:noFill/>
          <a:ln/>
        </p:spPr>
        <p:txBody>
          <a:bodyPr wrap="none" lIns="0" tIns="0" rIns="0" bIns="0" rtlCol="0" anchor="t"/>
          <a:lstStyle/>
          <a:p>
            <a:pPr marL="0" indent="0" algn="l">
              <a:lnSpc>
                <a:spcPct val="117000"/>
              </a:lnSpc>
              <a:buNone/>
            </a:pPr>
            <a:r>
              <a:rPr lang="en-US" sz="1400" dirty="0">
                <a:solidFill>
                  <a:srgbClr val="EAF6FA"/>
                </a:solidFill>
                <a:latin typeface="Public Sans" pitchFamily="34" charset="0"/>
                <a:ea typeface="Public Sans" pitchFamily="34" charset="-122"/>
                <a:cs typeface="Public Sans" pitchFamily="34" charset="-120"/>
              </a:rPr>
              <a:t>Validated sample inputs, edge cases (0% attendance, max marks), and formatted output display.</a:t>
            </a:r>
            <a:endParaRPr lang="en-US" sz="1400" dirty="0"/>
          </a:p>
        </p:txBody>
      </p:sp>
      <p:sp>
        <p:nvSpPr>
          <p:cNvPr id="20" name="Shape 18"/>
          <p:cNvSpPr/>
          <p:nvPr/>
        </p:nvSpPr>
        <p:spPr>
          <a:xfrm>
            <a:off x="609585" y="2690118"/>
            <a:ext cx="10972526" cy="12700"/>
          </a:xfrm>
          <a:prstGeom prst="rect">
            <a:avLst/>
          </a:prstGeom>
          <a:solidFill>
            <a:srgbClr val="2F6A73"/>
          </a:solidFill>
          <a:ln/>
        </p:spPr>
      </p:sp>
      <p:sp>
        <p:nvSpPr>
          <p:cNvPr id="21" name="Shape 19"/>
          <p:cNvSpPr/>
          <p:nvPr/>
        </p:nvSpPr>
        <p:spPr>
          <a:xfrm>
            <a:off x="609585" y="3948807"/>
            <a:ext cx="10972526" cy="12700"/>
          </a:xfrm>
          <a:prstGeom prst="rect">
            <a:avLst/>
          </a:prstGeom>
          <a:solidFill>
            <a:srgbClr val="2F6A73"/>
          </a:solidFill>
          <a:ln/>
        </p:spPr>
      </p:sp>
      <p:sp>
        <p:nvSpPr>
          <p:cNvPr id="22" name="Shape 20"/>
          <p:cNvSpPr/>
          <p:nvPr/>
        </p:nvSpPr>
        <p:spPr>
          <a:xfrm>
            <a:off x="609585" y="5209877"/>
            <a:ext cx="10972526" cy="12700"/>
          </a:xfrm>
          <a:prstGeom prst="rect">
            <a:avLst/>
          </a:prstGeom>
          <a:solidFill>
            <a:srgbClr val="2F6A73"/>
          </a:solidFill>
          <a:ln/>
        </p:spPr>
      </p:sp>
      <p:sp>
        <p:nvSpPr>
          <p:cNvPr id="23" name="Text 21"/>
          <p:cNvSpPr/>
          <p:nvPr/>
        </p:nvSpPr>
        <p:spPr>
          <a:xfrm>
            <a:off x="177895" y="6466086"/>
            <a:ext cx="2161030" cy="174129"/>
          </a:xfrm>
          <a:prstGeom prst="rect">
            <a:avLst/>
          </a:prstGeom>
          <a:noFill/>
          <a:ln/>
        </p:spPr>
        <p:txBody>
          <a:bodyPr wrap="none" lIns="0" tIns="0" rIns="0" bIns="0" rtlCol="0" anchor="ctr"/>
          <a:lstStyle/>
          <a:p>
            <a:pPr marL="0" indent="0" algn="l">
              <a:lnSpc>
                <a:spcPct val="117000"/>
              </a:lnSpc>
              <a:buNone/>
            </a:pPr>
            <a:r>
              <a:rPr lang="en-US" sz="1000" dirty="0">
                <a:solidFill>
                  <a:srgbClr val="EAF6FA"/>
                </a:solidFill>
                <a:latin typeface="Public Sans" pitchFamily="34" charset="0"/>
                <a:ea typeface="Public Sans" pitchFamily="34" charset="-122"/>
                <a:cs typeface="Public Sans" pitchFamily="34" charset="-120"/>
              </a:rPr>
              <a:t>JAVA • ACADEMIC SYSTEM</a:t>
            </a:r>
            <a:endParaRPr lang="en-US" sz="1000" dirty="0"/>
          </a:p>
        </p:txBody>
      </p:sp>
      <p:sp>
        <p:nvSpPr>
          <p:cNvPr id="24" name="Text 22"/>
          <p:cNvSpPr/>
          <p:nvPr/>
        </p:nvSpPr>
        <p:spPr>
          <a:xfrm>
            <a:off x="11936412" y="6466086"/>
            <a:ext cx="255283" cy="174129"/>
          </a:xfrm>
          <a:prstGeom prst="rect">
            <a:avLst/>
          </a:prstGeom>
          <a:noFill/>
          <a:ln/>
        </p:spPr>
        <p:txBody>
          <a:bodyPr wrap="none" lIns="0" tIns="0" rIns="0" bIns="0" rtlCol="0" anchor="ctr"/>
          <a:lstStyle/>
          <a:p>
            <a:pPr marL="0" indent="0" algn="l">
              <a:lnSpc>
                <a:spcPct val="117000"/>
              </a:lnSpc>
              <a:buNone/>
            </a:pPr>
            <a:r>
              <a:rPr lang="en-US" sz="1000" dirty="0">
                <a:solidFill>
                  <a:srgbClr val="EAF6FA"/>
                </a:solidFill>
                <a:latin typeface="Public Sans" pitchFamily="34" charset="0"/>
                <a:ea typeface="Public Sans" pitchFamily="34" charset="-122"/>
                <a:cs typeface="Public Sans"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09585" y="610553"/>
            <a:ext cx="11582110"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A9DDF0"/>
                </a:solidFill>
                <a:latin typeface="Public Sans" pitchFamily="34" charset="0"/>
                <a:ea typeface="Public Sans" pitchFamily="34" charset="-122"/>
                <a:cs typeface="Public Sans" pitchFamily="34" charset="-120"/>
              </a:rPr>
              <a:t>07 / CURRICULUM MAPPING</a:t>
            </a:r>
            <a:endParaRPr lang="en-US" sz="1050" dirty="0"/>
          </a:p>
        </p:txBody>
      </p:sp>
      <p:sp>
        <p:nvSpPr>
          <p:cNvPr id="3" name="Text 1"/>
          <p:cNvSpPr/>
          <p:nvPr/>
        </p:nvSpPr>
        <p:spPr>
          <a:xfrm>
            <a:off x="609585" y="934343"/>
            <a:ext cx="10972526" cy="635000"/>
          </a:xfrm>
          <a:prstGeom prst="rect">
            <a:avLst/>
          </a:prstGeom>
          <a:noFill/>
          <a:ln/>
        </p:spPr>
        <p:txBody>
          <a:bodyPr wrap="none" lIns="0" tIns="0" rIns="0" bIns="0" rtlCol="0" anchor="t"/>
          <a:lstStyle/>
          <a:p>
            <a:pPr marL="0" indent="0" algn="l">
              <a:lnSpc>
                <a:spcPct val="83000"/>
              </a:lnSpc>
              <a:buNone/>
            </a:pPr>
            <a:r>
              <a:rPr lang="en-US" sz="5000" dirty="0">
                <a:solidFill>
                  <a:srgbClr val="EAF6FA"/>
                </a:solidFill>
                <a:latin typeface="Saira Semi Condensed" pitchFamily="34" charset="0"/>
                <a:ea typeface="Saira Semi Condensed" pitchFamily="34" charset="-122"/>
                <a:cs typeface="Saira Semi Condensed" pitchFamily="34" charset="-120"/>
              </a:rPr>
              <a:t>COURSE OUTCOMES (COs) ADDRESSED</a:t>
            </a:r>
            <a:endParaRPr lang="en-US" sz="5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09585" y="1682055"/>
          <a:ext cx="10972525" cy="3224131"/>
        </p:xfrm>
        <a:graphic>
          <a:graphicData uri="http://schemas.openxmlformats.org/drawingml/2006/table">
            <a:tbl>
              <a:tblPr/>
              <a:tblGrid>
                <a:gridCol w="1645819">
                  <a:extLst>
                    <a:ext uri="{9D8B030D-6E8A-4147-A177-3AD203B41FA5}">
                      <a16:colId xmlns:a16="http://schemas.microsoft.com/office/drawing/2014/main" val="20000"/>
                    </a:ext>
                  </a:extLst>
                </a:gridCol>
                <a:gridCol w="3840344">
                  <a:extLst>
                    <a:ext uri="{9D8B030D-6E8A-4147-A177-3AD203B41FA5}">
                      <a16:colId xmlns:a16="http://schemas.microsoft.com/office/drawing/2014/main" val="20001"/>
                    </a:ext>
                  </a:extLst>
                </a:gridCol>
                <a:gridCol w="5486362">
                  <a:extLst>
                    <a:ext uri="{9D8B030D-6E8A-4147-A177-3AD203B41FA5}">
                      <a16:colId xmlns:a16="http://schemas.microsoft.com/office/drawing/2014/main" val="20002"/>
                    </a:ext>
                  </a:extLst>
                </a:gridCol>
              </a:tblGrid>
              <a:tr h="646096">
                <a:tc>
                  <a:txBody>
                    <a:bodyPr/>
                    <a:lstStyle/>
                    <a:p>
                      <a:pPr marL="0" indent="0" algn="l">
                        <a:buNone/>
                      </a:pPr>
                      <a:r>
                        <a:rPr lang="en-US" sz="1400" dirty="0">
                          <a:solidFill>
                            <a:srgbClr val="FFFFFF"/>
                          </a:solidFill>
                          <a:latin typeface="Public Sans" pitchFamily="34" charset="0"/>
                          <a:ea typeface="Public Sans" pitchFamily="34" charset="-122"/>
                          <a:cs typeface="Public Sans" pitchFamily="34" charset="-120"/>
                        </a:rPr>
                        <a:t>Course Outcome</a:t>
                      </a:r>
                      <a:endParaRPr lang="en-US" sz="1400" dirty="0">
                        <a:latin typeface="Public Sans" charset="0"/>
                        <a:ea typeface="Public Sans" charset="0"/>
                        <a:cs typeface="Public Sans" charset="0"/>
                      </a:endParaRPr>
                    </a:p>
                  </a:txBody>
                  <a:tcPr marL="133347" marR="133347" marT="71118" marB="71118" anchor="ctr">
                    <a:lnL w="12700" cap="flat" cmpd="sng" algn="ctr">
                      <a:solidFill>
                        <a:srgbClr val="456D72"/>
                      </a:solidFill>
                      <a:prstDash val="solid"/>
                      <a:round/>
                      <a:headEnd type="none" w="med" len="med"/>
                      <a:tailEnd type="none" w="med" len="med"/>
                    </a:lnL>
                    <a:lnR w="12700" cap="flat" cmpd="sng" algn="ctr">
                      <a:solidFill>
                        <a:srgbClr val="456D72"/>
                      </a:solidFill>
                      <a:prstDash val="solid"/>
                      <a:round/>
                      <a:headEnd type="none" w="med" len="med"/>
                      <a:tailEnd type="none" w="med" len="med"/>
                    </a:lnR>
                    <a:lnT w="12700" cap="flat" cmpd="sng" algn="ctr">
                      <a:solidFill>
                        <a:srgbClr val="456D72"/>
                      </a:solidFill>
                      <a:prstDash val="solid"/>
                      <a:round/>
                      <a:headEnd type="none" w="med" len="med"/>
                      <a:tailEnd type="none" w="med" len="med"/>
                    </a:lnT>
                    <a:lnB w="12700" cap="flat" cmpd="sng" algn="ctr">
                      <a:solidFill>
                        <a:srgbClr val="456D72"/>
                      </a:solidFill>
                      <a:prstDash val="solid"/>
                      <a:round/>
                      <a:headEnd type="none" w="med" len="med"/>
                      <a:tailEnd type="none" w="med" len="med"/>
                    </a:lnB>
                    <a:solidFill>
                      <a:srgbClr val="0A3F46"/>
                    </a:solidFill>
                  </a:tcPr>
                </a:tc>
                <a:tc>
                  <a:txBody>
                    <a:bodyPr/>
                    <a:lstStyle/>
                    <a:p>
                      <a:pPr marL="0" indent="0" algn="l">
                        <a:buNone/>
                      </a:pPr>
                      <a:r>
                        <a:rPr lang="en-US" sz="1400" dirty="0">
                          <a:solidFill>
                            <a:srgbClr val="FFFFFF"/>
                          </a:solidFill>
                          <a:latin typeface="Public Sans" pitchFamily="34" charset="0"/>
                          <a:ea typeface="Public Sans" pitchFamily="34" charset="-122"/>
                          <a:cs typeface="Public Sans" pitchFamily="34" charset="-120"/>
                        </a:rPr>
                        <a:t>CO Description</a:t>
                      </a:r>
                      <a:endParaRPr lang="en-US" sz="1400" dirty="0">
                        <a:latin typeface="Public Sans" charset="0"/>
                        <a:ea typeface="Public Sans" charset="0"/>
                        <a:cs typeface="Public Sans" charset="0"/>
                      </a:endParaRPr>
                    </a:p>
                  </a:txBody>
                  <a:tcPr marL="133347" marR="133347" marT="71118" marB="71118" anchor="ctr">
                    <a:lnL w="12700" cap="flat" cmpd="sng" algn="ctr">
                      <a:solidFill>
                        <a:srgbClr val="456D72"/>
                      </a:solidFill>
                      <a:prstDash val="solid"/>
                      <a:round/>
                      <a:headEnd type="none" w="med" len="med"/>
                      <a:tailEnd type="none" w="med" len="med"/>
                    </a:lnL>
                    <a:lnR w="12700" cap="flat" cmpd="sng" algn="ctr">
                      <a:solidFill>
                        <a:srgbClr val="456D72"/>
                      </a:solidFill>
                      <a:prstDash val="solid"/>
                      <a:round/>
                      <a:headEnd type="none" w="med" len="med"/>
                      <a:tailEnd type="none" w="med" len="med"/>
                    </a:lnR>
                    <a:lnT w="12700" cap="flat" cmpd="sng" algn="ctr">
                      <a:solidFill>
                        <a:srgbClr val="456D72"/>
                      </a:solidFill>
                      <a:prstDash val="solid"/>
                      <a:round/>
                      <a:headEnd type="none" w="med" len="med"/>
                      <a:tailEnd type="none" w="med" len="med"/>
                    </a:lnT>
                    <a:lnB w="12700" cap="flat" cmpd="sng" algn="ctr">
                      <a:solidFill>
                        <a:srgbClr val="456D72"/>
                      </a:solidFill>
                      <a:prstDash val="solid"/>
                      <a:round/>
                      <a:headEnd type="none" w="med" len="med"/>
                      <a:tailEnd type="none" w="med" len="med"/>
                    </a:lnB>
                    <a:solidFill>
                      <a:srgbClr val="0A3F46"/>
                    </a:solidFill>
                  </a:tcPr>
                </a:tc>
                <a:tc>
                  <a:txBody>
                    <a:bodyPr/>
                    <a:lstStyle/>
                    <a:p>
                      <a:pPr marL="0" indent="0" algn="l">
                        <a:buNone/>
                      </a:pPr>
                      <a:r>
                        <a:rPr lang="en-US" sz="1400" dirty="0">
                          <a:solidFill>
                            <a:srgbClr val="FFFFFF"/>
                          </a:solidFill>
                          <a:latin typeface="Public Sans" pitchFamily="34" charset="0"/>
                          <a:ea typeface="Public Sans" pitchFamily="34" charset="-122"/>
                          <a:cs typeface="Public Sans" pitchFamily="34" charset="-120"/>
                        </a:rPr>
                        <a:t>Implementation in Project</a:t>
                      </a:r>
                      <a:endParaRPr lang="en-US" sz="1400" dirty="0">
                        <a:latin typeface="Public Sans" charset="0"/>
                        <a:ea typeface="Public Sans" charset="0"/>
                        <a:cs typeface="Public Sans" charset="0"/>
                      </a:endParaRPr>
                    </a:p>
                  </a:txBody>
                  <a:tcPr marL="133347" marR="133347" marT="71118" marB="71118" anchor="ctr">
                    <a:lnL w="12700" cap="flat" cmpd="sng" algn="ctr">
                      <a:solidFill>
                        <a:srgbClr val="456D72"/>
                      </a:solidFill>
                      <a:prstDash val="solid"/>
                      <a:round/>
                      <a:headEnd type="none" w="med" len="med"/>
                      <a:tailEnd type="none" w="med" len="med"/>
                    </a:lnL>
                    <a:lnR w="12700" cap="flat" cmpd="sng" algn="ctr">
                      <a:solidFill>
                        <a:srgbClr val="456D72"/>
                      </a:solidFill>
                      <a:prstDash val="solid"/>
                      <a:round/>
                      <a:headEnd type="none" w="med" len="med"/>
                      <a:tailEnd type="none" w="med" len="med"/>
                    </a:lnR>
                    <a:lnT w="12700" cap="flat" cmpd="sng" algn="ctr">
                      <a:solidFill>
                        <a:srgbClr val="456D72"/>
                      </a:solidFill>
                      <a:prstDash val="solid"/>
                      <a:round/>
                      <a:headEnd type="none" w="med" len="med"/>
                      <a:tailEnd type="none" w="med" len="med"/>
                    </a:lnT>
                    <a:lnB w="12700" cap="flat" cmpd="sng" algn="ctr">
                      <a:solidFill>
                        <a:srgbClr val="456D72"/>
                      </a:solidFill>
                      <a:prstDash val="solid"/>
                      <a:round/>
                      <a:headEnd type="none" w="med" len="med"/>
                      <a:tailEnd type="none" w="med" len="med"/>
                    </a:lnB>
                    <a:solidFill>
                      <a:srgbClr val="0A3F46"/>
                    </a:solidFill>
                  </a:tcPr>
                </a:tc>
                <a:extLst>
                  <a:ext uri="{0D108BD9-81ED-4DB2-BD59-A6C34878D82A}">
                    <a16:rowId xmlns:a16="http://schemas.microsoft.com/office/drawing/2014/main" val="10000"/>
                  </a:ext>
                </a:extLst>
              </a:tr>
              <a:tr h="646096">
                <a:tc>
                  <a:txBody>
                    <a:bodyPr/>
                    <a:lstStyle/>
                    <a:p>
                      <a:pPr marL="0" indent="0" algn="l">
                        <a:buNone/>
                      </a:pPr>
                      <a:r>
                        <a:rPr lang="en-US" sz="1400" b="1" dirty="0">
                          <a:solidFill>
                            <a:srgbClr val="EAF6FA"/>
                          </a:solidFill>
                          <a:latin typeface="Public Sans" pitchFamily="34" charset="0"/>
                          <a:ea typeface="Public Sans" pitchFamily="34" charset="-122"/>
                          <a:cs typeface="Public Sans" pitchFamily="34" charset="-120"/>
                        </a:rPr>
                        <a:t>CO 1</a:t>
                      </a:r>
                      <a:endParaRPr lang="en-US" sz="1400" dirty="0">
                        <a:latin typeface="Public Sans" charset="0"/>
                        <a:ea typeface="Public Sans" charset="0"/>
                        <a:cs typeface="Public Sans" charset="0"/>
                      </a:endParaRPr>
                    </a:p>
                  </a:txBody>
                  <a:tcPr marL="133347" marR="133347" marT="71118" marB="71118" anchor="ctr">
                    <a:lnL w="12700" cap="flat" cmpd="sng" algn="ctr">
                      <a:solidFill>
                        <a:srgbClr val="456D72"/>
                      </a:solidFill>
                      <a:prstDash val="solid"/>
                      <a:round/>
                      <a:headEnd type="none" w="med" len="med"/>
                      <a:tailEnd type="none" w="med" len="med"/>
                    </a:lnL>
                    <a:lnR w="12700" cap="flat" cmpd="sng" algn="ctr">
                      <a:solidFill>
                        <a:srgbClr val="456D72"/>
                      </a:solidFill>
                      <a:prstDash val="solid"/>
                      <a:round/>
                      <a:headEnd type="none" w="med" len="med"/>
                      <a:tailEnd type="none" w="med" len="med"/>
                    </a:lnR>
                    <a:lnT w="12700" cap="flat" cmpd="sng" algn="ctr">
                      <a:solidFill>
                        <a:srgbClr val="456D72"/>
                      </a:solidFill>
                      <a:prstDash val="solid"/>
                      <a:round/>
                      <a:headEnd type="none" w="med" len="med"/>
                      <a:tailEnd type="none" w="med" len="med"/>
                    </a:lnT>
                    <a:lnB w="12700" cap="flat" cmpd="sng" algn="ctr">
                      <a:solidFill>
                        <a:srgbClr val="456D72"/>
                      </a:solidFill>
                      <a:prstDash val="solid"/>
                      <a:round/>
                      <a:headEnd type="none" w="med" len="med"/>
                      <a:tailEnd type="none" w="med" len="med"/>
                    </a:lnB>
                    <a:solidFill>
                      <a:srgbClr val="174C53"/>
                    </a:solidFill>
                  </a:tcPr>
                </a:tc>
                <a:tc>
                  <a:txBody>
                    <a:bodyPr/>
                    <a:lstStyle/>
                    <a:p>
                      <a:pPr marL="0" indent="0" algn="l">
                        <a:buNone/>
                      </a:pPr>
                      <a:r>
                        <a:rPr lang="en-US" sz="1400" dirty="0">
                          <a:solidFill>
                            <a:srgbClr val="EAF6FA"/>
                          </a:solidFill>
                          <a:latin typeface="Public Sans" pitchFamily="34" charset="0"/>
                          <a:ea typeface="Public Sans" pitchFamily="34" charset="-122"/>
                          <a:cs typeface="Public Sans" pitchFamily="34" charset="-120"/>
                        </a:rPr>
                        <a:t>Problem Analysis &amp; Logic Formulation</a:t>
                      </a:r>
                      <a:endParaRPr lang="en-US" sz="1400" dirty="0">
                        <a:latin typeface="Public Sans" charset="0"/>
                        <a:ea typeface="Public Sans" charset="0"/>
                        <a:cs typeface="Public Sans" charset="0"/>
                      </a:endParaRPr>
                    </a:p>
                  </a:txBody>
                  <a:tcPr marL="133347" marR="133347" marT="71118" marB="71118" anchor="ctr">
                    <a:lnL w="12700" cap="flat" cmpd="sng" algn="ctr">
                      <a:solidFill>
                        <a:srgbClr val="456D72"/>
                      </a:solidFill>
                      <a:prstDash val="solid"/>
                      <a:round/>
                      <a:headEnd type="none" w="med" len="med"/>
                      <a:tailEnd type="none" w="med" len="med"/>
                    </a:lnL>
                    <a:lnR w="12700" cap="flat" cmpd="sng" algn="ctr">
                      <a:solidFill>
                        <a:srgbClr val="456D72"/>
                      </a:solidFill>
                      <a:prstDash val="solid"/>
                      <a:round/>
                      <a:headEnd type="none" w="med" len="med"/>
                      <a:tailEnd type="none" w="med" len="med"/>
                    </a:lnR>
                    <a:lnT w="12700" cap="flat" cmpd="sng" algn="ctr">
                      <a:solidFill>
                        <a:srgbClr val="456D72"/>
                      </a:solidFill>
                      <a:prstDash val="solid"/>
                      <a:round/>
                      <a:headEnd type="none" w="med" len="med"/>
                      <a:tailEnd type="none" w="med" len="med"/>
                    </a:lnT>
                    <a:lnB w="12700" cap="flat" cmpd="sng" algn="ctr">
                      <a:solidFill>
                        <a:srgbClr val="456D72"/>
                      </a:solidFill>
                      <a:prstDash val="solid"/>
                      <a:round/>
                      <a:headEnd type="none" w="med" len="med"/>
                      <a:tailEnd type="none" w="med" len="med"/>
                    </a:lnB>
                    <a:solidFill>
                      <a:srgbClr val="174C53"/>
                    </a:solidFill>
                  </a:tcPr>
                </a:tc>
                <a:tc>
                  <a:txBody>
                    <a:bodyPr/>
                    <a:lstStyle/>
                    <a:p>
                      <a:pPr marL="0" indent="0" algn="l">
                        <a:buNone/>
                      </a:pPr>
                      <a:r>
                        <a:rPr lang="en-US" sz="1400" dirty="0">
                          <a:solidFill>
                            <a:srgbClr val="EAF6FA"/>
                          </a:solidFill>
                          <a:latin typeface="Public Sans" pitchFamily="34" charset="0"/>
                          <a:ea typeface="Public Sans" pitchFamily="34" charset="-122"/>
                          <a:cs typeface="Public Sans" pitchFamily="34" charset="-120"/>
                        </a:rPr>
                        <a:t>Converted manual record-keeping problems into clear algorithmic rules for attendance and grades.</a:t>
                      </a:r>
                      <a:endParaRPr lang="en-US" sz="1400" dirty="0">
                        <a:latin typeface="Public Sans" charset="0"/>
                        <a:ea typeface="Public Sans" charset="0"/>
                        <a:cs typeface="Public Sans" charset="0"/>
                      </a:endParaRPr>
                    </a:p>
                  </a:txBody>
                  <a:tcPr marL="133347" marR="133347" marT="71118" marB="71118" anchor="ctr">
                    <a:lnL w="12700" cap="flat" cmpd="sng" algn="ctr">
                      <a:solidFill>
                        <a:srgbClr val="456D72"/>
                      </a:solidFill>
                      <a:prstDash val="solid"/>
                      <a:round/>
                      <a:headEnd type="none" w="med" len="med"/>
                      <a:tailEnd type="none" w="med" len="med"/>
                    </a:lnL>
                    <a:lnR w="12700" cap="flat" cmpd="sng" algn="ctr">
                      <a:solidFill>
                        <a:srgbClr val="456D72"/>
                      </a:solidFill>
                      <a:prstDash val="solid"/>
                      <a:round/>
                      <a:headEnd type="none" w="med" len="med"/>
                      <a:tailEnd type="none" w="med" len="med"/>
                    </a:lnR>
                    <a:lnT w="12700" cap="flat" cmpd="sng" algn="ctr">
                      <a:solidFill>
                        <a:srgbClr val="456D72"/>
                      </a:solidFill>
                      <a:prstDash val="solid"/>
                      <a:round/>
                      <a:headEnd type="none" w="med" len="med"/>
                      <a:tailEnd type="none" w="med" len="med"/>
                    </a:lnT>
                    <a:lnB w="12700" cap="flat" cmpd="sng" algn="ctr">
                      <a:solidFill>
                        <a:srgbClr val="456D72"/>
                      </a:solidFill>
                      <a:prstDash val="solid"/>
                      <a:round/>
                      <a:headEnd type="none" w="med" len="med"/>
                      <a:tailEnd type="none" w="med" len="med"/>
                    </a:lnB>
                    <a:solidFill>
                      <a:srgbClr val="174C53"/>
                    </a:solidFill>
                  </a:tcPr>
                </a:tc>
                <a:extLst>
                  <a:ext uri="{0D108BD9-81ED-4DB2-BD59-A6C34878D82A}">
                    <a16:rowId xmlns:a16="http://schemas.microsoft.com/office/drawing/2014/main" val="10001"/>
                  </a:ext>
                </a:extLst>
              </a:tr>
              <a:tr h="646096">
                <a:tc>
                  <a:txBody>
                    <a:bodyPr/>
                    <a:lstStyle/>
                    <a:p>
                      <a:pPr marL="0" indent="0" algn="l">
                        <a:buNone/>
                      </a:pPr>
                      <a:r>
                        <a:rPr lang="en-US" sz="1400" b="1" dirty="0">
                          <a:solidFill>
                            <a:srgbClr val="FFFFFF"/>
                          </a:solidFill>
                          <a:latin typeface="Public Sans" pitchFamily="34" charset="0"/>
                          <a:ea typeface="Public Sans" pitchFamily="34" charset="-122"/>
                          <a:cs typeface="Public Sans" pitchFamily="34" charset="-120"/>
                        </a:rPr>
                        <a:t>CO 3</a:t>
                      </a:r>
                      <a:endParaRPr lang="en-US" sz="1400" dirty="0">
                        <a:latin typeface="Public Sans" charset="0"/>
                        <a:ea typeface="Public Sans" charset="0"/>
                        <a:cs typeface="Public Sans" charset="0"/>
                      </a:endParaRPr>
                    </a:p>
                  </a:txBody>
                  <a:tcPr marL="133347" marR="133347" marT="71118" marB="71118" anchor="ctr">
                    <a:lnL w="12700" cap="flat" cmpd="sng" algn="ctr">
                      <a:solidFill>
                        <a:srgbClr val="456D72"/>
                      </a:solidFill>
                      <a:prstDash val="solid"/>
                      <a:round/>
                      <a:headEnd type="none" w="med" len="med"/>
                      <a:tailEnd type="none" w="med" len="med"/>
                    </a:lnL>
                    <a:lnR w="12700" cap="flat" cmpd="sng" algn="ctr">
                      <a:solidFill>
                        <a:srgbClr val="456D72"/>
                      </a:solidFill>
                      <a:prstDash val="solid"/>
                      <a:round/>
                      <a:headEnd type="none" w="med" len="med"/>
                      <a:tailEnd type="none" w="med" len="med"/>
                    </a:lnR>
                    <a:lnT w="12700" cap="flat" cmpd="sng" algn="ctr">
                      <a:solidFill>
                        <a:srgbClr val="456D72"/>
                      </a:solidFill>
                      <a:prstDash val="solid"/>
                      <a:round/>
                      <a:headEnd type="none" w="med" len="med"/>
                      <a:tailEnd type="none" w="med" len="med"/>
                    </a:lnT>
                    <a:lnB w="12700" cap="flat" cmpd="sng" algn="ctr">
                      <a:solidFill>
                        <a:srgbClr val="456D72"/>
                      </a:solidFill>
                      <a:prstDash val="solid"/>
                      <a:round/>
                      <a:headEnd type="none" w="med" len="med"/>
                      <a:tailEnd type="none" w="med" len="med"/>
                    </a:lnB>
                    <a:solidFill>
                      <a:srgbClr val="2F6A73"/>
                    </a:solidFill>
                  </a:tcPr>
                </a:tc>
                <a:tc>
                  <a:txBody>
                    <a:bodyPr/>
                    <a:lstStyle/>
                    <a:p>
                      <a:pPr marL="0" indent="0" algn="l">
                        <a:buNone/>
                      </a:pPr>
                      <a:r>
                        <a:rPr lang="en-US" sz="1400" dirty="0">
                          <a:solidFill>
                            <a:srgbClr val="FFFFFF"/>
                          </a:solidFill>
                          <a:latin typeface="Public Sans" pitchFamily="34" charset="0"/>
                          <a:ea typeface="Public Sans" pitchFamily="34" charset="-122"/>
                          <a:cs typeface="Public Sans" pitchFamily="34" charset="-120"/>
                        </a:rPr>
                        <a:t>Data Structures &amp; Variable Allocation</a:t>
                      </a:r>
                      <a:endParaRPr lang="en-US" sz="1400" dirty="0">
                        <a:latin typeface="Public Sans" charset="0"/>
                        <a:ea typeface="Public Sans" charset="0"/>
                        <a:cs typeface="Public Sans" charset="0"/>
                      </a:endParaRPr>
                    </a:p>
                  </a:txBody>
                  <a:tcPr marL="133347" marR="133347" marT="71118" marB="71118" anchor="ctr">
                    <a:lnL w="12700" cap="flat" cmpd="sng" algn="ctr">
                      <a:solidFill>
                        <a:srgbClr val="456D72"/>
                      </a:solidFill>
                      <a:prstDash val="solid"/>
                      <a:round/>
                      <a:headEnd type="none" w="med" len="med"/>
                      <a:tailEnd type="none" w="med" len="med"/>
                    </a:lnL>
                    <a:lnR w="12700" cap="flat" cmpd="sng" algn="ctr">
                      <a:solidFill>
                        <a:srgbClr val="456D72"/>
                      </a:solidFill>
                      <a:prstDash val="solid"/>
                      <a:round/>
                      <a:headEnd type="none" w="med" len="med"/>
                      <a:tailEnd type="none" w="med" len="med"/>
                    </a:lnR>
                    <a:lnT w="12700" cap="flat" cmpd="sng" algn="ctr">
                      <a:solidFill>
                        <a:srgbClr val="456D72"/>
                      </a:solidFill>
                      <a:prstDash val="solid"/>
                      <a:round/>
                      <a:headEnd type="none" w="med" len="med"/>
                      <a:tailEnd type="none" w="med" len="med"/>
                    </a:lnT>
                    <a:lnB w="12700" cap="flat" cmpd="sng" algn="ctr">
                      <a:solidFill>
                        <a:srgbClr val="456D72"/>
                      </a:solidFill>
                      <a:prstDash val="solid"/>
                      <a:round/>
                      <a:headEnd type="none" w="med" len="med"/>
                      <a:tailEnd type="none" w="med" len="med"/>
                    </a:lnB>
                    <a:solidFill>
                      <a:srgbClr val="2F6A73"/>
                    </a:solidFill>
                  </a:tcPr>
                </a:tc>
                <a:tc>
                  <a:txBody>
                    <a:bodyPr/>
                    <a:lstStyle/>
                    <a:p>
                      <a:pPr marL="0" indent="0" algn="l">
                        <a:buNone/>
                      </a:pPr>
                      <a:r>
                        <a:rPr lang="en-US" sz="1400" dirty="0">
                          <a:solidFill>
                            <a:srgbClr val="FFFFFF"/>
                          </a:solidFill>
                          <a:latin typeface="Public Sans" pitchFamily="34" charset="0"/>
                          <a:ea typeface="Public Sans" pitchFamily="34" charset="-122"/>
                          <a:cs typeface="Public Sans" pitchFamily="34" charset="-120"/>
                        </a:rPr>
                        <a:t>Applied arrays to store dynamic numbers of subjects, marks, and attendance values efficiently.</a:t>
                      </a:r>
                      <a:endParaRPr lang="en-US" sz="1400" dirty="0">
                        <a:latin typeface="Public Sans" charset="0"/>
                        <a:ea typeface="Public Sans" charset="0"/>
                        <a:cs typeface="Public Sans" charset="0"/>
                      </a:endParaRPr>
                    </a:p>
                  </a:txBody>
                  <a:tcPr marL="133347" marR="133347" marT="71118" marB="71118" anchor="ctr">
                    <a:lnL w="12700" cap="flat" cmpd="sng" algn="ctr">
                      <a:solidFill>
                        <a:srgbClr val="456D72"/>
                      </a:solidFill>
                      <a:prstDash val="solid"/>
                      <a:round/>
                      <a:headEnd type="none" w="med" len="med"/>
                      <a:tailEnd type="none" w="med" len="med"/>
                    </a:lnL>
                    <a:lnR w="12700" cap="flat" cmpd="sng" algn="ctr">
                      <a:solidFill>
                        <a:srgbClr val="456D72"/>
                      </a:solidFill>
                      <a:prstDash val="solid"/>
                      <a:round/>
                      <a:headEnd type="none" w="med" len="med"/>
                      <a:tailEnd type="none" w="med" len="med"/>
                    </a:lnR>
                    <a:lnT w="12700" cap="flat" cmpd="sng" algn="ctr">
                      <a:solidFill>
                        <a:srgbClr val="456D72"/>
                      </a:solidFill>
                      <a:prstDash val="solid"/>
                      <a:round/>
                      <a:headEnd type="none" w="med" len="med"/>
                      <a:tailEnd type="none" w="med" len="med"/>
                    </a:lnT>
                    <a:lnB w="12700" cap="flat" cmpd="sng" algn="ctr">
                      <a:solidFill>
                        <a:srgbClr val="456D72"/>
                      </a:solidFill>
                      <a:prstDash val="solid"/>
                      <a:round/>
                      <a:headEnd type="none" w="med" len="med"/>
                      <a:tailEnd type="none" w="med" len="med"/>
                    </a:lnB>
                    <a:solidFill>
                      <a:srgbClr val="2F6A73"/>
                    </a:solidFill>
                  </a:tcPr>
                </a:tc>
                <a:extLst>
                  <a:ext uri="{0D108BD9-81ED-4DB2-BD59-A6C34878D82A}">
                    <a16:rowId xmlns:a16="http://schemas.microsoft.com/office/drawing/2014/main" val="10002"/>
                  </a:ext>
                </a:extLst>
              </a:tr>
              <a:tr h="646096">
                <a:tc>
                  <a:txBody>
                    <a:bodyPr/>
                    <a:lstStyle/>
                    <a:p>
                      <a:pPr marL="0" indent="0" algn="l">
                        <a:buNone/>
                      </a:pPr>
                      <a:r>
                        <a:rPr lang="en-US" sz="1400" b="1" dirty="0">
                          <a:solidFill>
                            <a:srgbClr val="EAF6FA"/>
                          </a:solidFill>
                          <a:latin typeface="Public Sans" pitchFamily="34" charset="0"/>
                          <a:ea typeface="Public Sans" pitchFamily="34" charset="-122"/>
                          <a:cs typeface="Public Sans" pitchFamily="34" charset="-120"/>
                        </a:rPr>
                        <a:t>CO 2</a:t>
                      </a:r>
                      <a:endParaRPr lang="en-US" sz="1400" dirty="0">
                        <a:latin typeface="Public Sans" charset="0"/>
                        <a:ea typeface="Public Sans" charset="0"/>
                        <a:cs typeface="Public Sans" charset="0"/>
                      </a:endParaRPr>
                    </a:p>
                  </a:txBody>
                  <a:tcPr marL="133347" marR="133347" marT="71118" marB="71118" anchor="ctr">
                    <a:lnL w="12700" cap="flat" cmpd="sng" algn="ctr">
                      <a:solidFill>
                        <a:srgbClr val="456D72"/>
                      </a:solidFill>
                      <a:prstDash val="solid"/>
                      <a:round/>
                      <a:headEnd type="none" w="med" len="med"/>
                      <a:tailEnd type="none" w="med" len="med"/>
                    </a:lnL>
                    <a:lnR w="12700" cap="flat" cmpd="sng" algn="ctr">
                      <a:solidFill>
                        <a:srgbClr val="456D72"/>
                      </a:solidFill>
                      <a:prstDash val="solid"/>
                      <a:round/>
                      <a:headEnd type="none" w="med" len="med"/>
                      <a:tailEnd type="none" w="med" len="med"/>
                    </a:lnR>
                    <a:lnT w="12700" cap="flat" cmpd="sng" algn="ctr">
                      <a:solidFill>
                        <a:srgbClr val="456D72"/>
                      </a:solidFill>
                      <a:prstDash val="solid"/>
                      <a:round/>
                      <a:headEnd type="none" w="med" len="med"/>
                      <a:tailEnd type="none" w="med" len="med"/>
                    </a:lnT>
                    <a:lnB w="12700" cap="flat" cmpd="sng" algn="ctr">
                      <a:solidFill>
                        <a:srgbClr val="456D72"/>
                      </a:solidFill>
                      <a:prstDash val="solid"/>
                      <a:round/>
                      <a:headEnd type="none" w="med" len="med"/>
                      <a:tailEnd type="none" w="med" len="med"/>
                    </a:lnB>
                    <a:solidFill>
                      <a:srgbClr val="174C53"/>
                    </a:solidFill>
                  </a:tcPr>
                </a:tc>
                <a:tc>
                  <a:txBody>
                    <a:bodyPr/>
                    <a:lstStyle/>
                    <a:p>
                      <a:pPr marL="0" indent="0" algn="l">
                        <a:buNone/>
                      </a:pPr>
                      <a:r>
                        <a:rPr lang="en-US" sz="1400" dirty="0">
                          <a:solidFill>
                            <a:srgbClr val="EAF6FA"/>
                          </a:solidFill>
                          <a:latin typeface="Public Sans" pitchFamily="34" charset="0"/>
                          <a:ea typeface="Public Sans" pitchFamily="34" charset="-122"/>
                          <a:cs typeface="Public Sans" pitchFamily="34" charset="-120"/>
                        </a:rPr>
                        <a:t>Flow Control &amp; Conditional Logic</a:t>
                      </a:r>
                      <a:endParaRPr lang="en-US" sz="1400" dirty="0">
                        <a:latin typeface="Public Sans" charset="0"/>
                        <a:ea typeface="Public Sans" charset="0"/>
                        <a:cs typeface="Public Sans" charset="0"/>
                      </a:endParaRPr>
                    </a:p>
                  </a:txBody>
                  <a:tcPr marL="133347" marR="133347" marT="71118" marB="71118" anchor="ctr">
                    <a:lnL w="12700" cap="flat" cmpd="sng" algn="ctr">
                      <a:solidFill>
                        <a:srgbClr val="456D72"/>
                      </a:solidFill>
                      <a:prstDash val="solid"/>
                      <a:round/>
                      <a:headEnd type="none" w="med" len="med"/>
                      <a:tailEnd type="none" w="med" len="med"/>
                    </a:lnL>
                    <a:lnR w="12700" cap="flat" cmpd="sng" algn="ctr">
                      <a:solidFill>
                        <a:srgbClr val="456D72"/>
                      </a:solidFill>
                      <a:prstDash val="solid"/>
                      <a:round/>
                      <a:headEnd type="none" w="med" len="med"/>
                      <a:tailEnd type="none" w="med" len="med"/>
                    </a:lnR>
                    <a:lnT w="12700" cap="flat" cmpd="sng" algn="ctr">
                      <a:solidFill>
                        <a:srgbClr val="456D72"/>
                      </a:solidFill>
                      <a:prstDash val="solid"/>
                      <a:round/>
                      <a:headEnd type="none" w="med" len="med"/>
                      <a:tailEnd type="none" w="med" len="med"/>
                    </a:lnT>
                    <a:lnB w="12700" cap="flat" cmpd="sng" algn="ctr">
                      <a:solidFill>
                        <a:srgbClr val="456D72"/>
                      </a:solidFill>
                      <a:prstDash val="solid"/>
                      <a:round/>
                      <a:headEnd type="none" w="med" len="med"/>
                      <a:tailEnd type="none" w="med" len="med"/>
                    </a:lnB>
                    <a:solidFill>
                      <a:srgbClr val="174C53"/>
                    </a:solidFill>
                  </a:tcPr>
                </a:tc>
                <a:tc>
                  <a:txBody>
                    <a:bodyPr/>
                    <a:lstStyle/>
                    <a:p>
                      <a:pPr marL="0" indent="0" algn="l">
                        <a:buNone/>
                      </a:pPr>
                      <a:r>
                        <a:rPr lang="en-US" sz="1400" dirty="0">
                          <a:solidFill>
                            <a:srgbClr val="EAF6FA"/>
                          </a:solidFill>
                          <a:latin typeface="Public Sans" pitchFamily="34" charset="0"/>
                          <a:ea typeface="Public Sans" pitchFamily="34" charset="-122"/>
                          <a:cs typeface="Public Sans" pitchFamily="34" charset="-120"/>
                        </a:rPr>
                        <a:t>Used </a:t>
                      </a:r>
                      <a:r>
                        <a:rPr lang="en-US" sz="1400" dirty="0">
                          <a:solidFill>
                            <a:srgbClr val="EAF6FA"/>
                          </a:solidFill>
                          <a:latin typeface="Consolas" pitchFamily="34" charset="0"/>
                          <a:ea typeface="Consolas" pitchFamily="34" charset="-122"/>
                          <a:cs typeface="Consolas" pitchFamily="34" charset="-120"/>
                        </a:rPr>
                        <a:t>if-else</a:t>
                      </a:r>
                      <a:r>
                        <a:rPr lang="en-US" sz="1400" dirty="0">
                          <a:solidFill>
                            <a:srgbClr val="EAF6FA"/>
                          </a:solidFill>
                          <a:latin typeface="Public Sans" pitchFamily="34" charset="0"/>
                          <a:ea typeface="Public Sans" pitchFamily="34" charset="-122"/>
                          <a:cs typeface="Public Sans" pitchFamily="34" charset="-120"/>
                        </a:rPr>
                        <a:t> decision trees to apply grade thresholds and 75% attendance eligibility rules.</a:t>
                      </a:r>
                      <a:endParaRPr lang="en-US" sz="1400" dirty="0">
                        <a:latin typeface="Public Sans" charset="0"/>
                        <a:ea typeface="Public Sans" charset="0"/>
                        <a:cs typeface="Public Sans" charset="0"/>
                      </a:endParaRPr>
                    </a:p>
                  </a:txBody>
                  <a:tcPr marL="133347" marR="133347" marT="71118" marB="71118" anchor="ctr">
                    <a:lnL w="12700" cap="flat" cmpd="sng" algn="ctr">
                      <a:solidFill>
                        <a:srgbClr val="456D72"/>
                      </a:solidFill>
                      <a:prstDash val="solid"/>
                      <a:round/>
                      <a:headEnd type="none" w="med" len="med"/>
                      <a:tailEnd type="none" w="med" len="med"/>
                    </a:lnL>
                    <a:lnR w="12700" cap="flat" cmpd="sng" algn="ctr">
                      <a:solidFill>
                        <a:srgbClr val="456D72"/>
                      </a:solidFill>
                      <a:prstDash val="solid"/>
                      <a:round/>
                      <a:headEnd type="none" w="med" len="med"/>
                      <a:tailEnd type="none" w="med" len="med"/>
                    </a:lnR>
                    <a:lnT w="12700" cap="flat" cmpd="sng" algn="ctr">
                      <a:solidFill>
                        <a:srgbClr val="456D72"/>
                      </a:solidFill>
                      <a:prstDash val="solid"/>
                      <a:round/>
                      <a:headEnd type="none" w="med" len="med"/>
                      <a:tailEnd type="none" w="med" len="med"/>
                    </a:lnT>
                    <a:lnB w="12700" cap="flat" cmpd="sng" algn="ctr">
                      <a:solidFill>
                        <a:srgbClr val="456D72"/>
                      </a:solidFill>
                      <a:prstDash val="solid"/>
                      <a:round/>
                      <a:headEnd type="none" w="med" len="med"/>
                      <a:tailEnd type="none" w="med" len="med"/>
                    </a:lnB>
                    <a:solidFill>
                      <a:srgbClr val="174C53"/>
                    </a:solidFill>
                  </a:tcPr>
                </a:tc>
                <a:extLst>
                  <a:ext uri="{0D108BD9-81ED-4DB2-BD59-A6C34878D82A}">
                    <a16:rowId xmlns:a16="http://schemas.microsoft.com/office/drawing/2014/main" val="10003"/>
                  </a:ext>
                </a:extLst>
              </a:tr>
              <a:tr h="639747">
                <a:tc>
                  <a:txBody>
                    <a:bodyPr/>
                    <a:lstStyle/>
                    <a:p>
                      <a:pPr marL="0" indent="0" algn="l">
                        <a:buNone/>
                      </a:pPr>
                      <a:r>
                        <a:rPr lang="en-US" sz="1400" b="1" dirty="0">
                          <a:solidFill>
                            <a:srgbClr val="EAF6FA"/>
                          </a:solidFill>
                          <a:latin typeface="Public Sans" pitchFamily="34" charset="0"/>
                          <a:ea typeface="Public Sans" pitchFamily="34" charset="-122"/>
                          <a:cs typeface="Public Sans" pitchFamily="34" charset="-120"/>
                        </a:rPr>
                        <a:t>CO 3</a:t>
                      </a:r>
                      <a:endParaRPr lang="en-US" sz="1400" dirty="0">
                        <a:latin typeface="Public Sans" charset="0"/>
                        <a:ea typeface="Public Sans" charset="0"/>
                        <a:cs typeface="Public Sans" charset="0"/>
                      </a:endParaRPr>
                    </a:p>
                  </a:txBody>
                  <a:tcPr marL="133347" marR="133347" marT="71118" marB="71118" anchor="ctr">
                    <a:lnL w="12700" cap="flat" cmpd="sng" algn="ctr">
                      <a:solidFill>
                        <a:srgbClr val="456D72"/>
                      </a:solidFill>
                      <a:prstDash val="solid"/>
                      <a:round/>
                      <a:headEnd type="none" w="med" len="med"/>
                      <a:tailEnd type="none" w="med" len="med"/>
                    </a:lnL>
                    <a:lnR w="12700" cap="flat" cmpd="sng" algn="ctr">
                      <a:solidFill>
                        <a:srgbClr val="456D72"/>
                      </a:solidFill>
                      <a:prstDash val="solid"/>
                      <a:round/>
                      <a:headEnd type="none" w="med" len="med"/>
                      <a:tailEnd type="none" w="med" len="med"/>
                    </a:lnR>
                    <a:lnT w="12700" cap="flat" cmpd="sng" algn="ctr">
                      <a:solidFill>
                        <a:srgbClr val="456D72"/>
                      </a:solidFill>
                      <a:prstDash val="solid"/>
                      <a:round/>
                      <a:headEnd type="none" w="med" len="med"/>
                      <a:tailEnd type="none" w="med" len="med"/>
                    </a:lnT>
                    <a:lnB w="12700" cap="flat" cmpd="sng" algn="ctr">
                      <a:solidFill>
                        <a:srgbClr val="456D72"/>
                      </a:solidFill>
                      <a:prstDash val="solid"/>
                      <a:round/>
                      <a:headEnd type="none" w="med" len="med"/>
                      <a:tailEnd type="none" w="med" len="med"/>
                    </a:lnB>
                    <a:solidFill>
                      <a:srgbClr val="174C53"/>
                    </a:solidFill>
                  </a:tcPr>
                </a:tc>
                <a:tc>
                  <a:txBody>
                    <a:bodyPr/>
                    <a:lstStyle/>
                    <a:p>
                      <a:pPr marL="0" indent="0" algn="l">
                        <a:buNone/>
                      </a:pPr>
                      <a:r>
                        <a:rPr lang="en-US" sz="1400" dirty="0">
                          <a:solidFill>
                            <a:srgbClr val="EAF6FA"/>
                          </a:solidFill>
                          <a:latin typeface="Public Sans" pitchFamily="34" charset="0"/>
                          <a:ea typeface="Public Sans" pitchFamily="34" charset="-122"/>
                          <a:cs typeface="Public Sans" pitchFamily="34" charset="-120"/>
                        </a:rPr>
                        <a:t>Modular Software Implementation</a:t>
                      </a:r>
                      <a:endParaRPr lang="en-US" sz="1400" dirty="0">
                        <a:latin typeface="Public Sans" charset="0"/>
                        <a:ea typeface="Public Sans" charset="0"/>
                        <a:cs typeface="Public Sans" charset="0"/>
                      </a:endParaRPr>
                    </a:p>
                  </a:txBody>
                  <a:tcPr marL="133347" marR="133347" marT="71118" marB="71118" anchor="ctr">
                    <a:lnL w="12700" cap="flat" cmpd="sng" algn="ctr">
                      <a:solidFill>
                        <a:srgbClr val="456D72"/>
                      </a:solidFill>
                      <a:prstDash val="solid"/>
                      <a:round/>
                      <a:headEnd type="none" w="med" len="med"/>
                      <a:tailEnd type="none" w="med" len="med"/>
                    </a:lnL>
                    <a:lnR w="12700" cap="flat" cmpd="sng" algn="ctr">
                      <a:solidFill>
                        <a:srgbClr val="456D72"/>
                      </a:solidFill>
                      <a:prstDash val="solid"/>
                      <a:round/>
                      <a:headEnd type="none" w="med" len="med"/>
                      <a:tailEnd type="none" w="med" len="med"/>
                    </a:lnR>
                    <a:lnT w="12700" cap="flat" cmpd="sng" algn="ctr">
                      <a:solidFill>
                        <a:srgbClr val="456D72"/>
                      </a:solidFill>
                      <a:prstDash val="solid"/>
                      <a:round/>
                      <a:headEnd type="none" w="med" len="med"/>
                      <a:tailEnd type="none" w="med" len="med"/>
                    </a:lnT>
                    <a:lnB w="12700" cap="flat" cmpd="sng" algn="ctr">
                      <a:solidFill>
                        <a:srgbClr val="456D72"/>
                      </a:solidFill>
                      <a:prstDash val="solid"/>
                      <a:round/>
                      <a:headEnd type="none" w="med" len="med"/>
                      <a:tailEnd type="none" w="med" len="med"/>
                    </a:lnB>
                    <a:solidFill>
                      <a:srgbClr val="174C53"/>
                    </a:solidFill>
                  </a:tcPr>
                </a:tc>
                <a:tc>
                  <a:txBody>
                    <a:bodyPr/>
                    <a:lstStyle/>
                    <a:p>
                      <a:pPr marL="0" indent="0" algn="l">
                        <a:buNone/>
                      </a:pPr>
                      <a:r>
                        <a:rPr lang="en-US" sz="1400" dirty="0">
                          <a:solidFill>
                            <a:srgbClr val="EAF6FA"/>
                          </a:solidFill>
                          <a:latin typeface="Public Sans" pitchFamily="34" charset="0"/>
                          <a:ea typeface="Public Sans" pitchFamily="34" charset="-122"/>
                          <a:cs typeface="Public Sans" pitchFamily="34" charset="-120"/>
                        </a:rPr>
                        <a:t>Designed reusable Java methods for calculating averages, GPA points, and formatted transcripts.</a:t>
                      </a:r>
                      <a:endParaRPr lang="en-US" sz="1400" dirty="0">
                        <a:latin typeface="Public Sans" charset="0"/>
                        <a:ea typeface="Public Sans" charset="0"/>
                        <a:cs typeface="Public Sans" charset="0"/>
                      </a:endParaRPr>
                    </a:p>
                  </a:txBody>
                  <a:tcPr marL="133347" marR="133347" marT="71118" marB="71118" anchor="ctr">
                    <a:lnL w="12700" cap="flat" cmpd="sng" algn="ctr">
                      <a:solidFill>
                        <a:srgbClr val="456D72"/>
                      </a:solidFill>
                      <a:prstDash val="solid"/>
                      <a:round/>
                      <a:headEnd type="none" w="med" len="med"/>
                      <a:tailEnd type="none" w="med" len="med"/>
                    </a:lnL>
                    <a:lnR w="12700" cap="flat" cmpd="sng" algn="ctr">
                      <a:solidFill>
                        <a:srgbClr val="456D72"/>
                      </a:solidFill>
                      <a:prstDash val="solid"/>
                      <a:round/>
                      <a:headEnd type="none" w="med" len="med"/>
                      <a:tailEnd type="none" w="med" len="med"/>
                    </a:lnR>
                    <a:lnT w="12700" cap="flat" cmpd="sng" algn="ctr">
                      <a:solidFill>
                        <a:srgbClr val="456D72"/>
                      </a:solidFill>
                      <a:prstDash val="solid"/>
                      <a:round/>
                      <a:headEnd type="none" w="med" len="med"/>
                      <a:tailEnd type="none" w="med" len="med"/>
                    </a:lnT>
                    <a:lnB w="12700" cap="flat" cmpd="sng" algn="ctr">
                      <a:solidFill>
                        <a:srgbClr val="456D72"/>
                      </a:solidFill>
                      <a:prstDash val="solid"/>
                      <a:round/>
                      <a:headEnd type="none" w="med" len="med"/>
                      <a:tailEnd type="none" w="med" len="med"/>
                    </a:lnB>
                    <a:solidFill>
                      <a:srgbClr val="174C53"/>
                    </a:solidFill>
                  </a:tcPr>
                </a:tc>
                <a:extLst>
                  <a:ext uri="{0D108BD9-81ED-4DB2-BD59-A6C34878D82A}">
                    <a16:rowId xmlns:a16="http://schemas.microsoft.com/office/drawing/2014/main" val="10004"/>
                  </a:ext>
                </a:extLst>
              </a:tr>
            </a:tbl>
          </a:graphicData>
        </a:graphic>
      </p:graphicFrame>
      <p:sp>
        <p:nvSpPr>
          <p:cNvPr id="5" name="Text 2"/>
          <p:cNvSpPr/>
          <p:nvPr/>
        </p:nvSpPr>
        <p:spPr>
          <a:xfrm>
            <a:off x="177895" y="6466086"/>
            <a:ext cx="2161030" cy="174129"/>
          </a:xfrm>
          <a:prstGeom prst="rect">
            <a:avLst/>
          </a:prstGeom>
          <a:noFill/>
          <a:ln/>
        </p:spPr>
        <p:txBody>
          <a:bodyPr wrap="none" lIns="0" tIns="0" rIns="0" bIns="0" rtlCol="0" anchor="ctr"/>
          <a:lstStyle/>
          <a:p>
            <a:pPr marL="0" indent="0" algn="l">
              <a:lnSpc>
                <a:spcPct val="117000"/>
              </a:lnSpc>
              <a:buNone/>
            </a:pPr>
            <a:r>
              <a:rPr lang="en-US" sz="1000" dirty="0">
                <a:solidFill>
                  <a:srgbClr val="EAF6FA"/>
                </a:solidFill>
                <a:latin typeface="Public Sans" pitchFamily="34" charset="0"/>
                <a:ea typeface="Public Sans" pitchFamily="34" charset="-122"/>
                <a:cs typeface="Public Sans" pitchFamily="34" charset="-120"/>
              </a:rPr>
              <a:t>JAVA • ACADEMIC SYSTEM</a:t>
            </a:r>
            <a:endParaRPr lang="en-US" sz="1000" dirty="0"/>
          </a:p>
        </p:txBody>
      </p:sp>
      <p:sp>
        <p:nvSpPr>
          <p:cNvPr id="6" name="Text 3"/>
          <p:cNvSpPr/>
          <p:nvPr/>
        </p:nvSpPr>
        <p:spPr>
          <a:xfrm>
            <a:off x="11939090" y="6466086"/>
            <a:ext cx="252605" cy="174129"/>
          </a:xfrm>
          <a:prstGeom prst="rect">
            <a:avLst/>
          </a:prstGeom>
          <a:noFill/>
          <a:ln/>
        </p:spPr>
        <p:txBody>
          <a:bodyPr wrap="none" lIns="0" tIns="0" rIns="0" bIns="0" rtlCol="0" anchor="ctr"/>
          <a:lstStyle/>
          <a:p>
            <a:pPr marL="0" indent="0" algn="l">
              <a:lnSpc>
                <a:spcPct val="117000"/>
              </a:lnSpc>
              <a:buNone/>
            </a:pPr>
            <a:r>
              <a:rPr lang="en-US" sz="1000" dirty="0">
                <a:solidFill>
                  <a:srgbClr val="EAF6FA"/>
                </a:solidFill>
                <a:latin typeface="Public Sans" pitchFamily="34" charset="0"/>
                <a:ea typeface="Public Sans" pitchFamily="34" charset="-122"/>
                <a:cs typeface="Public Sans"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09585" y="610553"/>
            <a:ext cx="11582110"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A9DDF0"/>
                </a:solidFill>
                <a:latin typeface="Public Sans" pitchFamily="34" charset="0"/>
                <a:ea typeface="Public Sans" pitchFamily="34" charset="-122"/>
                <a:cs typeface="Public Sans" pitchFamily="34" charset="-120"/>
              </a:rPr>
              <a:t>08 / CONCEPT TRACEABILITY</a:t>
            </a:r>
            <a:endParaRPr lang="en-US" sz="1050" dirty="0"/>
          </a:p>
        </p:txBody>
      </p:sp>
      <p:sp>
        <p:nvSpPr>
          <p:cNvPr id="3" name="Text 1"/>
          <p:cNvSpPr/>
          <p:nvPr/>
        </p:nvSpPr>
        <p:spPr>
          <a:xfrm>
            <a:off x="609585" y="934343"/>
            <a:ext cx="10972526" cy="635000"/>
          </a:xfrm>
          <a:prstGeom prst="rect">
            <a:avLst/>
          </a:prstGeom>
          <a:noFill/>
          <a:ln/>
        </p:spPr>
        <p:txBody>
          <a:bodyPr wrap="none" lIns="0" tIns="0" rIns="0" bIns="0" rtlCol="0" anchor="t"/>
          <a:lstStyle/>
          <a:p>
            <a:pPr marL="0" indent="0" algn="l">
              <a:lnSpc>
                <a:spcPct val="83000"/>
              </a:lnSpc>
              <a:buNone/>
            </a:pPr>
            <a:r>
              <a:rPr lang="en-US" sz="5000" dirty="0">
                <a:solidFill>
                  <a:srgbClr val="EAF6FA"/>
                </a:solidFill>
                <a:latin typeface="Saira Semi Condensed" pitchFamily="34" charset="0"/>
                <a:ea typeface="Saira Semi Condensed" pitchFamily="34" charset="-122"/>
                <a:cs typeface="Saira Semi Condensed" pitchFamily="34" charset="-120"/>
              </a:rPr>
              <a:t>COs Covered and Summary</a:t>
            </a:r>
            <a:endParaRPr lang="en-US" sz="5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09585" y="1682055"/>
          <a:ext cx="10972526" cy="2228795"/>
        </p:xfrm>
        <a:graphic>
          <a:graphicData uri="http://schemas.openxmlformats.org/drawingml/2006/table">
            <a:tbl>
              <a:tblPr/>
              <a:tblGrid>
                <a:gridCol w="3072216">
                  <a:extLst>
                    <a:ext uri="{9D8B030D-6E8A-4147-A177-3AD203B41FA5}">
                      <a16:colId xmlns:a16="http://schemas.microsoft.com/office/drawing/2014/main" val="20000"/>
                    </a:ext>
                  </a:extLst>
                </a:gridCol>
                <a:gridCol w="2413948">
                  <a:extLst>
                    <a:ext uri="{9D8B030D-6E8A-4147-A177-3AD203B41FA5}">
                      <a16:colId xmlns:a16="http://schemas.microsoft.com/office/drawing/2014/main" val="20001"/>
                    </a:ext>
                  </a:extLst>
                </a:gridCol>
                <a:gridCol w="3291738">
                  <a:extLst>
                    <a:ext uri="{9D8B030D-6E8A-4147-A177-3AD203B41FA5}">
                      <a16:colId xmlns:a16="http://schemas.microsoft.com/office/drawing/2014/main" val="20002"/>
                    </a:ext>
                  </a:extLst>
                </a:gridCol>
                <a:gridCol w="2194624">
                  <a:extLst>
                    <a:ext uri="{9D8B030D-6E8A-4147-A177-3AD203B41FA5}">
                      <a16:colId xmlns:a16="http://schemas.microsoft.com/office/drawing/2014/main" val="20003"/>
                    </a:ext>
                  </a:extLst>
                </a:gridCol>
              </a:tblGrid>
              <a:tr h="397262">
                <a:tc>
                  <a:txBody>
                    <a:bodyPr/>
                    <a:lstStyle/>
                    <a:p>
                      <a:pPr marL="0" indent="0" algn="l">
                        <a:buNone/>
                      </a:pPr>
                      <a:r>
                        <a:rPr lang="en-US" sz="1400" dirty="0">
                          <a:solidFill>
                            <a:srgbClr val="FFFFFF"/>
                          </a:solidFill>
                          <a:latin typeface="Public Sans" pitchFamily="34" charset="0"/>
                          <a:ea typeface="Public Sans" pitchFamily="34" charset="-122"/>
                          <a:cs typeface="Public Sans" pitchFamily="34" charset="-120"/>
                        </a:rPr>
                        <a:t>Topic</a:t>
                      </a:r>
                      <a:endParaRPr lang="en-US" sz="1400" dirty="0">
                        <a:latin typeface="Public Sans" charset="0"/>
                        <a:ea typeface="Public Sans" charset="0"/>
                        <a:cs typeface="Public Sans" charset="0"/>
                      </a:endParaRPr>
                    </a:p>
                  </a:txBody>
                  <a:tcPr marL="133347" marR="133347" marT="71118" marB="71118" anchor="ctr">
                    <a:lnL w="12700" cap="flat" cmpd="sng" algn="ctr">
                      <a:solidFill>
                        <a:srgbClr val="456D72"/>
                      </a:solidFill>
                      <a:prstDash val="solid"/>
                      <a:round/>
                      <a:headEnd type="none" w="med" len="med"/>
                      <a:tailEnd type="none" w="med" len="med"/>
                    </a:lnL>
                    <a:lnR w="12700" cap="flat" cmpd="sng" algn="ctr">
                      <a:solidFill>
                        <a:srgbClr val="456D72"/>
                      </a:solidFill>
                      <a:prstDash val="solid"/>
                      <a:round/>
                      <a:headEnd type="none" w="med" len="med"/>
                      <a:tailEnd type="none" w="med" len="med"/>
                    </a:lnR>
                    <a:lnT w="12700" cap="flat" cmpd="sng" algn="ctr">
                      <a:solidFill>
                        <a:srgbClr val="456D72"/>
                      </a:solidFill>
                      <a:prstDash val="solid"/>
                      <a:round/>
                      <a:headEnd type="none" w="med" len="med"/>
                      <a:tailEnd type="none" w="med" len="med"/>
                    </a:lnT>
                    <a:lnB w="12700" cap="flat" cmpd="sng" algn="ctr">
                      <a:solidFill>
                        <a:srgbClr val="456D72"/>
                      </a:solidFill>
                      <a:prstDash val="solid"/>
                      <a:round/>
                      <a:headEnd type="none" w="med" len="med"/>
                      <a:tailEnd type="none" w="med" len="med"/>
                    </a:lnB>
                    <a:solidFill>
                      <a:srgbClr val="0A3F46"/>
                    </a:solidFill>
                  </a:tcPr>
                </a:tc>
                <a:tc>
                  <a:txBody>
                    <a:bodyPr/>
                    <a:lstStyle/>
                    <a:p>
                      <a:pPr marL="0" indent="0" algn="l">
                        <a:buNone/>
                      </a:pPr>
                      <a:r>
                        <a:rPr lang="en-US" sz="1400" dirty="0">
                          <a:solidFill>
                            <a:srgbClr val="FFFFFF"/>
                          </a:solidFill>
                          <a:latin typeface="Public Sans" pitchFamily="34" charset="0"/>
                          <a:ea typeface="Public Sans" pitchFamily="34" charset="-122"/>
                          <a:cs typeface="Public Sans" pitchFamily="34" charset="-120"/>
                        </a:rPr>
                        <a:t>Source notes</a:t>
                      </a:r>
                      <a:endParaRPr lang="en-US" sz="1400" dirty="0">
                        <a:latin typeface="Public Sans" charset="0"/>
                        <a:ea typeface="Public Sans" charset="0"/>
                        <a:cs typeface="Public Sans" charset="0"/>
                      </a:endParaRPr>
                    </a:p>
                  </a:txBody>
                  <a:tcPr marL="133347" marR="133347" marT="71118" marB="71118" anchor="ctr">
                    <a:lnL w="12700" cap="flat" cmpd="sng" algn="ctr">
                      <a:solidFill>
                        <a:srgbClr val="456D72"/>
                      </a:solidFill>
                      <a:prstDash val="solid"/>
                      <a:round/>
                      <a:headEnd type="none" w="med" len="med"/>
                      <a:tailEnd type="none" w="med" len="med"/>
                    </a:lnL>
                    <a:lnR w="12700" cap="flat" cmpd="sng" algn="ctr">
                      <a:solidFill>
                        <a:srgbClr val="456D72"/>
                      </a:solidFill>
                      <a:prstDash val="solid"/>
                      <a:round/>
                      <a:headEnd type="none" w="med" len="med"/>
                      <a:tailEnd type="none" w="med" len="med"/>
                    </a:lnR>
                    <a:lnT w="12700" cap="flat" cmpd="sng" algn="ctr">
                      <a:solidFill>
                        <a:srgbClr val="456D72"/>
                      </a:solidFill>
                      <a:prstDash val="solid"/>
                      <a:round/>
                      <a:headEnd type="none" w="med" len="med"/>
                      <a:tailEnd type="none" w="med" len="med"/>
                    </a:lnT>
                    <a:lnB w="12700" cap="flat" cmpd="sng" algn="ctr">
                      <a:solidFill>
                        <a:srgbClr val="456D72"/>
                      </a:solidFill>
                      <a:prstDash val="solid"/>
                      <a:round/>
                      <a:headEnd type="none" w="med" len="med"/>
                      <a:tailEnd type="none" w="med" len="med"/>
                    </a:lnB>
                    <a:solidFill>
                      <a:srgbClr val="0A3F46"/>
                    </a:solidFill>
                  </a:tcPr>
                </a:tc>
                <a:tc>
                  <a:txBody>
                    <a:bodyPr/>
                    <a:lstStyle/>
                    <a:p>
                      <a:pPr marL="0" indent="0" algn="l">
                        <a:buNone/>
                      </a:pPr>
                      <a:r>
                        <a:rPr lang="en-US" sz="1400" dirty="0">
                          <a:solidFill>
                            <a:srgbClr val="FFFFFF"/>
                          </a:solidFill>
                          <a:latin typeface="Public Sans" pitchFamily="34" charset="0"/>
                          <a:ea typeface="Public Sans" pitchFamily="34" charset="-122"/>
                          <a:cs typeface="Public Sans" pitchFamily="34" charset="-120"/>
                        </a:rPr>
                        <a:t>Used in code</a:t>
                      </a:r>
                      <a:endParaRPr lang="en-US" sz="1400" dirty="0">
                        <a:latin typeface="Public Sans" charset="0"/>
                        <a:ea typeface="Public Sans" charset="0"/>
                        <a:cs typeface="Public Sans" charset="0"/>
                      </a:endParaRPr>
                    </a:p>
                  </a:txBody>
                  <a:tcPr marL="133347" marR="133347" marT="71118" marB="71118" anchor="ctr">
                    <a:lnL w="12700" cap="flat" cmpd="sng" algn="ctr">
                      <a:solidFill>
                        <a:srgbClr val="456D72"/>
                      </a:solidFill>
                      <a:prstDash val="solid"/>
                      <a:round/>
                      <a:headEnd type="none" w="med" len="med"/>
                      <a:tailEnd type="none" w="med" len="med"/>
                    </a:lnL>
                    <a:lnR w="12700" cap="flat" cmpd="sng" algn="ctr">
                      <a:solidFill>
                        <a:srgbClr val="456D72"/>
                      </a:solidFill>
                      <a:prstDash val="solid"/>
                      <a:round/>
                      <a:headEnd type="none" w="med" len="med"/>
                      <a:tailEnd type="none" w="med" len="med"/>
                    </a:lnR>
                    <a:lnT w="12700" cap="flat" cmpd="sng" algn="ctr">
                      <a:solidFill>
                        <a:srgbClr val="456D72"/>
                      </a:solidFill>
                      <a:prstDash val="solid"/>
                      <a:round/>
                      <a:headEnd type="none" w="med" len="med"/>
                      <a:tailEnd type="none" w="med" len="med"/>
                    </a:lnT>
                    <a:lnB w="12700" cap="flat" cmpd="sng" algn="ctr">
                      <a:solidFill>
                        <a:srgbClr val="456D72"/>
                      </a:solidFill>
                      <a:prstDash val="solid"/>
                      <a:round/>
                      <a:headEnd type="none" w="med" len="med"/>
                      <a:tailEnd type="none" w="med" len="med"/>
                    </a:lnB>
                    <a:solidFill>
                      <a:srgbClr val="0A3F46"/>
                    </a:solidFill>
                  </a:tcPr>
                </a:tc>
                <a:tc>
                  <a:txBody>
                    <a:bodyPr/>
                    <a:lstStyle/>
                    <a:p>
                      <a:pPr marL="0" indent="0" algn="l">
                        <a:buNone/>
                      </a:pPr>
                      <a:r>
                        <a:rPr lang="en-US" sz="1400" dirty="0">
                          <a:solidFill>
                            <a:srgbClr val="FFFFFF"/>
                          </a:solidFill>
                          <a:latin typeface="Public Sans" pitchFamily="34" charset="0"/>
                          <a:ea typeface="Public Sans" pitchFamily="34" charset="-122"/>
                          <a:cs typeface="Public Sans" pitchFamily="34" charset="-120"/>
                        </a:rPr>
                        <a:t>CO</a:t>
                      </a:r>
                      <a:endParaRPr lang="en-US" sz="1400" dirty="0">
                        <a:latin typeface="Public Sans" charset="0"/>
                        <a:ea typeface="Public Sans" charset="0"/>
                        <a:cs typeface="Public Sans" charset="0"/>
                      </a:endParaRPr>
                    </a:p>
                  </a:txBody>
                  <a:tcPr marL="133347" marR="133347" marT="71118" marB="71118" anchor="ctr">
                    <a:lnL w="12700" cap="flat" cmpd="sng" algn="ctr">
                      <a:solidFill>
                        <a:srgbClr val="456D72"/>
                      </a:solidFill>
                      <a:prstDash val="solid"/>
                      <a:round/>
                      <a:headEnd type="none" w="med" len="med"/>
                      <a:tailEnd type="none" w="med" len="med"/>
                    </a:lnL>
                    <a:lnR w="12700" cap="flat" cmpd="sng" algn="ctr">
                      <a:solidFill>
                        <a:srgbClr val="456D72"/>
                      </a:solidFill>
                      <a:prstDash val="solid"/>
                      <a:round/>
                      <a:headEnd type="none" w="med" len="med"/>
                      <a:tailEnd type="none" w="med" len="med"/>
                    </a:lnR>
                    <a:lnT w="12700" cap="flat" cmpd="sng" algn="ctr">
                      <a:solidFill>
                        <a:srgbClr val="456D72"/>
                      </a:solidFill>
                      <a:prstDash val="solid"/>
                      <a:round/>
                      <a:headEnd type="none" w="med" len="med"/>
                      <a:tailEnd type="none" w="med" len="med"/>
                    </a:lnT>
                    <a:lnB w="12700" cap="flat" cmpd="sng" algn="ctr">
                      <a:solidFill>
                        <a:srgbClr val="456D72"/>
                      </a:solidFill>
                      <a:prstDash val="solid"/>
                      <a:round/>
                      <a:headEnd type="none" w="med" len="med"/>
                      <a:tailEnd type="none" w="med" len="med"/>
                    </a:lnB>
                    <a:solidFill>
                      <a:srgbClr val="0A3F46"/>
                    </a:solidFill>
                  </a:tcPr>
                </a:tc>
                <a:extLst>
                  <a:ext uri="{0D108BD9-81ED-4DB2-BD59-A6C34878D82A}">
                    <a16:rowId xmlns:a16="http://schemas.microsoft.com/office/drawing/2014/main" val="10000"/>
                  </a:ext>
                </a:extLst>
              </a:tr>
              <a:tr h="397262">
                <a:tc>
                  <a:txBody>
                    <a:bodyPr/>
                    <a:lstStyle/>
                    <a:p>
                      <a:pPr marL="0" indent="0" algn="l">
                        <a:buNone/>
                      </a:pPr>
                      <a:r>
                        <a:rPr lang="en-US" sz="1400" dirty="0">
                          <a:solidFill>
                            <a:srgbClr val="EAF6FA"/>
                          </a:solidFill>
                          <a:latin typeface="Public Sans" pitchFamily="34" charset="0"/>
                          <a:ea typeface="Public Sans" pitchFamily="34" charset="-122"/>
                          <a:cs typeface="Public Sans" pitchFamily="34" charset="-120"/>
                        </a:rPr>
                        <a:t>final keyword</a:t>
                      </a:r>
                      <a:endParaRPr lang="en-US" sz="1400" dirty="0">
                        <a:latin typeface="Public Sans" charset="0"/>
                        <a:ea typeface="Public Sans" charset="0"/>
                        <a:cs typeface="Public Sans" charset="0"/>
                      </a:endParaRPr>
                    </a:p>
                  </a:txBody>
                  <a:tcPr marL="133347" marR="133347" marT="71118" marB="71118" anchor="ctr">
                    <a:lnL w="12700" cap="flat" cmpd="sng" algn="ctr">
                      <a:solidFill>
                        <a:srgbClr val="456D72"/>
                      </a:solidFill>
                      <a:prstDash val="solid"/>
                      <a:round/>
                      <a:headEnd type="none" w="med" len="med"/>
                      <a:tailEnd type="none" w="med" len="med"/>
                    </a:lnL>
                    <a:lnR w="12700" cap="flat" cmpd="sng" algn="ctr">
                      <a:solidFill>
                        <a:srgbClr val="456D72"/>
                      </a:solidFill>
                      <a:prstDash val="solid"/>
                      <a:round/>
                      <a:headEnd type="none" w="med" len="med"/>
                      <a:tailEnd type="none" w="med" len="med"/>
                    </a:lnR>
                    <a:lnT w="12700" cap="flat" cmpd="sng" algn="ctr">
                      <a:solidFill>
                        <a:srgbClr val="456D72"/>
                      </a:solidFill>
                      <a:prstDash val="solid"/>
                      <a:round/>
                      <a:headEnd type="none" w="med" len="med"/>
                      <a:tailEnd type="none" w="med" len="med"/>
                    </a:lnT>
                    <a:lnB w="12700" cap="flat" cmpd="sng" algn="ctr">
                      <a:solidFill>
                        <a:srgbClr val="456D72"/>
                      </a:solidFill>
                      <a:prstDash val="solid"/>
                      <a:round/>
                      <a:headEnd type="none" w="med" len="med"/>
                      <a:tailEnd type="none" w="med" len="med"/>
                    </a:lnB>
                    <a:solidFill>
                      <a:srgbClr val="174C53"/>
                    </a:solidFill>
                  </a:tcPr>
                </a:tc>
                <a:tc>
                  <a:txBody>
                    <a:bodyPr/>
                    <a:lstStyle/>
                    <a:p>
                      <a:pPr marL="0" indent="0" algn="l">
                        <a:buNone/>
                      </a:pPr>
                      <a:r>
                        <a:rPr lang="en-US" sz="1400" dirty="0">
                          <a:solidFill>
                            <a:srgbClr val="EAF6FA"/>
                          </a:solidFill>
                          <a:latin typeface="Public Sans" pitchFamily="34" charset="0"/>
                          <a:ea typeface="Public Sans" pitchFamily="34" charset="-122"/>
                          <a:cs typeface="Public Sans" pitchFamily="34" charset="-120"/>
                        </a:rPr>
                        <a:t>final.txt</a:t>
                      </a:r>
                      <a:endParaRPr lang="en-US" sz="1400" dirty="0">
                        <a:latin typeface="Public Sans" charset="0"/>
                        <a:ea typeface="Public Sans" charset="0"/>
                        <a:cs typeface="Public Sans" charset="0"/>
                      </a:endParaRPr>
                    </a:p>
                  </a:txBody>
                  <a:tcPr marL="133347" marR="133347" marT="71118" marB="71118" anchor="ctr">
                    <a:lnL w="12700" cap="flat" cmpd="sng" algn="ctr">
                      <a:solidFill>
                        <a:srgbClr val="456D72"/>
                      </a:solidFill>
                      <a:prstDash val="solid"/>
                      <a:round/>
                      <a:headEnd type="none" w="med" len="med"/>
                      <a:tailEnd type="none" w="med" len="med"/>
                    </a:lnL>
                    <a:lnR w="12700" cap="flat" cmpd="sng" algn="ctr">
                      <a:solidFill>
                        <a:srgbClr val="456D72"/>
                      </a:solidFill>
                      <a:prstDash val="solid"/>
                      <a:round/>
                      <a:headEnd type="none" w="med" len="med"/>
                      <a:tailEnd type="none" w="med" len="med"/>
                    </a:lnR>
                    <a:lnT w="12700" cap="flat" cmpd="sng" algn="ctr">
                      <a:solidFill>
                        <a:srgbClr val="456D72"/>
                      </a:solidFill>
                      <a:prstDash val="solid"/>
                      <a:round/>
                      <a:headEnd type="none" w="med" len="med"/>
                      <a:tailEnd type="none" w="med" len="med"/>
                    </a:lnT>
                    <a:lnB w="12700" cap="flat" cmpd="sng" algn="ctr">
                      <a:solidFill>
                        <a:srgbClr val="456D72"/>
                      </a:solidFill>
                      <a:prstDash val="solid"/>
                      <a:round/>
                      <a:headEnd type="none" w="med" len="med"/>
                      <a:tailEnd type="none" w="med" len="med"/>
                    </a:lnB>
                    <a:solidFill>
                      <a:srgbClr val="174C53"/>
                    </a:solidFill>
                  </a:tcPr>
                </a:tc>
                <a:tc>
                  <a:txBody>
                    <a:bodyPr/>
                    <a:lstStyle/>
                    <a:p>
                      <a:pPr marL="0" indent="0" algn="l">
                        <a:buNone/>
                      </a:pPr>
                      <a:r>
                        <a:rPr lang="en-US" sz="1400" dirty="0">
                          <a:solidFill>
                            <a:srgbClr val="EAF6FA"/>
                          </a:solidFill>
                          <a:latin typeface="Public Sans" pitchFamily="34" charset="0"/>
                          <a:ea typeface="Public Sans" pitchFamily="34" charset="-122"/>
                          <a:cs typeface="Public Sans" pitchFamily="34" charset="-120"/>
                        </a:rPr>
                        <a:t>Constants for limits and name</a:t>
                      </a:r>
                      <a:endParaRPr lang="en-US" sz="1400" dirty="0">
                        <a:latin typeface="Public Sans" charset="0"/>
                        <a:ea typeface="Public Sans" charset="0"/>
                        <a:cs typeface="Public Sans" charset="0"/>
                      </a:endParaRPr>
                    </a:p>
                  </a:txBody>
                  <a:tcPr marL="133347" marR="133347" marT="71118" marB="71118" anchor="ctr">
                    <a:lnL w="12700" cap="flat" cmpd="sng" algn="ctr">
                      <a:solidFill>
                        <a:srgbClr val="456D72"/>
                      </a:solidFill>
                      <a:prstDash val="solid"/>
                      <a:round/>
                      <a:headEnd type="none" w="med" len="med"/>
                      <a:tailEnd type="none" w="med" len="med"/>
                    </a:lnL>
                    <a:lnR w="12700" cap="flat" cmpd="sng" algn="ctr">
                      <a:solidFill>
                        <a:srgbClr val="456D72"/>
                      </a:solidFill>
                      <a:prstDash val="solid"/>
                      <a:round/>
                      <a:headEnd type="none" w="med" len="med"/>
                      <a:tailEnd type="none" w="med" len="med"/>
                    </a:lnR>
                    <a:lnT w="12700" cap="flat" cmpd="sng" algn="ctr">
                      <a:solidFill>
                        <a:srgbClr val="456D72"/>
                      </a:solidFill>
                      <a:prstDash val="solid"/>
                      <a:round/>
                      <a:headEnd type="none" w="med" len="med"/>
                      <a:tailEnd type="none" w="med" len="med"/>
                    </a:lnT>
                    <a:lnB w="12700" cap="flat" cmpd="sng" algn="ctr">
                      <a:solidFill>
                        <a:srgbClr val="456D72"/>
                      </a:solidFill>
                      <a:prstDash val="solid"/>
                      <a:round/>
                      <a:headEnd type="none" w="med" len="med"/>
                      <a:tailEnd type="none" w="med" len="med"/>
                    </a:lnB>
                    <a:solidFill>
                      <a:srgbClr val="174C53"/>
                    </a:solidFill>
                  </a:tcPr>
                </a:tc>
                <a:tc>
                  <a:txBody>
                    <a:bodyPr/>
                    <a:lstStyle/>
                    <a:p>
                      <a:pPr marL="0" indent="0" algn="l">
                        <a:buNone/>
                      </a:pPr>
                      <a:r>
                        <a:rPr lang="en-US" sz="1400" i="1" dirty="0">
                          <a:solidFill>
                            <a:srgbClr val="EAF6FA"/>
                          </a:solidFill>
                          <a:latin typeface="Public Sans" pitchFamily="34" charset="0"/>
                          <a:ea typeface="Public Sans" pitchFamily="34" charset="-122"/>
                          <a:cs typeface="Public Sans" pitchFamily="34" charset="-120"/>
                        </a:rPr>
                        <a:t>CO4</a:t>
                      </a:r>
                      <a:endParaRPr lang="en-US" sz="1400" dirty="0">
                        <a:latin typeface="Public Sans" charset="0"/>
                        <a:ea typeface="Public Sans" charset="0"/>
                        <a:cs typeface="Public Sans" charset="0"/>
                      </a:endParaRPr>
                    </a:p>
                  </a:txBody>
                  <a:tcPr marL="133347" marR="133347" marT="71118" marB="71118" anchor="ctr">
                    <a:lnL w="12700" cap="flat" cmpd="sng" algn="ctr">
                      <a:solidFill>
                        <a:srgbClr val="456D72"/>
                      </a:solidFill>
                      <a:prstDash val="solid"/>
                      <a:round/>
                      <a:headEnd type="none" w="med" len="med"/>
                      <a:tailEnd type="none" w="med" len="med"/>
                    </a:lnL>
                    <a:lnR w="12700" cap="flat" cmpd="sng" algn="ctr">
                      <a:solidFill>
                        <a:srgbClr val="456D72"/>
                      </a:solidFill>
                      <a:prstDash val="solid"/>
                      <a:round/>
                      <a:headEnd type="none" w="med" len="med"/>
                      <a:tailEnd type="none" w="med" len="med"/>
                    </a:lnR>
                    <a:lnT w="12700" cap="flat" cmpd="sng" algn="ctr">
                      <a:solidFill>
                        <a:srgbClr val="456D72"/>
                      </a:solidFill>
                      <a:prstDash val="solid"/>
                      <a:round/>
                      <a:headEnd type="none" w="med" len="med"/>
                      <a:tailEnd type="none" w="med" len="med"/>
                    </a:lnT>
                    <a:lnB w="12700" cap="flat" cmpd="sng" algn="ctr">
                      <a:solidFill>
                        <a:srgbClr val="456D72"/>
                      </a:solidFill>
                      <a:prstDash val="solid"/>
                      <a:round/>
                      <a:headEnd type="none" w="med" len="med"/>
                      <a:tailEnd type="none" w="med" len="med"/>
                    </a:lnB>
                    <a:solidFill>
                      <a:srgbClr val="174C53"/>
                    </a:solidFill>
                  </a:tcPr>
                </a:tc>
                <a:extLst>
                  <a:ext uri="{0D108BD9-81ED-4DB2-BD59-A6C34878D82A}">
                    <a16:rowId xmlns:a16="http://schemas.microsoft.com/office/drawing/2014/main" val="10001"/>
                  </a:ext>
                </a:extLst>
              </a:tr>
              <a:tr h="397262">
                <a:tc>
                  <a:txBody>
                    <a:bodyPr/>
                    <a:lstStyle/>
                    <a:p>
                      <a:pPr marL="0" indent="0" algn="l">
                        <a:buNone/>
                      </a:pPr>
                      <a:r>
                        <a:rPr lang="en-US" sz="1400" dirty="0">
                          <a:solidFill>
                            <a:srgbClr val="EAF6FA"/>
                          </a:solidFill>
                          <a:latin typeface="Public Sans" pitchFamily="34" charset="0"/>
                          <a:ea typeface="Public Sans" pitchFamily="34" charset="-122"/>
                          <a:cs typeface="Public Sans" pitchFamily="34" charset="-120"/>
                        </a:rPr>
                        <a:t>Collection Framework</a:t>
                      </a:r>
                      <a:endParaRPr lang="en-US" sz="1400" dirty="0">
                        <a:latin typeface="Public Sans" charset="0"/>
                        <a:ea typeface="Public Sans" charset="0"/>
                        <a:cs typeface="Public Sans" charset="0"/>
                      </a:endParaRPr>
                    </a:p>
                  </a:txBody>
                  <a:tcPr marL="133347" marR="133347" marT="71118" marB="71118" anchor="ctr">
                    <a:lnL w="12700" cap="flat" cmpd="sng" algn="ctr">
                      <a:solidFill>
                        <a:srgbClr val="456D72"/>
                      </a:solidFill>
                      <a:prstDash val="solid"/>
                      <a:round/>
                      <a:headEnd type="none" w="med" len="med"/>
                      <a:tailEnd type="none" w="med" len="med"/>
                    </a:lnL>
                    <a:lnR w="12700" cap="flat" cmpd="sng" algn="ctr">
                      <a:solidFill>
                        <a:srgbClr val="456D72"/>
                      </a:solidFill>
                      <a:prstDash val="solid"/>
                      <a:round/>
                      <a:headEnd type="none" w="med" len="med"/>
                      <a:tailEnd type="none" w="med" len="med"/>
                    </a:lnR>
                    <a:lnT w="12700" cap="flat" cmpd="sng" algn="ctr">
                      <a:solidFill>
                        <a:srgbClr val="456D72"/>
                      </a:solidFill>
                      <a:prstDash val="solid"/>
                      <a:round/>
                      <a:headEnd type="none" w="med" len="med"/>
                      <a:tailEnd type="none" w="med" len="med"/>
                    </a:lnT>
                    <a:lnB w="12700" cap="flat" cmpd="sng" algn="ctr">
                      <a:solidFill>
                        <a:srgbClr val="456D72"/>
                      </a:solidFill>
                      <a:prstDash val="solid"/>
                      <a:round/>
                      <a:headEnd type="none" w="med" len="med"/>
                      <a:tailEnd type="none" w="med" len="med"/>
                    </a:lnB>
                    <a:solidFill>
                      <a:srgbClr val="174C53"/>
                    </a:solidFill>
                  </a:tcPr>
                </a:tc>
                <a:tc>
                  <a:txBody>
                    <a:bodyPr/>
                    <a:lstStyle/>
                    <a:p>
                      <a:pPr marL="0" indent="0" algn="l">
                        <a:buNone/>
                      </a:pPr>
                      <a:r>
                        <a:rPr lang="en-US" sz="1400" dirty="0">
                          <a:solidFill>
                            <a:srgbClr val="EAF6FA"/>
                          </a:solidFill>
                          <a:latin typeface="Public Sans" pitchFamily="34" charset="0"/>
                          <a:ea typeface="Public Sans" pitchFamily="34" charset="-122"/>
                          <a:cs typeface="Public Sans" pitchFamily="34" charset="-120"/>
                        </a:rPr>
                        <a:t>collection framework.txt</a:t>
                      </a:r>
                      <a:endParaRPr lang="en-US" sz="1400" dirty="0">
                        <a:latin typeface="Public Sans" charset="0"/>
                        <a:ea typeface="Public Sans" charset="0"/>
                        <a:cs typeface="Public Sans" charset="0"/>
                      </a:endParaRPr>
                    </a:p>
                  </a:txBody>
                  <a:tcPr marL="133347" marR="133347" marT="71118" marB="71118" anchor="ctr">
                    <a:lnL w="12700" cap="flat" cmpd="sng" algn="ctr">
                      <a:solidFill>
                        <a:srgbClr val="456D72"/>
                      </a:solidFill>
                      <a:prstDash val="solid"/>
                      <a:round/>
                      <a:headEnd type="none" w="med" len="med"/>
                      <a:tailEnd type="none" w="med" len="med"/>
                    </a:lnL>
                    <a:lnR w="12700" cap="flat" cmpd="sng" algn="ctr">
                      <a:solidFill>
                        <a:srgbClr val="456D72"/>
                      </a:solidFill>
                      <a:prstDash val="solid"/>
                      <a:round/>
                      <a:headEnd type="none" w="med" len="med"/>
                      <a:tailEnd type="none" w="med" len="med"/>
                    </a:lnR>
                    <a:lnT w="12700" cap="flat" cmpd="sng" algn="ctr">
                      <a:solidFill>
                        <a:srgbClr val="456D72"/>
                      </a:solidFill>
                      <a:prstDash val="solid"/>
                      <a:round/>
                      <a:headEnd type="none" w="med" len="med"/>
                      <a:tailEnd type="none" w="med" len="med"/>
                    </a:lnT>
                    <a:lnB w="12700" cap="flat" cmpd="sng" algn="ctr">
                      <a:solidFill>
                        <a:srgbClr val="456D72"/>
                      </a:solidFill>
                      <a:prstDash val="solid"/>
                      <a:round/>
                      <a:headEnd type="none" w="med" len="med"/>
                      <a:tailEnd type="none" w="med" len="med"/>
                    </a:lnB>
                    <a:solidFill>
                      <a:srgbClr val="174C53"/>
                    </a:solidFill>
                  </a:tcPr>
                </a:tc>
                <a:tc>
                  <a:txBody>
                    <a:bodyPr/>
                    <a:lstStyle/>
                    <a:p>
                      <a:pPr marL="0" indent="0" algn="l">
                        <a:buNone/>
                      </a:pPr>
                      <a:r>
                        <a:rPr lang="en-US" sz="1400" dirty="0">
                          <a:solidFill>
                            <a:srgbClr val="EAF6FA"/>
                          </a:solidFill>
                          <a:latin typeface="Public Sans" pitchFamily="34" charset="0"/>
                          <a:ea typeface="Public Sans" pitchFamily="34" charset="-122"/>
                          <a:cs typeface="Public Sans" pitchFamily="34" charset="-120"/>
                        </a:rPr>
                        <a:t>ArrayList and Iterator</a:t>
                      </a:r>
                      <a:endParaRPr lang="en-US" sz="1400" dirty="0">
                        <a:latin typeface="Public Sans" charset="0"/>
                        <a:ea typeface="Public Sans" charset="0"/>
                        <a:cs typeface="Public Sans" charset="0"/>
                      </a:endParaRPr>
                    </a:p>
                  </a:txBody>
                  <a:tcPr marL="133347" marR="133347" marT="71118" marB="71118" anchor="ctr">
                    <a:lnL w="12700" cap="flat" cmpd="sng" algn="ctr">
                      <a:solidFill>
                        <a:srgbClr val="456D72"/>
                      </a:solidFill>
                      <a:prstDash val="solid"/>
                      <a:round/>
                      <a:headEnd type="none" w="med" len="med"/>
                      <a:tailEnd type="none" w="med" len="med"/>
                    </a:lnL>
                    <a:lnR w="12700" cap="flat" cmpd="sng" algn="ctr">
                      <a:solidFill>
                        <a:srgbClr val="456D72"/>
                      </a:solidFill>
                      <a:prstDash val="solid"/>
                      <a:round/>
                      <a:headEnd type="none" w="med" len="med"/>
                      <a:tailEnd type="none" w="med" len="med"/>
                    </a:lnR>
                    <a:lnT w="12700" cap="flat" cmpd="sng" algn="ctr">
                      <a:solidFill>
                        <a:srgbClr val="456D72"/>
                      </a:solidFill>
                      <a:prstDash val="solid"/>
                      <a:round/>
                      <a:headEnd type="none" w="med" len="med"/>
                      <a:tailEnd type="none" w="med" len="med"/>
                    </a:lnT>
                    <a:lnB w="12700" cap="flat" cmpd="sng" algn="ctr">
                      <a:solidFill>
                        <a:srgbClr val="456D72"/>
                      </a:solidFill>
                      <a:prstDash val="solid"/>
                      <a:round/>
                      <a:headEnd type="none" w="med" len="med"/>
                      <a:tailEnd type="none" w="med" len="med"/>
                    </a:lnB>
                    <a:solidFill>
                      <a:srgbClr val="174C53"/>
                    </a:solidFill>
                  </a:tcPr>
                </a:tc>
                <a:tc>
                  <a:txBody>
                    <a:bodyPr/>
                    <a:lstStyle/>
                    <a:p>
                      <a:pPr marL="0" indent="0" algn="l">
                        <a:buNone/>
                      </a:pPr>
                      <a:r>
                        <a:rPr lang="en-US" sz="1400" i="1" dirty="0">
                          <a:solidFill>
                            <a:srgbClr val="EAF6FA"/>
                          </a:solidFill>
                          <a:latin typeface="Public Sans" pitchFamily="34" charset="0"/>
                          <a:ea typeface="Public Sans" pitchFamily="34" charset="-122"/>
                          <a:cs typeface="Public Sans" pitchFamily="34" charset="-120"/>
                        </a:rPr>
                        <a:t>CO6</a:t>
                      </a:r>
                      <a:endParaRPr lang="en-US" sz="1400" dirty="0">
                        <a:latin typeface="Public Sans" charset="0"/>
                        <a:ea typeface="Public Sans" charset="0"/>
                        <a:cs typeface="Public Sans" charset="0"/>
                      </a:endParaRPr>
                    </a:p>
                  </a:txBody>
                  <a:tcPr marL="133347" marR="133347" marT="71118" marB="71118" anchor="ctr">
                    <a:lnL w="12700" cap="flat" cmpd="sng" algn="ctr">
                      <a:solidFill>
                        <a:srgbClr val="456D72"/>
                      </a:solidFill>
                      <a:prstDash val="solid"/>
                      <a:round/>
                      <a:headEnd type="none" w="med" len="med"/>
                      <a:tailEnd type="none" w="med" len="med"/>
                    </a:lnL>
                    <a:lnR w="12700" cap="flat" cmpd="sng" algn="ctr">
                      <a:solidFill>
                        <a:srgbClr val="456D72"/>
                      </a:solidFill>
                      <a:prstDash val="solid"/>
                      <a:round/>
                      <a:headEnd type="none" w="med" len="med"/>
                      <a:tailEnd type="none" w="med" len="med"/>
                    </a:lnR>
                    <a:lnT w="12700" cap="flat" cmpd="sng" algn="ctr">
                      <a:solidFill>
                        <a:srgbClr val="456D72"/>
                      </a:solidFill>
                      <a:prstDash val="solid"/>
                      <a:round/>
                      <a:headEnd type="none" w="med" len="med"/>
                      <a:tailEnd type="none" w="med" len="med"/>
                    </a:lnT>
                    <a:lnB w="12700" cap="flat" cmpd="sng" algn="ctr">
                      <a:solidFill>
                        <a:srgbClr val="456D72"/>
                      </a:solidFill>
                      <a:prstDash val="solid"/>
                      <a:round/>
                      <a:headEnd type="none" w="med" len="med"/>
                      <a:tailEnd type="none" w="med" len="med"/>
                    </a:lnB>
                    <a:solidFill>
                      <a:srgbClr val="174C53"/>
                    </a:solidFill>
                  </a:tcPr>
                </a:tc>
                <a:extLst>
                  <a:ext uri="{0D108BD9-81ED-4DB2-BD59-A6C34878D82A}">
                    <a16:rowId xmlns:a16="http://schemas.microsoft.com/office/drawing/2014/main" val="10002"/>
                  </a:ext>
                </a:extLst>
              </a:tr>
              <a:tr h="397262">
                <a:tc>
                  <a:txBody>
                    <a:bodyPr/>
                    <a:lstStyle/>
                    <a:p>
                      <a:pPr marL="0" indent="0" algn="l">
                        <a:buNone/>
                      </a:pPr>
                      <a:r>
                        <a:rPr lang="en-US" sz="1400" dirty="0">
                          <a:solidFill>
                            <a:srgbClr val="EAF6FA"/>
                          </a:solidFill>
                          <a:latin typeface="Public Sans" pitchFamily="34" charset="0"/>
                          <a:ea typeface="Public Sans" pitchFamily="34" charset="-122"/>
                          <a:cs typeface="Public Sans" pitchFamily="34" charset="-120"/>
                        </a:rPr>
                        <a:t>StringBuffer</a:t>
                      </a:r>
                      <a:endParaRPr lang="en-US" sz="1400" dirty="0">
                        <a:latin typeface="Public Sans" charset="0"/>
                        <a:ea typeface="Public Sans" charset="0"/>
                        <a:cs typeface="Public Sans" charset="0"/>
                      </a:endParaRPr>
                    </a:p>
                  </a:txBody>
                  <a:tcPr marL="133347" marR="133347" marT="71118" marB="71118" anchor="ctr">
                    <a:lnL w="12700" cap="flat" cmpd="sng" algn="ctr">
                      <a:solidFill>
                        <a:srgbClr val="456D72"/>
                      </a:solidFill>
                      <a:prstDash val="solid"/>
                      <a:round/>
                      <a:headEnd type="none" w="med" len="med"/>
                      <a:tailEnd type="none" w="med" len="med"/>
                    </a:lnL>
                    <a:lnR w="12700" cap="flat" cmpd="sng" algn="ctr">
                      <a:solidFill>
                        <a:srgbClr val="456D72"/>
                      </a:solidFill>
                      <a:prstDash val="solid"/>
                      <a:round/>
                      <a:headEnd type="none" w="med" len="med"/>
                      <a:tailEnd type="none" w="med" len="med"/>
                    </a:lnR>
                    <a:lnT w="12700" cap="flat" cmpd="sng" algn="ctr">
                      <a:solidFill>
                        <a:srgbClr val="456D72"/>
                      </a:solidFill>
                      <a:prstDash val="solid"/>
                      <a:round/>
                      <a:headEnd type="none" w="med" len="med"/>
                      <a:tailEnd type="none" w="med" len="med"/>
                    </a:lnT>
                    <a:lnB w="12700" cap="flat" cmpd="sng" algn="ctr">
                      <a:solidFill>
                        <a:srgbClr val="456D72"/>
                      </a:solidFill>
                      <a:prstDash val="solid"/>
                      <a:round/>
                      <a:headEnd type="none" w="med" len="med"/>
                      <a:tailEnd type="none" w="med" len="med"/>
                    </a:lnB>
                    <a:solidFill>
                      <a:srgbClr val="174C53"/>
                    </a:solidFill>
                  </a:tcPr>
                </a:tc>
                <a:tc>
                  <a:txBody>
                    <a:bodyPr/>
                    <a:lstStyle/>
                    <a:p>
                      <a:pPr marL="0" indent="0" algn="l">
                        <a:buNone/>
                      </a:pPr>
                      <a:r>
                        <a:rPr lang="en-US" sz="1400" dirty="0">
                          <a:solidFill>
                            <a:srgbClr val="EAF6FA"/>
                          </a:solidFill>
                          <a:latin typeface="Public Sans" pitchFamily="34" charset="0"/>
                          <a:ea typeface="Public Sans" pitchFamily="34" charset="-122"/>
                          <a:cs typeface="Public Sans" pitchFamily="34" charset="-120"/>
                        </a:rPr>
                        <a:t>Java_StringBuffer.txt</a:t>
                      </a:r>
                      <a:endParaRPr lang="en-US" sz="1400" dirty="0">
                        <a:latin typeface="Public Sans" charset="0"/>
                        <a:ea typeface="Public Sans" charset="0"/>
                        <a:cs typeface="Public Sans" charset="0"/>
                      </a:endParaRPr>
                    </a:p>
                  </a:txBody>
                  <a:tcPr marL="133347" marR="133347" marT="71118" marB="71118" anchor="ctr">
                    <a:lnL w="12700" cap="flat" cmpd="sng" algn="ctr">
                      <a:solidFill>
                        <a:srgbClr val="456D72"/>
                      </a:solidFill>
                      <a:prstDash val="solid"/>
                      <a:round/>
                      <a:headEnd type="none" w="med" len="med"/>
                      <a:tailEnd type="none" w="med" len="med"/>
                    </a:lnL>
                    <a:lnR w="12700" cap="flat" cmpd="sng" algn="ctr">
                      <a:solidFill>
                        <a:srgbClr val="456D72"/>
                      </a:solidFill>
                      <a:prstDash val="solid"/>
                      <a:round/>
                      <a:headEnd type="none" w="med" len="med"/>
                      <a:tailEnd type="none" w="med" len="med"/>
                    </a:lnR>
                    <a:lnT w="12700" cap="flat" cmpd="sng" algn="ctr">
                      <a:solidFill>
                        <a:srgbClr val="456D72"/>
                      </a:solidFill>
                      <a:prstDash val="solid"/>
                      <a:round/>
                      <a:headEnd type="none" w="med" len="med"/>
                      <a:tailEnd type="none" w="med" len="med"/>
                    </a:lnT>
                    <a:lnB w="12700" cap="flat" cmpd="sng" algn="ctr">
                      <a:solidFill>
                        <a:srgbClr val="456D72"/>
                      </a:solidFill>
                      <a:prstDash val="solid"/>
                      <a:round/>
                      <a:headEnd type="none" w="med" len="med"/>
                      <a:tailEnd type="none" w="med" len="med"/>
                    </a:lnB>
                    <a:solidFill>
                      <a:srgbClr val="174C53"/>
                    </a:solidFill>
                  </a:tcPr>
                </a:tc>
                <a:tc>
                  <a:txBody>
                    <a:bodyPr/>
                    <a:lstStyle/>
                    <a:p>
                      <a:pPr marL="0" indent="0" algn="l">
                        <a:buNone/>
                      </a:pPr>
                      <a:r>
                        <a:rPr lang="en-US" sz="1400" dirty="0">
                          <a:solidFill>
                            <a:srgbClr val="EAF6FA"/>
                          </a:solidFill>
                          <a:latin typeface="Public Sans" pitchFamily="34" charset="0"/>
                          <a:ea typeface="Public Sans" pitchFamily="34" charset="-122"/>
                          <a:cs typeface="Public Sans" pitchFamily="34" charset="-120"/>
                        </a:rPr>
                        <a:t>append() for subject report</a:t>
                      </a:r>
                      <a:endParaRPr lang="en-US" sz="1400" dirty="0">
                        <a:latin typeface="Public Sans" charset="0"/>
                        <a:ea typeface="Public Sans" charset="0"/>
                        <a:cs typeface="Public Sans" charset="0"/>
                      </a:endParaRPr>
                    </a:p>
                  </a:txBody>
                  <a:tcPr marL="133347" marR="133347" marT="71118" marB="71118" anchor="ctr">
                    <a:lnL w="12700" cap="flat" cmpd="sng" algn="ctr">
                      <a:solidFill>
                        <a:srgbClr val="456D72"/>
                      </a:solidFill>
                      <a:prstDash val="solid"/>
                      <a:round/>
                      <a:headEnd type="none" w="med" len="med"/>
                      <a:tailEnd type="none" w="med" len="med"/>
                    </a:lnL>
                    <a:lnR w="12700" cap="flat" cmpd="sng" algn="ctr">
                      <a:solidFill>
                        <a:srgbClr val="456D72"/>
                      </a:solidFill>
                      <a:prstDash val="solid"/>
                      <a:round/>
                      <a:headEnd type="none" w="med" len="med"/>
                      <a:tailEnd type="none" w="med" len="med"/>
                    </a:lnR>
                    <a:lnT w="12700" cap="flat" cmpd="sng" algn="ctr">
                      <a:solidFill>
                        <a:srgbClr val="456D72"/>
                      </a:solidFill>
                      <a:prstDash val="solid"/>
                      <a:round/>
                      <a:headEnd type="none" w="med" len="med"/>
                      <a:tailEnd type="none" w="med" len="med"/>
                    </a:lnT>
                    <a:lnB w="12700" cap="flat" cmpd="sng" algn="ctr">
                      <a:solidFill>
                        <a:srgbClr val="456D72"/>
                      </a:solidFill>
                      <a:prstDash val="solid"/>
                      <a:round/>
                      <a:headEnd type="none" w="med" len="med"/>
                      <a:tailEnd type="none" w="med" len="med"/>
                    </a:lnB>
                    <a:solidFill>
                      <a:srgbClr val="174C53"/>
                    </a:solidFill>
                  </a:tcPr>
                </a:tc>
                <a:tc>
                  <a:txBody>
                    <a:bodyPr/>
                    <a:lstStyle/>
                    <a:p>
                      <a:pPr marL="0" indent="0" algn="l">
                        <a:buNone/>
                      </a:pPr>
                      <a:r>
                        <a:rPr lang="en-US" sz="1400" b="1" dirty="0">
                          <a:solidFill>
                            <a:srgbClr val="EAF6FA"/>
                          </a:solidFill>
                          <a:latin typeface="Public Sans" pitchFamily="34" charset="0"/>
                          <a:ea typeface="Public Sans" pitchFamily="34" charset="-122"/>
                          <a:cs typeface="Public Sans" pitchFamily="34" charset="-120"/>
                        </a:rPr>
                        <a:t>CO5</a:t>
                      </a:r>
                      <a:endParaRPr lang="en-US" sz="1400" dirty="0">
                        <a:latin typeface="Public Sans" charset="0"/>
                        <a:ea typeface="Public Sans" charset="0"/>
                        <a:cs typeface="Public Sans" charset="0"/>
                      </a:endParaRPr>
                    </a:p>
                  </a:txBody>
                  <a:tcPr marL="133347" marR="133347" marT="71118" marB="71118" anchor="ctr">
                    <a:lnL w="12700" cap="flat" cmpd="sng" algn="ctr">
                      <a:solidFill>
                        <a:srgbClr val="456D72"/>
                      </a:solidFill>
                      <a:prstDash val="solid"/>
                      <a:round/>
                      <a:headEnd type="none" w="med" len="med"/>
                      <a:tailEnd type="none" w="med" len="med"/>
                    </a:lnL>
                    <a:lnR w="12700" cap="flat" cmpd="sng" algn="ctr">
                      <a:solidFill>
                        <a:srgbClr val="456D72"/>
                      </a:solidFill>
                      <a:prstDash val="solid"/>
                      <a:round/>
                      <a:headEnd type="none" w="med" len="med"/>
                      <a:tailEnd type="none" w="med" len="med"/>
                    </a:lnR>
                    <a:lnT w="12700" cap="flat" cmpd="sng" algn="ctr">
                      <a:solidFill>
                        <a:srgbClr val="456D72"/>
                      </a:solidFill>
                      <a:prstDash val="solid"/>
                      <a:round/>
                      <a:headEnd type="none" w="med" len="med"/>
                      <a:tailEnd type="none" w="med" len="med"/>
                    </a:lnT>
                    <a:lnB w="12700" cap="flat" cmpd="sng" algn="ctr">
                      <a:solidFill>
                        <a:srgbClr val="456D72"/>
                      </a:solidFill>
                      <a:prstDash val="solid"/>
                      <a:round/>
                      <a:headEnd type="none" w="med" len="med"/>
                      <a:tailEnd type="none" w="med" len="med"/>
                    </a:lnB>
                    <a:solidFill>
                      <a:srgbClr val="174C53"/>
                    </a:solidFill>
                  </a:tcPr>
                </a:tc>
                <a:extLst>
                  <a:ext uri="{0D108BD9-81ED-4DB2-BD59-A6C34878D82A}">
                    <a16:rowId xmlns:a16="http://schemas.microsoft.com/office/drawing/2014/main" val="10003"/>
                  </a:ext>
                </a:extLst>
              </a:tr>
              <a:tr h="639747">
                <a:tc>
                  <a:txBody>
                    <a:bodyPr/>
                    <a:lstStyle/>
                    <a:p>
                      <a:pPr marL="0" indent="0" algn="l">
                        <a:buNone/>
                      </a:pPr>
                      <a:r>
                        <a:rPr lang="en-US" sz="1400" dirty="0">
                          <a:solidFill>
                            <a:srgbClr val="EAF6FA"/>
                          </a:solidFill>
                          <a:latin typeface="Public Sans" pitchFamily="34" charset="0"/>
                          <a:ea typeface="Public Sans" pitchFamily="34" charset="-122"/>
                          <a:cs typeface="Public Sans" pitchFamily="34" charset="-120"/>
                        </a:rPr>
                        <a:t>Core Java (loops, arrays, operators, switch)</a:t>
                      </a:r>
                      <a:endParaRPr lang="en-US" sz="1400" dirty="0">
                        <a:latin typeface="Public Sans" charset="0"/>
                        <a:ea typeface="Public Sans" charset="0"/>
                        <a:cs typeface="Public Sans" charset="0"/>
                      </a:endParaRPr>
                    </a:p>
                  </a:txBody>
                  <a:tcPr marL="133347" marR="133347" marT="71118" marB="71118" anchor="ctr">
                    <a:lnL w="12700" cap="flat" cmpd="sng" algn="ctr">
                      <a:solidFill>
                        <a:srgbClr val="456D72"/>
                      </a:solidFill>
                      <a:prstDash val="solid"/>
                      <a:round/>
                      <a:headEnd type="none" w="med" len="med"/>
                      <a:tailEnd type="none" w="med" len="med"/>
                    </a:lnL>
                    <a:lnR w="12700" cap="flat" cmpd="sng" algn="ctr">
                      <a:solidFill>
                        <a:srgbClr val="456D72"/>
                      </a:solidFill>
                      <a:prstDash val="solid"/>
                      <a:round/>
                      <a:headEnd type="none" w="med" len="med"/>
                      <a:tailEnd type="none" w="med" len="med"/>
                    </a:lnR>
                    <a:lnT w="12700" cap="flat" cmpd="sng" algn="ctr">
                      <a:solidFill>
                        <a:srgbClr val="456D72"/>
                      </a:solidFill>
                      <a:prstDash val="solid"/>
                      <a:round/>
                      <a:headEnd type="none" w="med" len="med"/>
                      <a:tailEnd type="none" w="med" len="med"/>
                    </a:lnT>
                    <a:lnB w="12700" cap="flat" cmpd="sng" algn="ctr">
                      <a:solidFill>
                        <a:srgbClr val="456D72"/>
                      </a:solidFill>
                      <a:prstDash val="solid"/>
                      <a:round/>
                      <a:headEnd type="none" w="med" len="med"/>
                      <a:tailEnd type="none" w="med" len="med"/>
                    </a:lnB>
                    <a:solidFill>
                      <a:srgbClr val="174C53"/>
                    </a:solidFill>
                  </a:tcPr>
                </a:tc>
                <a:tc>
                  <a:txBody>
                    <a:bodyPr/>
                    <a:lstStyle/>
                    <a:p>
                      <a:pPr marL="0" indent="0" algn="l">
                        <a:buNone/>
                      </a:pPr>
                      <a:r>
                        <a:rPr lang="en-US" sz="1400" dirty="0">
                          <a:solidFill>
                            <a:srgbClr val="EAF6FA"/>
                          </a:solidFill>
                          <a:latin typeface="Public Sans" pitchFamily="34" charset="0"/>
                          <a:ea typeface="Public Sans" pitchFamily="34" charset="-122"/>
                          <a:cs typeface="Public Sans" pitchFamily="34" charset="-120"/>
                        </a:rPr>
                        <a:t>Your original program</a:t>
                      </a:r>
                      <a:endParaRPr lang="en-US" sz="1400" dirty="0">
                        <a:latin typeface="Public Sans" charset="0"/>
                        <a:ea typeface="Public Sans" charset="0"/>
                        <a:cs typeface="Public Sans" charset="0"/>
                      </a:endParaRPr>
                    </a:p>
                  </a:txBody>
                  <a:tcPr marL="133347" marR="133347" marT="71118" marB="71118" anchor="ctr">
                    <a:lnL w="12700" cap="flat" cmpd="sng" algn="ctr">
                      <a:solidFill>
                        <a:srgbClr val="456D72"/>
                      </a:solidFill>
                      <a:prstDash val="solid"/>
                      <a:round/>
                      <a:headEnd type="none" w="med" len="med"/>
                      <a:tailEnd type="none" w="med" len="med"/>
                    </a:lnL>
                    <a:lnR w="12700" cap="flat" cmpd="sng" algn="ctr">
                      <a:solidFill>
                        <a:srgbClr val="456D72"/>
                      </a:solidFill>
                      <a:prstDash val="solid"/>
                      <a:round/>
                      <a:headEnd type="none" w="med" len="med"/>
                      <a:tailEnd type="none" w="med" len="med"/>
                    </a:lnR>
                    <a:lnT w="12700" cap="flat" cmpd="sng" algn="ctr">
                      <a:solidFill>
                        <a:srgbClr val="456D72"/>
                      </a:solidFill>
                      <a:prstDash val="solid"/>
                      <a:round/>
                      <a:headEnd type="none" w="med" len="med"/>
                      <a:tailEnd type="none" w="med" len="med"/>
                    </a:lnT>
                    <a:lnB w="12700" cap="flat" cmpd="sng" algn="ctr">
                      <a:solidFill>
                        <a:srgbClr val="456D72"/>
                      </a:solidFill>
                      <a:prstDash val="solid"/>
                      <a:round/>
                      <a:headEnd type="none" w="med" len="med"/>
                      <a:tailEnd type="none" w="med" len="med"/>
                    </a:lnB>
                    <a:solidFill>
                      <a:srgbClr val="174C53"/>
                    </a:solidFill>
                  </a:tcPr>
                </a:tc>
                <a:tc>
                  <a:txBody>
                    <a:bodyPr/>
                    <a:lstStyle/>
                    <a:p>
                      <a:pPr marL="0" indent="0" algn="l">
                        <a:buNone/>
                      </a:pPr>
                      <a:r>
                        <a:rPr lang="en-US" sz="1400" dirty="0">
                          <a:solidFill>
                            <a:srgbClr val="EAF6FA"/>
                          </a:solidFill>
                          <a:latin typeface="Public Sans" pitchFamily="34" charset="0"/>
                          <a:ea typeface="Public Sans" pitchFamily="34" charset="-122"/>
                          <a:cs typeface="Public Sans" pitchFamily="34" charset="-120"/>
                        </a:rPr>
                        <a:t>Input, calculation, grading</a:t>
                      </a:r>
                      <a:endParaRPr lang="en-US" sz="1400" dirty="0">
                        <a:latin typeface="Public Sans" charset="0"/>
                        <a:ea typeface="Public Sans" charset="0"/>
                        <a:cs typeface="Public Sans" charset="0"/>
                      </a:endParaRPr>
                    </a:p>
                  </a:txBody>
                  <a:tcPr marL="133347" marR="133347" marT="71118" marB="71118" anchor="ctr">
                    <a:lnL w="12700" cap="flat" cmpd="sng" algn="ctr">
                      <a:solidFill>
                        <a:srgbClr val="456D72"/>
                      </a:solidFill>
                      <a:prstDash val="solid"/>
                      <a:round/>
                      <a:headEnd type="none" w="med" len="med"/>
                      <a:tailEnd type="none" w="med" len="med"/>
                    </a:lnL>
                    <a:lnR w="12700" cap="flat" cmpd="sng" algn="ctr">
                      <a:solidFill>
                        <a:srgbClr val="456D72"/>
                      </a:solidFill>
                      <a:prstDash val="solid"/>
                      <a:round/>
                      <a:headEnd type="none" w="med" len="med"/>
                      <a:tailEnd type="none" w="med" len="med"/>
                    </a:lnR>
                    <a:lnT w="12700" cap="flat" cmpd="sng" algn="ctr">
                      <a:solidFill>
                        <a:srgbClr val="456D72"/>
                      </a:solidFill>
                      <a:prstDash val="solid"/>
                      <a:round/>
                      <a:headEnd type="none" w="med" len="med"/>
                      <a:tailEnd type="none" w="med" len="med"/>
                    </a:lnT>
                    <a:lnB w="12700" cap="flat" cmpd="sng" algn="ctr">
                      <a:solidFill>
                        <a:srgbClr val="456D72"/>
                      </a:solidFill>
                      <a:prstDash val="solid"/>
                      <a:round/>
                      <a:headEnd type="none" w="med" len="med"/>
                      <a:tailEnd type="none" w="med" len="med"/>
                    </a:lnB>
                    <a:solidFill>
                      <a:srgbClr val="174C53"/>
                    </a:solidFill>
                  </a:tcPr>
                </a:tc>
                <a:tc>
                  <a:txBody>
                    <a:bodyPr/>
                    <a:lstStyle/>
                    <a:p>
                      <a:pPr marL="0" indent="0" algn="l">
                        <a:buNone/>
                      </a:pPr>
                      <a:r>
                        <a:rPr lang="en-US" sz="1400" i="1" dirty="0">
                          <a:solidFill>
                            <a:srgbClr val="EAF6FA"/>
                          </a:solidFill>
                          <a:latin typeface="Public Sans" pitchFamily="34" charset="0"/>
                          <a:ea typeface="Public Sans" pitchFamily="34" charset="-122"/>
                          <a:cs typeface="Public Sans" pitchFamily="34" charset="-120"/>
                        </a:rPr>
                        <a:t>CO1,CO2,CO3</a:t>
                      </a:r>
                      <a:endParaRPr lang="en-US" sz="1400" dirty="0">
                        <a:latin typeface="Public Sans" charset="0"/>
                        <a:ea typeface="Public Sans" charset="0"/>
                        <a:cs typeface="Public Sans" charset="0"/>
                      </a:endParaRPr>
                    </a:p>
                  </a:txBody>
                  <a:tcPr marL="133347" marR="133347" marT="71118" marB="71118" anchor="ctr">
                    <a:lnL w="12700" cap="flat" cmpd="sng" algn="ctr">
                      <a:solidFill>
                        <a:srgbClr val="456D72"/>
                      </a:solidFill>
                      <a:prstDash val="solid"/>
                      <a:round/>
                      <a:headEnd type="none" w="med" len="med"/>
                      <a:tailEnd type="none" w="med" len="med"/>
                    </a:lnL>
                    <a:lnR w="12700" cap="flat" cmpd="sng" algn="ctr">
                      <a:solidFill>
                        <a:srgbClr val="456D72"/>
                      </a:solidFill>
                      <a:prstDash val="solid"/>
                      <a:round/>
                      <a:headEnd type="none" w="med" len="med"/>
                      <a:tailEnd type="none" w="med" len="med"/>
                    </a:lnR>
                    <a:lnT w="12700" cap="flat" cmpd="sng" algn="ctr">
                      <a:solidFill>
                        <a:srgbClr val="456D72"/>
                      </a:solidFill>
                      <a:prstDash val="solid"/>
                      <a:round/>
                      <a:headEnd type="none" w="med" len="med"/>
                      <a:tailEnd type="none" w="med" len="med"/>
                    </a:lnT>
                    <a:lnB w="12700" cap="flat" cmpd="sng" algn="ctr">
                      <a:solidFill>
                        <a:srgbClr val="456D72"/>
                      </a:solidFill>
                      <a:prstDash val="solid"/>
                      <a:round/>
                      <a:headEnd type="none" w="med" len="med"/>
                      <a:tailEnd type="none" w="med" len="med"/>
                    </a:lnB>
                    <a:solidFill>
                      <a:srgbClr val="174C53"/>
                    </a:solidFill>
                  </a:tcPr>
                </a:tc>
                <a:extLst>
                  <a:ext uri="{0D108BD9-81ED-4DB2-BD59-A6C34878D82A}">
                    <a16:rowId xmlns:a16="http://schemas.microsoft.com/office/drawing/2014/main" val="10004"/>
                  </a:ext>
                </a:extLst>
              </a:tr>
            </a:tbl>
          </a:graphicData>
        </a:graphic>
      </p:graphicFrame>
      <p:sp>
        <p:nvSpPr>
          <p:cNvPr id="5" name="Shape 2"/>
          <p:cNvSpPr/>
          <p:nvPr/>
        </p:nvSpPr>
        <p:spPr>
          <a:xfrm>
            <a:off x="609585" y="4082355"/>
            <a:ext cx="10972526" cy="693341"/>
          </a:xfrm>
          <a:prstGeom prst="roundRect">
            <a:avLst>
              <a:gd name="adj" fmla="val 1648"/>
            </a:avLst>
          </a:prstGeom>
          <a:solidFill>
            <a:srgbClr val="183A13"/>
          </a:solidFill>
          <a:ln/>
        </p:spPr>
      </p:sp>
      <p:sp>
        <p:nvSpPr>
          <p:cNvPr id="6" name="Text 3"/>
          <p:cNvSpPr/>
          <p:nvPr/>
        </p:nvSpPr>
        <p:spPr>
          <a:xfrm>
            <a:off x="787380" y="4309051"/>
            <a:ext cx="11226519" cy="248841"/>
          </a:xfrm>
          <a:prstGeom prst="rect">
            <a:avLst/>
          </a:prstGeom>
          <a:noFill/>
          <a:ln/>
        </p:spPr>
        <p:txBody>
          <a:bodyPr wrap="none" lIns="0" tIns="0" rIns="0" bIns="0" rtlCol="0" anchor="t"/>
          <a:lstStyle/>
          <a:p>
            <a:pPr marL="0" indent="0" algn="l">
              <a:lnSpc>
                <a:spcPct val="117000"/>
              </a:lnSpc>
              <a:buNone/>
            </a:pPr>
            <a:r>
              <a:rPr lang="en-US" sz="1400" b="1" dirty="0">
                <a:solidFill>
                  <a:srgbClr val="FFFFFF"/>
                </a:solidFill>
                <a:latin typeface="Public Sans Bold" pitchFamily="34" charset="0"/>
                <a:ea typeface="Public Sans Bold" pitchFamily="34" charset="-122"/>
                <a:cs typeface="Public Sans Bold" pitchFamily="34" charset="-120"/>
              </a:rPr>
              <a:t>Result:</a:t>
            </a:r>
            <a:r>
              <a:rPr lang="en-US" sz="1400" dirty="0">
                <a:solidFill>
                  <a:srgbClr val="FFFFFF"/>
                </a:solidFill>
                <a:latin typeface="Public Sans" pitchFamily="34" charset="0"/>
                <a:ea typeface="Public Sans" pitchFamily="34" charset="-122"/>
                <a:cs typeface="Public Sans" pitchFamily="34" charset="-120"/>
              </a:rPr>
              <a:t> one program that combines basic Java with the final keyword, the Collection Framework and StringBuffer.</a:t>
            </a:r>
            <a:endParaRPr lang="en-US" sz="1400" dirty="0"/>
          </a:p>
        </p:txBody>
      </p:sp>
      <p:sp>
        <p:nvSpPr>
          <p:cNvPr id="7" name="Text 4"/>
          <p:cNvSpPr/>
          <p:nvPr/>
        </p:nvSpPr>
        <p:spPr>
          <a:xfrm>
            <a:off x="177895" y="6466086"/>
            <a:ext cx="2161030" cy="174129"/>
          </a:xfrm>
          <a:prstGeom prst="rect">
            <a:avLst/>
          </a:prstGeom>
          <a:noFill/>
          <a:ln/>
        </p:spPr>
        <p:txBody>
          <a:bodyPr wrap="none" lIns="0" tIns="0" rIns="0" bIns="0" rtlCol="0" anchor="ctr"/>
          <a:lstStyle/>
          <a:p>
            <a:pPr marL="0" indent="0" algn="l">
              <a:lnSpc>
                <a:spcPct val="117000"/>
              </a:lnSpc>
              <a:buNone/>
            </a:pPr>
            <a:r>
              <a:rPr lang="en-US" sz="1000" dirty="0">
                <a:solidFill>
                  <a:srgbClr val="EAF6FA"/>
                </a:solidFill>
                <a:latin typeface="Public Sans" pitchFamily="34" charset="0"/>
                <a:ea typeface="Public Sans" pitchFamily="34" charset="-122"/>
                <a:cs typeface="Public Sans" pitchFamily="34" charset="-120"/>
              </a:rPr>
              <a:t>JAVA • ACADEMIC SYSTEM</a:t>
            </a:r>
            <a:endParaRPr lang="en-US" sz="1000" dirty="0"/>
          </a:p>
        </p:txBody>
      </p:sp>
      <p:sp>
        <p:nvSpPr>
          <p:cNvPr id="8" name="Text 5"/>
          <p:cNvSpPr/>
          <p:nvPr/>
        </p:nvSpPr>
        <p:spPr>
          <a:xfrm>
            <a:off x="11933336" y="6466086"/>
            <a:ext cx="258359" cy="174129"/>
          </a:xfrm>
          <a:prstGeom prst="rect">
            <a:avLst/>
          </a:prstGeom>
          <a:noFill/>
          <a:ln/>
        </p:spPr>
        <p:txBody>
          <a:bodyPr wrap="none" lIns="0" tIns="0" rIns="0" bIns="0" rtlCol="0" anchor="ctr"/>
          <a:lstStyle/>
          <a:p>
            <a:pPr marL="0" indent="0" algn="l">
              <a:lnSpc>
                <a:spcPct val="117000"/>
              </a:lnSpc>
              <a:buNone/>
            </a:pPr>
            <a:r>
              <a:rPr lang="en-US" sz="1000" dirty="0">
                <a:solidFill>
                  <a:srgbClr val="EAF6FA"/>
                </a:solidFill>
                <a:latin typeface="Public Sans" pitchFamily="34" charset="0"/>
                <a:ea typeface="Public Sans" pitchFamily="34" charset="-122"/>
                <a:cs typeface="Public Sans"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09585" y="610553"/>
            <a:ext cx="11582110"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A9DDF0"/>
                </a:solidFill>
                <a:latin typeface="Public Sans" pitchFamily="34" charset="0"/>
                <a:ea typeface="Public Sans" pitchFamily="34" charset="-122"/>
                <a:cs typeface="Public Sans" pitchFamily="34" charset="-120"/>
              </a:rPr>
              <a:t>09 / PROGRAM LOGIC</a:t>
            </a:r>
            <a:endParaRPr lang="en-US" sz="1050" dirty="0"/>
          </a:p>
        </p:txBody>
      </p:sp>
      <p:sp>
        <p:nvSpPr>
          <p:cNvPr id="3" name="Text 1"/>
          <p:cNvSpPr/>
          <p:nvPr/>
        </p:nvSpPr>
        <p:spPr>
          <a:xfrm>
            <a:off x="609585" y="934343"/>
            <a:ext cx="10972526" cy="635000"/>
          </a:xfrm>
          <a:prstGeom prst="rect">
            <a:avLst/>
          </a:prstGeom>
          <a:noFill/>
          <a:ln/>
        </p:spPr>
        <p:txBody>
          <a:bodyPr wrap="none" lIns="0" tIns="0" rIns="0" bIns="0" rtlCol="0" anchor="t"/>
          <a:lstStyle/>
          <a:p>
            <a:pPr marL="0" indent="0" algn="l">
              <a:lnSpc>
                <a:spcPct val="83000"/>
              </a:lnSpc>
              <a:buNone/>
            </a:pPr>
            <a:r>
              <a:rPr lang="en-US" sz="5000" dirty="0">
                <a:solidFill>
                  <a:srgbClr val="EAF6FA"/>
                </a:solidFill>
                <a:latin typeface="Saira Semi Condensed" pitchFamily="34" charset="0"/>
                <a:ea typeface="Saira Semi Condensed" pitchFamily="34" charset="-122"/>
                <a:cs typeface="Saira Semi Condensed" pitchFamily="34" charset="-120"/>
              </a:rPr>
              <a:t>Program Overview and Implementation</a:t>
            </a:r>
            <a:endParaRPr lang="en-US" sz="5000" dirty="0"/>
          </a:p>
        </p:txBody>
      </p:sp>
      <p:sp>
        <p:nvSpPr>
          <p:cNvPr id="4" name="Text 2"/>
          <p:cNvSpPr/>
          <p:nvPr/>
        </p:nvSpPr>
        <p:spPr>
          <a:xfrm>
            <a:off x="609585" y="1910655"/>
            <a:ext cx="5333867" cy="1964134"/>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EAF6FA"/>
                </a:solidFill>
                <a:latin typeface="Public Sans" pitchFamily="34" charset="0"/>
                <a:ea typeface="Public Sans" pitchFamily="34" charset="-122"/>
                <a:cs typeface="Public Sans" pitchFamily="34" charset="-120"/>
              </a:rPr>
              <a:t>Takes student details: name, department, university ID</a:t>
            </a:r>
            <a:endParaRPr lang="en-US" sz="1400" dirty="0"/>
          </a:p>
          <a:p>
            <a:pPr marL="284480" indent="-284480" algn="l">
              <a:lnSpc>
                <a:spcPct val="117000"/>
              </a:lnSpc>
              <a:buSzPct val="100000"/>
              <a:buChar char="•"/>
            </a:pPr>
            <a:r>
              <a:rPr lang="en-US" sz="1400" dirty="0">
                <a:solidFill>
                  <a:srgbClr val="EAF6FA"/>
                </a:solidFill>
                <a:latin typeface="Public Sans" pitchFamily="34" charset="0"/>
                <a:ea typeface="Public Sans" pitchFamily="34" charset="-122"/>
                <a:cs typeface="Public Sans" pitchFamily="34" charset="-120"/>
              </a:rPr>
              <a:t>Reads grades and attendance for every subject</a:t>
            </a:r>
            <a:endParaRPr lang="en-US" sz="1400" dirty="0"/>
          </a:p>
          <a:p>
            <a:pPr marL="284480" indent="-284480" algn="l">
              <a:lnSpc>
                <a:spcPct val="117000"/>
              </a:lnSpc>
              <a:buSzPct val="100000"/>
              <a:buChar char="•"/>
            </a:pPr>
            <a:r>
              <a:rPr lang="en-US" sz="1400" dirty="0">
                <a:solidFill>
                  <a:srgbClr val="EAF6FA"/>
                </a:solidFill>
                <a:latin typeface="Public Sans" pitchFamily="34" charset="0"/>
                <a:ea typeface="Public Sans" pitchFamily="34" charset="-122"/>
                <a:cs typeface="Public Sans" pitchFamily="34" charset="-120"/>
              </a:rPr>
              <a:t>Calculates average grade and overall attendance %</a:t>
            </a:r>
            <a:endParaRPr lang="en-US" sz="1400" dirty="0"/>
          </a:p>
          <a:p>
            <a:pPr marL="284480" indent="-284480" algn="l">
              <a:lnSpc>
                <a:spcPct val="117000"/>
              </a:lnSpc>
              <a:buSzPct val="100000"/>
              <a:buChar char="•"/>
            </a:pPr>
            <a:r>
              <a:rPr lang="en-US" sz="1400" dirty="0">
                <a:solidFill>
                  <a:srgbClr val="EAF6FA"/>
                </a:solidFill>
                <a:latin typeface="Public Sans" pitchFamily="34" charset="0"/>
                <a:ea typeface="Public Sans" pitchFamily="34" charset="-122"/>
                <a:cs typeface="Public Sans" pitchFamily="34" charset="-120"/>
              </a:rPr>
              <a:t>Assigns a letter grade (A to F)</a:t>
            </a:r>
            <a:endParaRPr lang="en-US" sz="1400" dirty="0"/>
          </a:p>
          <a:p>
            <a:pPr marL="284480" indent="-284480" algn="l">
              <a:lnSpc>
                <a:spcPct val="117000"/>
              </a:lnSpc>
              <a:buSzPct val="100000"/>
              <a:buChar char="•"/>
            </a:pPr>
            <a:r>
              <a:rPr lang="en-US" sz="1400" dirty="0">
                <a:solidFill>
                  <a:srgbClr val="EAF6FA"/>
                </a:solidFill>
                <a:latin typeface="Public Sans" pitchFamily="34" charset="0"/>
                <a:ea typeface="Public Sans" pitchFamily="34" charset="-122"/>
                <a:cs typeface="Public Sans" pitchFamily="34" charset="-120"/>
              </a:rPr>
              <a:t>Checks eligibility for final exams (attendance &gt;= 75% and average &gt;= 60%)</a:t>
            </a:r>
            <a:endParaRPr lang="en-US" sz="1400" dirty="0"/>
          </a:p>
          <a:p>
            <a:pPr marL="284480" indent="-284480" algn="l">
              <a:lnSpc>
                <a:spcPct val="117000"/>
              </a:lnSpc>
              <a:buSzPct val="100000"/>
              <a:buChar char="•"/>
            </a:pPr>
            <a:r>
              <a:rPr lang="en-US" sz="1400" dirty="0">
                <a:solidFill>
                  <a:srgbClr val="EAF6FA"/>
                </a:solidFill>
                <a:latin typeface="Public Sans" pitchFamily="34" charset="0"/>
                <a:ea typeface="Public Sans" pitchFamily="34" charset="-122"/>
                <a:cs typeface="Public Sans" pitchFamily="34" charset="-120"/>
              </a:rPr>
              <a:t>Prints a formatted academic report</a:t>
            </a:r>
            <a:endParaRPr lang="en-US" sz="1400" dirty="0"/>
          </a:p>
        </p:txBody>
      </p:sp>
      <p:sp>
        <p:nvSpPr>
          <p:cNvPr id="5" name="Shape 3"/>
          <p:cNvSpPr/>
          <p:nvPr/>
        </p:nvSpPr>
        <p:spPr>
          <a:xfrm>
            <a:off x="6248244" y="1682055"/>
            <a:ext cx="5333867" cy="4630142"/>
          </a:xfrm>
          <a:prstGeom prst="rect">
            <a:avLst/>
          </a:prstGeom>
          <a:solidFill>
            <a:srgbClr val="0A3F46"/>
          </a:solidFill>
          <a:ln/>
        </p:spPr>
      </p:sp>
      <p:sp>
        <p:nvSpPr>
          <p:cNvPr id="6" name="Text 4"/>
          <p:cNvSpPr/>
          <p:nvPr/>
        </p:nvSpPr>
        <p:spPr>
          <a:xfrm>
            <a:off x="6527637" y="1962408"/>
            <a:ext cx="5054474"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FFFFFF"/>
                </a:solidFill>
                <a:latin typeface="Public Sans" pitchFamily="34" charset="0"/>
                <a:ea typeface="Public Sans" pitchFamily="34" charset="-122"/>
                <a:cs typeface="Public Sans" pitchFamily="34" charset="-120"/>
              </a:rPr>
              <a:t>OUTPUT PREVIEW</a:t>
            </a:r>
            <a:endParaRPr lang="en-US" sz="1050" dirty="0"/>
          </a:p>
        </p:txBody>
      </p:sp>
      <p:sp>
        <p:nvSpPr>
          <p:cNvPr id="7" name="Shape 5"/>
          <p:cNvSpPr/>
          <p:nvPr/>
        </p:nvSpPr>
        <p:spPr>
          <a:xfrm>
            <a:off x="6527637" y="2348111"/>
            <a:ext cx="4775081" cy="3484662"/>
          </a:xfrm>
          <a:prstGeom prst="roundRect">
            <a:avLst>
              <a:gd name="adj" fmla="val 328"/>
            </a:avLst>
          </a:prstGeom>
          <a:solidFill>
            <a:srgbClr val="174C53"/>
          </a:solidFill>
          <a:ln/>
        </p:spPr>
      </p:sp>
      <p:sp>
        <p:nvSpPr>
          <p:cNvPr id="8" name="Text 6"/>
          <p:cNvSpPr/>
          <p:nvPr/>
        </p:nvSpPr>
        <p:spPr>
          <a:xfrm>
            <a:off x="6740952" y="2526228"/>
            <a:ext cx="4348451" cy="3129062"/>
          </a:xfrm>
          <a:prstGeom prst="rect">
            <a:avLst/>
          </a:prstGeom>
          <a:noFill/>
          <a:ln/>
        </p:spPr>
        <p:txBody>
          <a:bodyPr wrap="square" lIns="0" tIns="0" rIns="0" bIns="0" rtlCol="0" anchor="t">
            <a:normAutofit/>
          </a:bodyPr>
          <a:lstStyle/>
          <a:p>
            <a:pPr marL="0" indent="0" algn="l">
              <a:lnSpc>
                <a:spcPct val="133000"/>
              </a:lnSpc>
              <a:buNone/>
            </a:pPr>
            <a:r>
              <a:rPr lang="en-US" sz="1400" dirty="0">
                <a:solidFill>
                  <a:srgbClr val="E6EDF3"/>
                </a:solidFill>
                <a:latin typeface="Consolas" pitchFamily="34" charset="0"/>
                <a:ea typeface="Consolas" pitchFamily="34" charset="-122"/>
                <a:cs typeface="Consolas" pitchFamily="34" charset="-120"/>
              </a:rPr>
              <a:t>=================================</a:t>
            </a:r>
            <a:endParaRPr lang="en-US" sz="1400" dirty="0"/>
          </a:p>
          <a:p>
            <a:pPr marL="0" indent="0" algn="l">
              <a:lnSpc>
                <a:spcPct val="133000"/>
              </a:lnSpc>
              <a:buNone/>
            </a:pPr>
            <a:r>
              <a:rPr lang="en-US" sz="1400" dirty="0">
                <a:solidFill>
                  <a:srgbClr val="E6EDF3"/>
                </a:solidFill>
                <a:latin typeface="Consolas" pitchFamily="34" charset="0"/>
                <a:ea typeface="Consolas" pitchFamily="34" charset="-122"/>
                <a:cs typeface="Consolas" pitchFamily="34" charset="-120"/>
              </a:rPr>
              <a:t>        ACADEMIC REPORT</a:t>
            </a:r>
            <a:endParaRPr lang="en-US" sz="1400" dirty="0"/>
          </a:p>
          <a:p>
            <a:pPr marL="0" indent="0" algn="l">
              <a:lnSpc>
                <a:spcPct val="133000"/>
              </a:lnSpc>
              <a:buNone/>
            </a:pPr>
            <a:r>
              <a:rPr lang="en-US" sz="1400" dirty="0">
                <a:solidFill>
                  <a:srgbClr val="E6EDF3"/>
                </a:solidFill>
                <a:latin typeface="Consolas" pitchFamily="34" charset="0"/>
                <a:ea typeface="Consolas" pitchFamily="34" charset="-122"/>
                <a:cs typeface="Consolas" pitchFamily="34" charset="-120"/>
              </a:rPr>
              <a:t>=================================</a:t>
            </a:r>
            <a:endParaRPr lang="en-US" sz="1400" dirty="0"/>
          </a:p>
          <a:p>
            <a:pPr marL="0" indent="0" algn="l">
              <a:lnSpc>
                <a:spcPct val="133000"/>
              </a:lnSpc>
              <a:buNone/>
            </a:pPr>
            <a:r>
              <a:rPr lang="en-US" sz="1400" dirty="0">
                <a:solidFill>
                  <a:srgbClr val="E6EDF3"/>
                </a:solidFill>
                <a:latin typeface="Consolas" pitchFamily="34" charset="0"/>
                <a:ea typeface="Consolas" pitchFamily="34" charset="-122"/>
                <a:cs typeface="Consolas" pitchFamily="34" charset="-120"/>
              </a:rPr>
              <a:t>Student Name : ...</a:t>
            </a:r>
            <a:endParaRPr lang="en-US" sz="1400" dirty="0"/>
          </a:p>
          <a:p>
            <a:pPr marL="0" indent="0" algn="l">
              <a:lnSpc>
                <a:spcPct val="133000"/>
              </a:lnSpc>
              <a:buNone/>
            </a:pPr>
            <a:r>
              <a:rPr lang="en-US" sz="1400" dirty="0">
                <a:solidFill>
                  <a:srgbClr val="E6EDF3"/>
                </a:solidFill>
                <a:latin typeface="Consolas" pitchFamily="34" charset="0"/>
                <a:ea typeface="Consolas" pitchFamily="34" charset="-122"/>
                <a:cs typeface="Consolas" pitchFamily="34" charset="-120"/>
              </a:rPr>
              <a:t>Department   : ...</a:t>
            </a:r>
            <a:endParaRPr lang="en-US" sz="1400" dirty="0"/>
          </a:p>
          <a:p>
            <a:pPr marL="0" indent="0" algn="l">
              <a:lnSpc>
                <a:spcPct val="133000"/>
              </a:lnSpc>
              <a:buNone/>
            </a:pPr>
            <a:r>
              <a:rPr lang="en-US" sz="1400" dirty="0">
                <a:solidFill>
                  <a:srgbClr val="E6EDF3"/>
                </a:solidFill>
                <a:latin typeface="Consolas" pitchFamily="34" charset="0"/>
                <a:ea typeface="Consolas" pitchFamily="34" charset="-122"/>
                <a:cs typeface="Consolas" pitchFamily="34" charset="-120"/>
              </a:rPr>
              <a:t>SUBJECT-WISE DETAILS:</a:t>
            </a:r>
            <a:endParaRPr lang="en-US" sz="1400" dirty="0"/>
          </a:p>
          <a:p>
            <a:pPr marL="0" indent="0" algn="l">
              <a:lnSpc>
                <a:spcPct val="133000"/>
              </a:lnSpc>
              <a:buNone/>
            </a:pPr>
            <a:r>
              <a:rPr lang="en-US" sz="1400" dirty="0">
                <a:solidFill>
                  <a:srgbClr val="E6EDF3"/>
                </a:solidFill>
                <a:latin typeface="Consolas" pitchFamily="34" charset="0"/>
                <a:ea typeface="Consolas" pitchFamily="34" charset="-122"/>
                <a:cs typeface="Consolas" pitchFamily="34" charset="-120"/>
              </a:rPr>
              <a:t>1. Java -&gt; Grade: 85.0% ...</a:t>
            </a:r>
            <a:endParaRPr lang="en-US" sz="1400" dirty="0"/>
          </a:p>
          <a:p>
            <a:pPr marL="0" indent="0" algn="l">
              <a:lnSpc>
                <a:spcPct val="133000"/>
              </a:lnSpc>
              <a:buNone/>
            </a:pPr>
            <a:r>
              <a:rPr lang="en-US" sz="1400" dirty="0">
                <a:solidFill>
                  <a:srgbClr val="E6EDF3"/>
                </a:solidFill>
                <a:latin typeface="Consolas" pitchFamily="34" charset="0"/>
                <a:ea typeface="Consolas" pitchFamily="34" charset="-122"/>
                <a:cs typeface="Consolas" pitchFamily="34" charset="-120"/>
              </a:rPr>
              <a:t>Average Grade: 82.50%</a:t>
            </a:r>
            <a:endParaRPr lang="en-US" sz="1400" dirty="0"/>
          </a:p>
          <a:p>
            <a:pPr marL="0" indent="0" algn="l">
              <a:lnSpc>
                <a:spcPct val="133000"/>
              </a:lnSpc>
              <a:buNone/>
            </a:pPr>
            <a:r>
              <a:rPr lang="en-US" sz="1400" dirty="0">
                <a:solidFill>
                  <a:srgbClr val="E6EDF3"/>
                </a:solidFill>
                <a:latin typeface="Consolas" pitchFamily="34" charset="0"/>
                <a:ea typeface="Consolas" pitchFamily="34" charset="-122"/>
                <a:cs typeface="Consolas" pitchFamily="34" charset="-120"/>
              </a:rPr>
              <a:t>Letter Grade : B (Good)</a:t>
            </a:r>
            <a:endParaRPr lang="en-US" sz="1400" dirty="0"/>
          </a:p>
          <a:p>
            <a:pPr marL="0" indent="0" algn="l">
              <a:lnSpc>
                <a:spcPct val="133000"/>
              </a:lnSpc>
              <a:buNone/>
            </a:pPr>
            <a:r>
              <a:rPr lang="en-US" sz="1400" dirty="0">
                <a:solidFill>
                  <a:srgbClr val="E6EDF3"/>
                </a:solidFill>
                <a:latin typeface="Consolas" pitchFamily="34" charset="0"/>
                <a:ea typeface="Consolas" pitchFamily="34" charset="-122"/>
                <a:cs typeface="Consolas" pitchFamily="34" charset="-120"/>
              </a:rPr>
              <a:t>Attendance   : 80.00%</a:t>
            </a:r>
            <a:endParaRPr lang="en-US" sz="1400" dirty="0"/>
          </a:p>
          <a:p>
            <a:pPr marL="0" indent="0" algn="l">
              <a:lnSpc>
                <a:spcPct val="133000"/>
              </a:lnSpc>
              <a:buNone/>
            </a:pPr>
            <a:r>
              <a:rPr lang="en-US" sz="1400" dirty="0">
                <a:solidFill>
                  <a:srgbClr val="E6EDF3"/>
                </a:solidFill>
                <a:latin typeface="Consolas" pitchFamily="34" charset="0"/>
                <a:ea typeface="Consolas" pitchFamily="34" charset="-122"/>
                <a:cs typeface="Consolas" pitchFamily="34" charset="-120"/>
              </a:rPr>
              <a:t>STATUS: Eligible for Final Exams</a:t>
            </a:r>
            <a:endParaRPr lang="en-US" sz="1400" dirty="0"/>
          </a:p>
        </p:txBody>
      </p:sp>
      <p:sp>
        <p:nvSpPr>
          <p:cNvPr id="9" name="Text 7"/>
          <p:cNvSpPr/>
          <p:nvPr/>
        </p:nvSpPr>
        <p:spPr>
          <a:xfrm>
            <a:off x="177895" y="6466086"/>
            <a:ext cx="2161030" cy="174129"/>
          </a:xfrm>
          <a:prstGeom prst="rect">
            <a:avLst/>
          </a:prstGeom>
          <a:noFill/>
          <a:ln/>
        </p:spPr>
        <p:txBody>
          <a:bodyPr wrap="none" lIns="0" tIns="0" rIns="0" bIns="0" rtlCol="0" anchor="ctr"/>
          <a:lstStyle/>
          <a:p>
            <a:pPr marL="0" indent="0" algn="l">
              <a:lnSpc>
                <a:spcPct val="117000"/>
              </a:lnSpc>
              <a:buNone/>
            </a:pPr>
            <a:r>
              <a:rPr lang="en-US" sz="1000" dirty="0">
                <a:solidFill>
                  <a:srgbClr val="EAF6FA"/>
                </a:solidFill>
                <a:latin typeface="Public Sans" pitchFamily="34" charset="0"/>
                <a:ea typeface="Public Sans" pitchFamily="34" charset="-122"/>
                <a:cs typeface="Public Sans" pitchFamily="34" charset="-120"/>
              </a:rPr>
              <a:t>JAVA • ACADEMIC SYSTEM</a:t>
            </a:r>
            <a:endParaRPr lang="en-US" sz="1000" dirty="0"/>
          </a:p>
        </p:txBody>
      </p:sp>
      <p:sp>
        <p:nvSpPr>
          <p:cNvPr id="10" name="Text 8"/>
          <p:cNvSpPr/>
          <p:nvPr/>
        </p:nvSpPr>
        <p:spPr>
          <a:xfrm>
            <a:off x="11936114" y="6466086"/>
            <a:ext cx="255581" cy="174129"/>
          </a:xfrm>
          <a:prstGeom prst="rect">
            <a:avLst/>
          </a:prstGeom>
          <a:noFill/>
          <a:ln/>
        </p:spPr>
        <p:txBody>
          <a:bodyPr wrap="none" lIns="0" tIns="0" rIns="0" bIns="0" rtlCol="0" anchor="ctr"/>
          <a:lstStyle/>
          <a:p>
            <a:pPr marL="0" indent="0" algn="l">
              <a:lnSpc>
                <a:spcPct val="117000"/>
              </a:lnSpc>
              <a:buNone/>
            </a:pPr>
            <a:r>
              <a:rPr lang="en-US" sz="1000" dirty="0">
                <a:solidFill>
                  <a:srgbClr val="EAF6FA"/>
                </a:solidFill>
                <a:latin typeface="Public Sans" pitchFamily="34" charset="0"/>
                <a:ea typeface="Public Sans" pitchFamily="34" charset="-122"/>
                <a:cs typeface="Public Sans"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09585" y="610553"/>
            <a:ext cx="11582110"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A9DDF0"/>
                </a:solidFill>
                <a:latin typeface="Public Sans" pitchFamily="34" charset="0"/>
                <a:ea typeface="Public Sans" pitchFamily="34" charset="-122"/>
                <a:cs typeface="Public Sans" pitchFamily="34" charset="-120"/>
              </a:rPr>
              <a:t>10 / IMPLEMENTATION FLOW</a:t>
            </a:r>
            <a:endParaRPr lang="en-US" sz="1050" dirty="0"/>
          </a:p>
        </p:txBody>
      </p:sp>
      <p:sp>
        <p:nvSpPr>
          <p:cNvPr id="3" name="Text 1"/>
          <p:cNvSpPr/>
          <p:nvPr/>
        </p:nvSpPr>
        <p:spPr>
          <a:xfrm>
            <a:off x="609585" y="934343"/>
            <a:ext cx="10972526" cy="635000"/>
          </a:xfrm>
          <a:prstGeom prst="rect">
            <a:avLst/>
          </a:prstGeom>
          <a:noFill/>
          <a:ln/>
        </p:spPr>
        <p:txBody>
          <a:bodyPr wrap="none" lIns="0" tIns="0" rIns="0" bIns="0" rtlCol="0" anchor="t"/>
          <a:lstStyle/>
          <a:p>
            <a:pPr marL="0" indent="0" algn="l">
              <a:lnSpc>
                <a:spcPct val="83000"/>
              </a:lnSpc>
              <a:buNone/>
            </a:pPr>
            <a:r>
              <a:rPr lang="en-US" sz="5000" dirty="0">
                <a:solidFill>
                  <a:srgbClr val="EAF6FA"/>
                </a:solidFill>
                <a:latin typeface="Saira Semi Condensed" pitchFamily="34" charset="0"/>
                <a:ea typeface="Saira Semi Condensed" pitchFamily="34" charset="-122"/>
                <a:cs typeface="Saira Semi Condensed" pitchFamily="34" charset="-120"/>
              </a:rPr>
              <a:t>How the Code Was Created: 6 Steps</a:t>
            </a:r>
            <a:endParaRPr lang="en-US" sz="5000" dirty="0"/>
          </a:p>
        </p:txBody>
      </p:sp>
      <p:sp>
        <p:nvSpPr>
          <p:cNvPr id="4" name="Shape 2"/>
          <p:cNvSpPr/>
          <p:nvPr/>
        </p:nvSpPr>
        <p:spPr>
          <a:xfrm>
            <a:off x="609585" y="1682055"/>
            <a:ext cx="3505112" cy="1653679"/>
          </a:xfrm>
          <a:prstGeom prst="roundRect">
            <a:avLst>
              <a:gd name="adj" fmla="val 691"/>
            </a:avLst>
          </a:prstGeom>
          <a:solidFill>
            <a:srgbClr val="0A3F46"/>
          </a:solidFill>
          <a:ln/>
        </p:spPr>
      </p:sp>
      <p:sp>
        <p:nvSpPr>
          <p:cNvPr id="5" name="Shape 3"/>
          <p:cNvSpPr/>
          <p:nvPr/>
        </p:nvSpPr>
        <p:spPr>
          <a:xfrm>
            <a:off x="812780" y="1885255"/>
            <a:ext cx="358171" cy="270173"/>
          </a:xfrm>
          <a:prstGeom prst="roundRect">
            <a:avLst>
              <a:gd name="adj" fmla="val 4231"/>
            </a:avLst>
          </a:prstGeom>
          <a:solidFill>
            <a:srgbClr val="0A3C43"/>
          </a:solidFill>
          <a:ln/>
        </p:spPr>
      </p:sp>
      <p:sp>
        <p:nvSpPr>
          <p:cNvPr id="6" name="Text 4"/>
          <p:cNvSpPr/>
          <p:nvPr/>
        </p:nvSpPr>
        <p:spPr>
          <a:xfrm>
            <a:off x="919437" y="1939257"/>
            <a:ext cx="754441" cy="163612"/>
          </a:xfrm>
          <a:prstGeom prst="rect">
            <a:avLst/>
          </a:prstGeom>
          <a:noFill/>
          <a:ln/>
        </p:spPr>
        <p:txBody>
          <a:bodyPr wrap="none" lIns="0" tIns="0" rIns="0" bIns="0" rtlCol="0" anchor="t"/>
          <a:lstStyle/>
          <a:p>
            <a:pPr marL="0" indent="0" algn="l">
              <a:lnSpc>
                <a:spcPct val="96000"/>
              </a:lnSpc>
              <a:buNone/>
            </a:pPr>
            <a:r>
              <a:rPr lang="en-US" sz="1100" dirty="0">
                <a:solidFill>
                  <a:srgbClr val="EAF6FA"/>
                </a:solidFill>
                <a:latin typeface="Public Sans" pitchFamily="34" charset="0"/>
                <a:ea typeface="Public Sans" pitchFamily="34" charset="-122"/>
                <a:cs typeface="Public Sans" pitchFamily="34" charset="-120"/>
              </a:rPr>
              <a:t>01</a:t>
            </a:r>
            <a:endParaRPr lang="en-US" sz="1100" dirty="0"/>
          </a:p>
        </p:txBody>
      </p:sp>
      <p:sp>
        <p:nvSpPr>
          <p:cNvPr id="7" name="Text 5"/>
          <p:cNvSpPr/>
          <p:nvPr/>
        </p:nvSpPr>
        <p:spPr>
          <a:xfrm>
            <a:off x="812780" y="2244328"/>
            <a:ext cx="3098722" cy="279400"/>
          </a:xfrm>
          <a:prstGeom prst="rect">
            <a:avLst/>
          </a:prstGeom>
          <a:noFill/>
          <a:ln/>
        </p:spPr>
        <p:txBody>
          <a:bodyPr wrap="none" lIns="0" tIns="0" rIns="0" bIns="0" rtlCol="0" anchor="t"/>
          <a:lstStyle/>
          <a:p>
            <a:pPr marL="0" indent="0" algn="l">
              <a:lnSpc>
                <a:spcPct val="92000"/>
              </a:lnSpc>
              <a:buNone/>
            </a:pPr>
            <a:r>
              <a:rPr lang="en-US" sz="2000" dirty="0">
                <a:solidFill>
                  <a:srgbClr val="A9DDF0"/>
                </a:solidFill>
                <a:latin typeface="Saira Semi Condensed" pitchFamily="34" charset="0"/>
                <a:ea typeface="Saira Semi Condensed" pitchFamily="34" charset="-122"/>
                <a:cs typeface="Saira Semi Condensed" pitchFamily="34" charset="-120"/>
              </a:rPr>
              <a:t>Constants</a:t>
            </a:r>
            <a:endParaRPr lang="en-US" sz="2000" dirty="0"/>
          </a:p>
        </p:txBody>
      </p:sp>
      <p:sp>
        <p:nvSpPr>
          <p:cNvPr id="8" name="Text 6"/>
          <p:cNvSpPr/>
          <p:nvPr/>
        </p:nvSpPr>
        <p:spPr>
          <a:xfrm>
            <a:off x="812780" y="2639298"/>
            <a:ext cx="3098722" cy="497681"/>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EAF6FA"/>
                </a:solidFill>
                <a:latin typeface="Public Sans" pitchFamily="34" charset="0"/>
                <a:ea typeface="Public Sans" pitchFamily="34" charset="-122"/>
                <a:cs typeface="Public Sans" pitchFamily="34" charset="-120"/>
              </a:rPr>
              <a:t>final variables for university name, 75% and 60% limits</a:t>
            </a:r>
            <a:endParaRPr lang="en-US" sz="1400" dirty="0"/>
          </a:p>
        </p:txBody>
      </p:sp>
      <p:sp>
        <p:nvSpPr>
          <p:cNvPr id="9" name="Shape 7"/>
          <p:cNvSpPr/>
          <p:nvPr/>
        </p:nvSpPr>
        <p:spPr>
          <a:xfrm>
            <a:off x="4419489" y="1682055"/>
            <a:ext cx="3352716" cy="1653679"/>
          </a:xfrm>
          <a:prstGeom prst="roundRect">
            <a:avLst>
              <a:gd name="adj" fmla="val 691"/>
            </a:avLst>
          </a:prstGeom>
          <a:solidFill>
            <a:srgbClr val="0A3F46"/>
          </a:solidFill>
          <a:ln/>
        </p:spPr>
      </p:sp>
      <p:sp>
        <p:nvSpPr>
          <p:cNvPr id="10" name="Shape 8"/>
          <p:cNvSpPr/>
          <p:nvPr/>
        </p:nvSpPr>
        <p:spPr>
          <a:xfrm>
            <a:off x="4622684" y="1885255"/>
            <a:ext cx="384959" cy="270173"/>
          </a:xfrm>
          <a:prstGeom prst="roundRect">
            <a:avLst>
              <a:gd name="adj" fmla="val 4231"/>
            </a:avLst>
          </a:prstGeom>
          <a:solidFill>
            <a:srgbClr val="0A3C43"/>
          </a:solidFill>
          <a:ln/>
        </p:spPr>
      </p:sp>
      <p:sp>
        <p:nvSpPr>
          <p:cNvPr id="11" name="Text 9"/>
          <p:cNvSpPr/>
          <p:nvPr/>
        </p:nvSpPr>
        <p:spPr>
          <a:xfrm>
            <a:off x="4729342" y="1939257"/>
            <a:ext cx="781229" cy="163612"/>
          </a:xfrm>
          <a:prstGeom prst="rect">
            <a:avLst/>
          </a:prstGeom>
          <a:noFill/>
          <a:ln/>
        </p:spPr>
        <p:txBody>
          <a:bodyPr wrap="none" lIns="0" tIns="0" rIns="0" bIns="0" rtlCol="0" anchor="t"/>
          <a:lstStyle/>
          <a:p>
            <a:pPr marL="0" indent="0" algn="l">
              <a:lnSpc>
                <a:spcPct val="96000"/>
              </a:lnSpc>
              <a:buNone/>
            </a:pPr>
            <a:r>
              <a:rPr lang="en-US" sz="1100" dirty="0">
                <a:solidFill>
                  <a:srgbClr val="EAF6FA"/>
                </a:solidFill>
                <a:latin typeface="Public Sans" pitchFamily="34" charset="0"/>
                <a:ea typeface="Public Sans" pitchFamily="34" charset="-122"/>
                <a:cs typeface="Public Sans" pitchFamily="34" charset="-120"/>
              </a:rPr>
              <a:t>02</a:t>
            </a:r>
            <a:endParaRPr lang="en-US" sz="1100" dirty="0"/>
          </a:p>
        </p:txBody>
      </p:sp>
      <p:sp>
        <p:nvSpPr>
          <p:cNvPr id="12" name="Text 10"/>
          <p:cNvSpPr/>
          <p:nvPr/>
        </p:nvSpPr>
        <p:spPr>
          <a:xfrm>
            <a:off x="4622684" y="2244328"/>
            <a:ext cx="2946326" cy="279400"/>
          </a:xfrm>
          <a:prstGeom prst="rect">
            <a:avLst/>
          </a:prstGeom>
          <a:noFill/>
          <a:ln/>
        </p:spPr>
        <p:txBody>
          <a:bodyPr wrap="none" lIns="0" tIns="0" rIns="0" bIns="0" rtlCol="0" anchor="t"/>
          <a:lstStyle/>
          <a:p>
            <a:pPr marL="0" indent="0" algn="l">
              <a:lnSpc>
                <a:spcPct val="92000"/>
              </a:lnSpc>
              <a:buNone/>
            </a:pPr>
            <a:r>
              <a:rPr lang="en-US" sz="2000" dirty="0">
                <a:solidFill>
                  <a:srgbClr val="A9DDF0"/>
                </a:solidFill>
                <a:latin typeface="Saira Semi Condensed" pitchFamily="34" charset="0"/>
                <a:ea typeface="Saira Semi Condensed" pitchFamily="34" charset="-122"/>
                <a:cs typeface="Saira Semi Condensed" pitchFamily="34" charset="-120"/>
              </a:rPr>
              <a:t>Input</a:t>
            </a:r>
            <a:endParaRPr lang="en-US" sz="2000" dirty="0"/>
          </a:p>
        </p:txBody>
      </p:sp>
      <p:sp>
        <p:nvSpPr>
          <p:cNvPr id="13" name="Text 11"/>
          <p:cNvSpPr/>
          <p:nvPr/>
        </p:nvSpPr>
        <p:spPr>
          <a:xfrm>
            <a:off x="4622684" y="2639298"/>
            <a:ext cx="2946326" cy="497681"/>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EAF6FA"/>
                </a:solidFill>
                <a:latin typeface="Public Sans" pitchFamily="34" charset="0"/>
                <a:ea typeface="Public Sans" pitchFamily="34" charset="-122"/>
                <a:cs typeface="Public Sans" pitchFamily="34" charset="-120"/>
              </a:rPr>
              <a:t>Scanner reads student info and subject details</a:t>
            </a:r>
            <a:endParaRPr lang="en-US" sz="1400" dirty="0"/>
          </a:p>
        </p:txBody>
      </p:sp>
      <p:sp>
        <p:nvSpPr>
          <p:cNvPr id="14" name="Shape 12"/>
          <p:cNvSpPr/>
          <p:nvPr/>
        </p:nvSpPr>
        <p:spPr>
          <a:xfrm>
            <a:off x="8076998" y="1682055"/>
            <a:ext cx="3505112" cy="1653679"/>
          </a:xfrm>
          <a:prstGeom prst="roundRect">
            <a:avLst>
              <a:gd name="adj" fmla="val 691"/>
            </a:avLst>
          </a:prstGeom>
          <a:solidFill>
            <a:srgbClr val="0A3F46"/>
          </a:solidFill>
          <a:ln/>
        </p:spPr>
      </p:sp>
      <p:sp>
        <p:nvSpPr>
          <p:cNvPr id="15" name="Shape 13"/>
          <p:cNvSpPr/>
          <p:nvPr/>
        </p:nvSpPr>
        <p:spPr>
          <a:xfrm>
            <a:off x="8280193" y="1885255"/>
            <a:ext cx="388928" cy="270173"/>
          </a:xfrm>
          <a:prstGeom prst="roundRect">
            <a:avLst>
              <a:gd name="adj" fmla="val 4231"/>
            </a:avLst>
          </a:prstGeom>
          <a:solidFill>
            <a:srgbClr val="0A3C43"/>
          </a:solidFill>
          <a:ln/>
        </p:spPr>
      </p:sp>
      <p:sp>
        <p:nvSpPr>
          <p:cNvPr id="16" name="Text 14"/>
          <p:cNvSpPr/>
          <p:nvPr/>
        </p:nvSpPr>
        <p:spPr>
          <a:xfrm>
            <a:off x="8386850" y="1939257"/>
            <a:ext cx="785198" cy="163612"/>
          </a:xfrm>
          <a:prstGeom prst="rect">
            <a:avLst/>
          </a:prstGeom>
          <a:noFill/>
          <a:ln/>
        </p:spPr>
        <p:txBody>
          <a:bodyPr wrap="none" lIns="0" tIns="0" rIns="0" bIns="0" rtlCol="0" anchor="t"/>
          <a:lstStyle/>
          <a:p>
            <a:pPr marL="0" indent="0" algn="l">
              <a:lnSpc>
                <a:spcPct val="96000"/>
              </a:lnSpc>
              <a:buNone/>
            </a:pPr>
            <a:r>
              <a:rPr lang="en-US" sz="1100" dirty="0">
                <a:solidFill>
                  <a:srgbClr val="EAF6FA"/>
                </a:solidFill>
                <a:latin typeface="Public Sans" pitchFamily="34" charset="0"/>
                <a:ea typeface="Public Sans" pitchFamily="34" charset="-122"/>
                <a:cs typeface="Public Sans" pitchFamily="34" charset="-120"/>
              </a:rPr>
              <a:t>03</a:t>
            </a:r>
            <a:endParaRPr lang="en-US" sz="1100" dirty="0"/>
          </a:p>
        </p:txBody>
      </p:sp>
      <p:sp>
        <p:nvSpPr>
          <p:cNvPr id="17" name="Text 15"/>
          <p:cNvSpPr/>
          <p:nvPr/>
        </p:nvSpPr>
        <p:spPr>
          <a:xfrm>
            <a:off x="8280193" y="2244328"/>
            <a:ext cx="3098722" cy="279400"/>
          </a:xfrm>
          <a:prstGeom prst="rect">
            <a:avLst/>
          </a:prstGeom>
          <a:noFill/>
          <a:ln/>
        </p:spPr>
        <p:txBody>
          <a:bodyPr wrap="none" lIns="0" tIns="0" rIns="0" bIns="0" rtlCol="0" anchor="t"/>
          <a:lstStyle/>
          <a:p>
            <a:pPr marL="0" indent="0" algn="l">
              <a:lnSpc>
                <a:spcPct val="92000"/>
              </a:lnSpc>
              <a:buNone/>
            </a:pPr>
            <a:r>
              <a:rPr lang="en-US" sz="2000" dirty="0">
                <a:solidFill>
                  <a:srgbClr val="A9DDF0"/>
                </a:solidFill>
                <a:latin typeface="Saira Semi Condensed" pitchFamily="34" charset="0"/>
                <a:ea typeface="Saira Semi Condensed" pitchFamily="34" charset="-122"/>
                <a:cs typeface="Saira Semi Condensed" pitchFamily="34" charset="-120"/>
              </a:rPr>
              <a:t>Store</a:t>
            </a:r>
            <a:endParaRPr lang="en-US" sz="2000" dirty="0"/>
          </a:p>
        </p:txBody>
      </p:sp>
      <p:sp>
        <p:nvSpPr>
          <p:cNvPr id="18" name="Text 16"/>
          <p:cNvSpPr/>
          <p:nvPr/>
        </p:nvSpPr>
        <p:spPr>
          <a:xfrm>
            <a:off x="8280193" y="2639298"/>
            <a:ext cx="3098722" cy="497681"/>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EAF6FA"/>
                </a:solidFill>
                <a:latin typeface="Public Sans" pitchFamily="34" charset="0"/>
                <a:ea typeface="Public Sans" pitchFamily="34" charset="-122"/>
                <a:cs typeface="Public Sans" pitchFamily="34" charset="-120"/>
              </a:rPr>
              <a:t>arrays for marks and classes, ArrayList for subject names</a:t>
            </a:r>
            <a:endParaRPr lang="en-US" sz="1400" dirty="0"/>
          </a:p>
        </p:txBody>
      </p:sp>
      <p:sp>
        <p:nvSpPr>
          <p:cNvPr id="19" name="Shape 17"/>
          <p:cNvSpPr/>
          <p:nvPr/>
        </p:nvSpPr>
        <p:spPr>
          <a:xfrm>
            <a:off x="609585" y="3640534"/>
            <a:ext cx="3505112" cy="1653679"/>
          </a:xfrm>
          <a:prstGeom prst="roundRect">
            <a:avLst>
              <a:gd name="adj" fmla="val 691"/>
            </a:avLst>
          </a:prstGeom>
          <a:solidFill>
            <a:srgbClr val="0A3F46"/>
          </a:solidFill>
          <a:ln/>
        </p:spPr>
      </p:sp>
      <p:sp>
        <p:nvSpPr>
          <p:cNvPr id="20" name="Shape 18"/>
          <p:cNvSpPr/>
          <p:nvPr/>
        </p:nvSpPr>
        <p:spPr>
          <a:xfrm>
            <a:off x="812780" y="3843734"/>
            <a:ext cx="389424" cy="270173"/>
          </a:xfrm>
          <a:prstGeom prst="roundRect">
            <a:avLst>
              <a:gd name="adj" fmla="val 4231"/>
            </a:avLst>
          </a:prstGeom>
          <a:solidFill>
            <a:srgbClr val="0A3C43"/>
          </a:solidFill>
          <a:ln/>
        </p:spPr>
      </p:sp>
      <p:sp>
        <p:nvSpPr>
          <p:cNvPr id="21" name="Text 19"/>
          <p:cNvSpPr/>
          <p:nvPr/>
        </p:nvSpPr>
        <p:spPr>
          <a:xfrm>
            <a:off x="919437" y="3897736"/>
            <a:ext cx="785694" cy="163612"/>
          </a:xfrm>
          <a:prstGeom prst="rect">
            <a:avLst/>
          </a:prstGeom>
          <a:noFill/>
          <a:ln/>
        </p:spPr>
        <p:txBody>
          <a:bodyPr wrap="none" lIns="0" tIns="0" rIns="0" bIns="0" rtlCol="0" anchor="t"/>
          <a:lstStyle/>
          <a:p>
            <a:pPr marL="0" indent="0" algn="l">
              <a:lnSpc>
                <a:spcPct val="96000"/>
              </a:lnSpc>
              <a:buNone/>
            </a:pPr>
            <a:r>
              <a:rPr lang="en-US" sz="1100" dirty="0">
                <a:solidFill>
                  <a:srgbClr val="EAF6FA"/>
                </a:solidFill>
                <a:latin typeface="Public Sans" pitchFamily="34" charset="0"/>
                <a:ea typeface="Public Sans" pitchFamily="34" charset="-122"/>
                <a:cs typeface="Public Sans" pitchFamily="34" charset="-120"/>
              </a:rPr>
              <a:t>04</a:t>
            </a:r>
            <a:endParaRPr lang="en-US" sz="1100" dirty="0"/>
          </a:p>
        </p:txBody>
      </p:sp>
      <p:sp>
        <p:nvSpPr>
          <p:cNvPr id="22" name="Text 20"/>
          <p:cNvSpPr/>
          <p:nvPr/>
        </p:nvSpPr>
        <p:spPr>
          <a:xfrm>
            <a:off x="812780" y="4202807"/>
            <a:ext cx="3098722" cy="279400"/>
          </a:xfrm>
          <a:prstGeom prst="rect">
            <a:avLst/>
          </a:prstGeom>
          <a:noFill/>
          <a:ln/>
        </p:spPr>
        <p:txBody>
          <a:bodyPr wrap="none" lIns="0" tIns="0" rIns="0" bIns="0" rtlCol="0" anchor="t"/>
          <a:lstStyle/>
          <a:p>
            <a:pPr marL="0" indent="0" algn="l">
              <a:lnSpc>
                <a:spcPct val="92000"/>
              </a:lnSpc>
              <a:buNone/>
            </a:pPr>
            <a:r>
              <a:rPr lang="en-US" sz="2000" dirty="0">
                <a:solidFill>
                  <a:srgbClr val="A9DDF0"/>
                </a:solidFill>
                <a:latin typeface="Saira Semi Condensed" pitchFamily="34" charset="0"/>
                <a:ea typeface="Saira Semi Condensed" pitchFamily="34" charset="-122"/>
                <a:cs typeface="Saira Semi Condensed" pitchFamily="34" charset="-120"/>
              </a:rPr>
              <a:t>Calculate</a:t>
            </a:r>
            <a:endParaRPr lang="en-US" sz="2000" dirty="0"/>
          </a:p>
        </p:txBody>
      </p:sp>
      <p:sp>
        <p:nvSpPr>
          <p:cNvPr id="23" name="Text 21"/>
          <p:cNvSpPr/>
          <p:nvPr/>
        </p:nvSpPr>
        <p:spPr>
          <a:xfrm>
            <a:off x="812780" y="4597777"/>
            <a:ext cx="3098722" cy="497681"/>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EAF6FA"/>
                </a:solidFill>
                <a:latin typeface="Public Sans" pitchFamily="34" charset="0"/>
                <a:ea typeface="Public Sans" pitchFamily="34" charset="-122"/>
                <a:cs typeface="Public Sans" pitchFamily="34" charset="-120"/>
              </a:rPr>
              <a:t>totals, average, attendance % using operators and casting</a:t>
            </a:r>
            <a:endParaRPr lang="en-US" sz="1400" dirty="0"/>
          </a:p>
        </p:txBody>
      </p:sp>
      <p:sp>
        <p:nvSpPr>
          <p:cNvPr id="24" name="Shape 22"/>
          <p:cNvSpPr/>
          <p:nvPr/>
        </p:nvSpPr>
        <p:spPr>
          <a:xfrm>
            <a:off x="4419489" y="3640534"/>
            <a:ext cx="3352716" cy="1653679"/>
          </a:xfrm>
          <a:prstGeom prst="roundRect">
            <a:avLst>
              <a:gd name="adj" fmla="val 691"/>
            </a:avLst>
          </a:prstGeom>
          <a:solidFill>
            <a:srgbClr val="0A3F46"/>
          </a:solidFill>
          <a:ln/>
        </p:spPr>
      </p:sp>
      <p:sp>
        <p:nvSpPr>
          <p:cNvPr id="25" name="Shape 23"/>
          <p:cNvSpPr/>
          <p:nvPr/>
        </p:nvSpPr>
        <p:spPr>
          <a:xfrm>
            <a:off x="4622684" y="3843734"/>
            <a:ext cx="391309" cy="270173"/>
          </a:xfrm>
          <a:prstGeom prst="roundRect">
            <a:avLst>
              <a:gd name="adj" fmla="val 4231"/>
            </a:avLst>
          </a:prstGeom>
          <a:solidFill>
            <a:srgbClr val="0A3C43"/>
          </a:solidFill>
          <a:ln/>
        </p:spPr>
      </p:sp>
      <p:sp>
        <p:nvSpPr>
          <p:cNvPr id="26" name="Text 24"/>
          <p:cNvSpPr/>
          <p:nvPr/>
        </p:nvSpPr>
        <p:spPr>
          <a:xfrm>
            <a:off x="4729342" y="3897736"/>
            <a:ext cx="787579" cy="163612"/>
          </a:xfrm>
          <a:prstGeom prst="rect">
            <a:avLst/>
          </a:prstGeom>
          <a:noFill/>
          <a:ln/>
        </p:spPr>
        <p:txBody>
          <a:bodyPr wrap="none" lIns="0" tIns="0" rIns="0" bIns="0" rtlCol="0" anchor="t"/>
          <a:lstStyle/>
          <a:p>
            <a:pPr marL="0" indent="0" algn="l">
              <a:lnSpc>
                <a:spcPct val="96000"/>
              </a:lnSpc>
              <a:buNone/>
            </a:pPr>
            <a:r>
              <a:rPr lang="en-US" sz="1100" dirty="0">
                <a:solidFill>
                  <a:srgbClr val="EAF6FA"/>
                </a:solidFill>
                <a:latin typeface="Public Sans" pitchFamily="34" charset="0"/>
                <a:ea typeface="Public Sans" pitchFamily="34" charset="-122"/>
                <a:cs typeface="Public Sans" pitchFamily="34" charset="-120"/>
              </a:rPr>
              <a:t>05</a:t>
            </a:r>
            <a:endParaRPr lang="en-US" sz="1100" dirty="0"/>
          </a:p>
        </p:txBody>
      </p:sp>
      <p:sp>
        <p:nvSpPr>
          <p:cNvPr id="27" name="Text 25"/>
          <p:cNvSpPr/>
          <p:nvPr/>
        </p:nvSpPr>
        <p:spPr>
          <a:xfrm>
            <a:off x="4622684" y="4202807"/>
            <a:ext cx="2946326" cy="279400"/>
          </a:xfrm>
          <a:prstGeom prst="rect">
            <a:avLst/>
          </a:prstGeom>
          <a:noFill/>
          <a:ln/>
        </p:spPr>
        <p:txBody>
          <a:bodyPr wrap="none" lIns="0" tIns="0" rIns="0" bIns="0" rtlCol="0" anchor="t"/>
          <a:lstStyle/>
          <a:p>
            <a:pPr marL="0" indent="0" algn="l">
              <a:lnSpc>
                <a:spcPct val="92000"/>
              </a:lnSpc>
              <a:buNone/>
            </a:pPr>
            <a:r>
              <a:rPr lang="en-US" sz="2000" dirty="0">
                <a:solidFill>
                  <a:srgbClr val="A9DDF0"/>
                </a:solidFill>
                <a:latin typeface="Saira Semi Condensed" pitchFamily="34" charset="0"/>
                <a:ea typeface="Saira Semi Condensed" pitchFamily="34" charset="-122"/>
                <a:cs typeface="Saira Semi Condensed" pitchFamily="34" charset="-120"/>
              </a:rPr>
              <a:t>Decide</a:t>
            </a:r>
            <a:endParaRPr lang="en-US" sz="2000" dirty="0"/>
          </a:p>
        </p:txBody>
      </p:sp>
      <p:sp>
        <p:nvSpPr>
          <p:cNvPr id="28" name="Text 26"/>
          <p:cNvSpPr/>
          <p:nvPr/>
        </p:nvSpPr>
        <p:spPr>
          <a:xfrm>
            <a:off x="4622684" y="4597777"/>
            <a:ext cx="2946326" cy="497681"/>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EAF6FA"/>
                </a:solidFill>
                <a:latin typeface="Public Sans" pitchFamily="34" charset="0"/>
                <a:ea typeface="Public Sans" pitchFamily="34" charset="-122"/>
                <a:cs typeface="Public Sans" pitchFamily="34" charset="-120"/>
              </a:rPr>
              <a:t>if-else, switch, &amp;&amp; and ternary for grade and eligibility</a:t>
            </a:r>
            <a:endParaRPr lang="en-US" sz="1400" dirty="0"/>
          </a:p>
        </p:txBody>
      </p:sp>
      <p:sp>
        <p:nvSpPr>
          <p:cNvPr id="29" name="Shape 27"/>
          <p:cNvSpPr/>
          <p:nvPr/>
        </p:nvSpPr>
        <p:spPr>
          <a:xfrm>
            <a:off x="8076998" y="3640534"/>
            <a:ext cx="3505112" cy="1653679"/>
          </a:xfrm>
          <a:prstGeom prst="roundRect">
            <a:avLst>
              <a:gd name="adj" fmla="val 691"/>
            </a:avLst>
          </a:prstGeom>
          <a:solidFill>
            <a:srgbClr val="0A3F46"/>
          </a:solidFill>
          <a:ln/>
        </p:spPr>
      </p:sp>
      <p:sp>
        <p:nvSpPr>
          <p:cNvPr id="30" name="Shape 28"/>
          <p:cNvSpPr/>
          <p:nvPr/>
        </p:nvSpPr>
        <p:spPr>
          <a:xfrm>
            <a:off x="8280193" y="3843734"/>
            <a:ext cx="387836" cy="270173"/>
          </a:xfrm>
          <a:prstGeom prst="roundRect">
            <a:avLst>
              <a:gd name="adj" fmla="val 4231"/>
            </a:avLst>
          </a:prstGeom>
          <a:solidFill>
            <a:srgbClr val="0A3C43"/>
          </a:solidFill>
          <a:ln/>
        </p:spPr>
      </p:sp>
      <p:sp>
        <p:nvSpPr>
          <p:cNvPr id="31" name="Text 29"/>
          <p:cNvSpPr/>
          <p:nvPr/>
        </p:nvSpPr>
        <p:spPr>
          <a:xfrm>
            <a:off x="8386850" y="3897736"/>
            <a:ext cx="784106" cy="163612"/>
          </a:xfrm>
          <a:prstGeom prst="rect">
            <a:avLst/>
          </a:prstGeom>
          <a:noFill/>
          <a:ln/>
        </p:spPr>
        <p:txBody>
          <a:bodyPr wrap="none" lIns="0" tIns="0" rIns="0" bIns="0" rtlCol="0" anchor="t"/>
          <a:lstStyle/>
          <a:p>
            <a:pPr marL="0" indent="0" algn="l">
              <a:lnSpc>
                <a:spcPct val="96000"/>
              </a:lnSpc>
              <a:buNone/>
            </a:pPr>
            <a:r>
              <a:rPr lang="en-US" sz="1100" dirty="0">
                <a:solidFill>
                  <a:srgbClr val="EAF6FA"/>
                </a:solidFill>
                <a:latin typeface="Public Sans" pitchFamily="34" charset="0"/>
                <a:ea typeface="Public Sans" pitchFamily="34" charset="-122"/>
                <a:cs typeface="Public Sans" pitchFamily="34" charset="-120"/>
              </a:rPr>
              <a:t>06</a:t>
            </a:r>
            <a:endParaRPr lang="en-US" sz="1100" dirty="0"/>
          </a:p>
        </p:txBody>
      </p:sp>
      <p:sp>
        <p:nvSpPr>
          <p:cNvPr id="32" name="Text 30"/>
          <p:cNvSpPr/>
          <p:nvPr/>
        </p:nvSpPr>
        <p:spPr>
          <a:xfrm>
            <a:off x="8280193" y="4202807"/>
            <a:ext cx="3098722" cy="279400"/>
          </a:xfrm>
          <a:prstGeom prst="rect">
            <a:avLst/>
          </a:prstGeom>
          <a:noFill/>
          <a:ln/>
        </p:spPr>
        <p:txBody>
          <a:bodyPr wrap="none" lIns="0" tIns="0" rIns="0" bIns="0" rtlCol="0" anchor="t"/>
          <a:lstStyle/>
          <a:p>
            <a:pPr marL="0" indent="0" algn="l">
              <a:lnSpc>
                <a:spcPct val="92000"/>
              </a:lnSpc>
              <a:buNone/>
            </a:pPr>
            <a:r>
              <a:rPr lang="en-US" sz="2000" dirty="0">
                <a:solidFill>
                  <a:srgbClr val="A9DDF0"/>
                </a:solidFill>
                <a:latin typeface="Saira Semi Condensed" pitchFamily="34" charset="0"/>
                <a:ea typeface="Saira Semi Condensed" pitchFamily="34" charset="-122"/>
                <a:cs typeface="Saira Semi Condensed" pitchFamily="34" charset="-120"/>
              </a:rPr>
              <a:t>Report</a:t>
            </a:r>
            <a:endParaRPr lang="en-US" sz="2000" dirty="0"/>
          </a:p>
        </p:txBody>
      </p:sp>
      <p:sp>
        <p:nvSpPr>
          <p:cNvPr id="33" name="Text 31"/>
          <p:cNvSpPr/>
          <p:nvPr/>
        </p:nvSpPr>
        <p:spPr>
          <a:xfrm>
            <a:off x="8280193" y="4597777"/>
            <a:ext cx="3098722" cy="497681"/>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EAF6FA"/>
                </a:solidFill>
                <a:latin typeface="Public Sans" pitchFamily="34" charset="0"/>
                <a:ea typeface="Public Sans" pitchFamily="34" charset="-122"/>
                <a:cs typeface="Public Sans" pitchFamily="34" charset="-120"/>
              </a:rPr>
              <a:t>StringBuffer append() builds subject lines; printf prints report</a:t>
            </a:r>
            <a:endParaRPr lang="en-US" sz="1400" dirty="0"/>
          </a:p>
        </p:txBody>
      </p:sp>
      <p:sp>
        <p:nvSpPr>
          <p:cNvPr id="34" name="Text 32"/>
          <p:cNvSpPr/>
          <p:nvPr/>
        </p:nvSpPr>
        <p:spPr>
          <a:xfrm>
            <a:off x="177895" y="6466086"/>
            <a:ext cx="2161030" cy="174129"/>
          </a:xfrm>
          <a:prstGeom prst="rect">
            <a:avLst/>
          </a:prstGeom>
          <a:noFill/>
          <a:ln/>
        </p:spPr>
        <p:txBody>
          <a:bodyPr wrap="none" lIns="0" tIns="0" rIns="0" bIns="0" rtlCol="0" anchor="ctr"/>
          <a:lstStyle/>
          <a:p>
            <a:pPr marL="0" indent="0" algn="l">
              <a:lnSpc>
                <a:spcPct val="117000"/>
              </a:lnSpc>
              <a:buNone/>
            </a:pPr>
            <a:r>
              <a:rPr lang="en-US" sz="1000" dirty="0">
                <a:solidFill>
                  <a:srgbClr val="EAF6FA"/>
                </a:solidFill>
                <a:latin typeface="Public Sans" pitchFamily="34" charset="0"/>
                <a:ea typeface="Public Sans" pitchFamily="34" charset="-122"/>
                <a:cs typeface="Public Sans" pitchFamily="34" charset="-120"/>
              </a:rPr>
              <a:t>JAVA • ACADEMIC SYSTEM</a:t>
            </a:r>
            <a:endParaRPr lang="en-US" sz="1000" dirty="0"/>
          </a:p>
        </p:txBody>
      </p:sp>
      <p:sp>
        <p:nvSpPr>
          <p:cNvPr id="35" name="Text 33"/>
          <p:cNvSpPr/>
          <p:nvPr/>
        </p:nvSpPr>
        <p:spPr>
          <a:xfrm>
            <a:off x="11887101" y="6466086"/>
            <a:ext cx="304594" cy="174129"/>
          </a:xfrm>
          <a:prstGeom prst="rect">
            <a:avLst/>
          </a:prstGeom>
          <a:noFill/>
          <a:ln/>
        </p:spPr>
        <p:txBody>
          <a:bodyPr wrap="none" lIns="0" tIns="0" rIns="0" bIns="0" rtlCol="0" anchor="ctr"/>
          <a:lstStyle/>
          <a:p>
            <a:pPr marL="0" indent="0" algn="l">
              <a:lnSpc>
                <a:spcPct val="117000"/>
              </a:lnSpc>
              <a:buNone/>
            </a:pPr>
            <a:r>
              <a:rPr lang="en-US" sz="1000" dirty="0">
                <a:solidFill>
                  <a:srgbClr val="EAF6FA"/>
                </a:solidFill>
                <a:latin typeface="Public Sans" pitchFamily="34" charset="0"/>
                <a:ea typeface="Public Sans" pitchFamily="34" charset="-122"/>
                <a:cs typeface="Public Sans"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85" y="610553"/>
            <a:ext cx="11582110"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A9DDF0"/>
                </a:solidFill>
                <a:latin typeface="Public Sans" pitchFamily="34" charset="0"/>
                <a:ea typeface="Public Sans" pitchFamily="34" charset="-122"/>
                <a:cs typeface="Public Sans" pitchFamily="34" charset="-120"/>
              </a:rPr>
              <a:t>06 / TECHNICAL FOUNDATIONS</a:t>
            </a:r>
            <a:endParaRPr lang="en-US" sz="1050" dirty="0"/>
          </a:p>
        </p:txBody>
      </p:sp>
      <p:sp>
        <p:nvSpPr>
          <p:cNvPr id="3" name="Text 1"/>
          <p:cNvSpPr/>
          <p:nvPr/>
        </p:nvSpPr>
        <p:spPr>
          <a:xfrm>
            <a:off x="609585" y="915928"/>
            <a:ext cx="10972526" cy="670520"/>
          </a:xfrm>
          <a:prstGeom prst="rect">
            <a:avLst/>
          </a:prstGeom>
          <a:noFill/>
          <a:ln/>
        </p:spPr>
        <p:txBody>
          <a:bodyPr wrap="none" lIns="0" tIns="0" rIns="0" bIns="0" rtlCol="0" anchor="t"/>
          <a:lstStyle/>
          <a:p>
            <a:pPr marL="0" indent="0" algn="l">
              <a:lnSpc>
                <a:spcPct val="92000"/>
              </a:lnSpc>
              <a:buNone/>
            </a:pPr>
            <a:r>
              <a:rPr lang="en-US" sz="4800" dirty="0">
                <a:solidFill>
                  <a:srgbClr val="EAF6FA"/>
                </a:solidFill>
                <a:latin typeface="Saira Semi Condensed" pitchFamily="34" charset="0"/>
                <a:ea typeface="Saira Semi Condensed" pitchFamily="34" charset="-122"/>
                <a:cs typeface="Saira Semi Condensed" pitchFamily="34" charset="-120"/>
              </a:rPr>
              <a:t>TOPICS &amp; CONCEPTS COVERED</a:t>
            </a:r>
            <a:endParaRPr lang="en-US" sz="4800" dirty="0"/>
          </a:p>
        </p:txBody>
      </p:sp>
      <p:sp>
        <p:nvSpPr>
          <p:cNvPr id="4" name="Shape 2"/>
          <p:cNvSpPr/>
          <p:nvPr/>
        </p:nvSpPr>
        <p:spPr>
          <a:xfrm>
            <a:off x="609585" y="1762026"/>
            <a:ext cx="3620798" cy="19050"/>
          </a:xfrm>
          <a:prstGeom prst="roundRect">
            <a:avLst>
              <a:gd name="adj" fmla="val 49999"/>
            </a:avLst>
          </a:prstGeom>
          <a:solidFill>
            <a:srgbClr val="2F6A73"/>
          </a:solidFill>
          <a:ln/>
        </p:spPr>
      </p:sp>
      <p:sp>
        <p:nvSpPr>
          <p:cNvPr id="5" name="Shape 3"/>
          <p:cNvSpPr/>
          <p:nvPr/>
        </p:nvSpPr>
        <p:spPr>
          <a:xfrm>
            <a:off x="609585" y="1984276"/>
            <a:ext cx="5333867" cy="1972072"/>
          </a:xfrm>
          <a:prstGeom prst="roundRect">
            <a:avLst>
              <a:gd name="adj" fmla="val 580"/>
            </a:avLst>
          </a:prstGeom>
          <a:noFill/>
          <a:ln w="19050">
            <a:solidFill>
              <a:srgbClr val="23585F"/>
            </a:solidFill>
            <a:prstDash val="solid"/>
          </a:ln>
        </p:spPr>
      </p:sp>
      <p:pic>
        <p:nvPicPr>
          <p:cNvPr id="6" name="Image 0" descr="preencoded.png"/>
          <p:cNvPicPr>
            <a:picLocks noChangeAspect="1"/>
          </p:cNvPicPr>
          <p:nvPr/>
        </p:nvPicPr>
        <p:blipFill>
          <a:blip r:embed="rId3"/>
          <a:stretch>
            <a:fillRect/>
          </a:stretch>
        </p:blipFill>
        <p:spPr>
          <a:xfrm>
            <a:off x="857229" y="2231926"/>
            <a:ext cx="238119" cy="219075"/>
          </a:xfrm>
          <a:prstGeom prst="rect">
            <a:avLst/>
          </a:prstGeom>
        </p:spPr>
      </p:pic>
      <p:sp>
        <p:nvSpPr>
          <p:cNvPr id="7" name="Text 4"/>
          <p:cNvSpPr/>
          <p:nvPr/>
        </p:nvSpPr>
        <p:spPr>
          <a:xfrm>
            <a:off x="857229" y="2571651"/>
            <a:ext cx="4838579" cy="279400"/>
          </a:xfrm>
          <a:prstGeom prst="rect">
            <a:avLst/>
          </a:prstGeom>
          <a:noFill/>
          <a:ln/>
        </p:spPr>
        <p:txBody>
          <a:bodyPr wrap="none" lIns="0" tIns="0" rIns="0" bIns="0" rtlCol="0" anchor="t"/>
          <a:lstStyle/>
          <a:p>
            <a:pPr marL="0" indent="0" algn="l">
              <a:lnSpc>
                <a:spcPct val="92000"/>
              </a:lnSpc>
              <a:buNone/>
            </a:pPr>
            <a:r>
              <a:rPr lang="en-US" sz="2000" dirty="0">
                <a:solidFill>
                  <a:srgbClr val="A9DDF0"/>
                </a:solidFill>
                <a:latin typeface="Saira Semi Condensed" pitchFamily="34" charset="0"/>
                <a:ea typeface="Saira Semi Condensed" pitchFamily="34" charset="-122"/>
                <a:cs typeface="Saira Semi Condensed" pitchFamily="34" charset="-120"/>
              </a:rPr>
              <a:t>Arrays &amp; Data Storage</a:t>
            </a:r>
            <a:endParaRPr lang="en-US" sz="2000" dirty="0"/>
          </a:p>
        </p:txBody>
      </p:sp>
      <p:sp>
        <p:nvSpPr>
          <p:cNvPr id="8" name="Text 5"/>
          <p:cNvSpPr/>
          <p:nvPr/>
        </p:nvSpPr>
        <p:spPr>
          <a:xfrm>
            <a:off x="857229" y="2966621"/>
            <a:ext cx="4838579" cy="746522"/>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EAF6FA"/>
                </a:solidFill>
                <a:latin typeface="Public Sans" pitchFamily="34" charset="0"/>
                <a:ea typeface="Public Sans" pitchFamily="34" charset="-122"/>
                <a:cs typeface="Public Sans" pitchFamily="34" charset="-120"/>
              </a:rPr>
              <a:t>Utilized 1D arrays (`double[] grades`, `int[] attended`) to store variable course marks and attendance values dynamically.</a:t>
            </a:r>
            <a:endParaRPr lang="en-US" sz="1400" dirty="0"/>
          </a:p>
        </p:txBody>
      </p:sp>
      <p:sp>
        <p:nvSpPr>
          <p:cNvPr id="9" name="Shape 6"/>
          <p:cNvSpPr/>
          <p:nvPr/>
        </p:nvSpPr>
        <p:spPr>
          <a:xfrm>
            <a:off x="6248244" y="1984276"/>
            <a:ext cx="5333867" cy="1972072"/>
          </a:xfrm>
          <a:prstGeom prst="roundRect">
            <a:avLst>
              <a:gd name="adj" fmla="val 580"/>
            </a:avLst>
          </a:prstGeom>
          <a:noFill/>
          <a:ln w="19050">
            <a:solidFill>
              <a:srgbClr val="23585F"/>
            </a:solidFill>
            <a:prstDash val="solid"/>
          </a:ln>
        </p:spPr>
      </p:sp>
      <p:pic>
        <p:nvPicPr>
          <p:cNvPr id="10" name="Image 1" descr="preencoded.png"/>
          <p:cNvPicPr>
            <a:picLocks noChangeAspect="1"/>
          </p:cNvPicPr>
          <p:nvPr/>
        </p:nvPicPr>
        <p:blipFill>
          <a:blip r:embed="rId4"/>
          <a:stretch>
            <a:fillRect/>
          </a:stretch>
        </p:blipFill>
        <p:spPr>
          <a:xfrm>
            <a:off x="6495887" y="2231926"/>
            <a:ext cx="190495" cy="219075"/>
          </a:xfrm>
          <a:prstGeom prst="rect">
            <a:avLst/>
          </a:prstGeom>
        </p:spPr>
      </p:pic>
      <p:sp>
        <p:nvSpPr>
          <p:cNvPr id="11" name="Text 7"/>
          <p:cNvSpPr/>
          <p:nvPr/>
        </p:nvSpPr>
        <p:spPr>
          <a:xfrm>
            <a:off x="6495887" y="2571651"/>
            <a:ext cx="4838579" cy="279400"/>
          </a:xfrm>
          <a:prstGeom prst="rect">
            <a:avLst/>
          </a:prstGeom>
          <a:noFill/>
          <a:ln/>
        </p:spPr>
        <p:txBody>
          <a:bodyPr wrap="none" lIns="0" tIns="0" rIns="0" bIns="0" rtlCol="0" anchor="t"/>
          <a:lstStyle/>
          <a:p>
            <a:pPr marL="0" indent="0" algn="l">
              <a:lnSpc>
                <a:spcPct val="92000"/>
              </a:lnSpc>
              <a:buNone/>
            </a:pPr>
            <a:r>
              <a:rPr lang="en-US" sz="2000" dirty="0">
                <a:solidFill>
                  <a:srgbClr val="A9DDF0"/>
                </a:solidFill>
                <a:latin typeface="Saira Semi Condensed" pitchFamily="34" charset="0"/>
                <a:ea typeface="Saira Semi Condensed" pitchFamily="34" charset="-122"/>
                <a:cs typeface="Saira Semi Condensed" pitchFamily="34" charset="-120"/>
              </a:rPr>
              <a:t>Control Structures &amp; Loops</a:t>
            </a:r>
            <a:endParaRPr lang="en-US" sz="2000" dirty="0"/>
          </a:p>
        </p:txBody>
      </p:sp>
      <p:sp>
        <p:nvSpPr>
          <p:cNvPr id="12" name="Text 8"/>
          <p:cNvSpPr/>
          <p:nvPr/>
        </p:nvSpPr>
        <p:spPr>
          <a:xfrm>
            <a:off x="6495887" y="2966621"/>
            <a:ext cx="4838579" cy="497681"/>
          </a:xfrm>
          <a:prstGeom prst="rect">
            <a:avLst/>
          </a:prstGeom>
          <a:noFill/>
          <a:ln/>
        </p:spPr>
        <p:txBody>
          <a:bodyPr wrap="square" lIns="0" tIns="0" rIns="0" bIns="0" rtlCol="0" anchor="t">
            <a:normAutofit fontScale="92500"/>
          </a:bodyPr>
          <a:lstStyle/>
          <a:p>
            <a:pPr marL="0" indent="0" algn="l">
              <a:lnSpc>
                <a:spcPct val="117000"/>
              </a:lnSpc>
              <a:buNone/>
            </a:pPr>
            <a:r>
              <a:rPr lang="en-US" sz="1400" dirty="0">
                <a:solidFill>
                  <a:srgbClr val="EAF6FA"/>
                </a:solidFill>
                <a:latin typeface="Public Sans" pitchFamily="34" charset="0"/>
                <a:ea typeface="Public Sans" pitchFamily="34" charset="-122"/>
                <a:cs typeface="Public Sans" pitchFamily="34" charset="-120"/>
              </a:rPr>
              <a:t>Implemented `for` loops for data iteration and multi-branching `if-else` / `switch` statements for grade mapping.</a:t>
            </a:r>
            <a:endParaRPr lang="en-US" sz="1400" dirty="0"/>
          </a:p>
        </p:txBody>
      </p:sp>
      <p:sp>
        <p:nvSpPr>
          <p:cNvPr id="13" name="Shape 9"/>
          <p:cNvSpPr/>
          <p:nvPr/>
        </p:nvSpPr>
        <p:spPr>
          <a:xfrm>
            <a:off x="609585" y="4261148"/>
            <a:ext cx="5333867" cy="1723231"/>
          </a:xfrm>
          <a:prstGeom prst="roundRect">
            <a:avLst>
              <a:gd name="adj" fmla="val 663"/>
            </a:avLst>
          </a:prstGeom>
          <a:noFill/>
          <a:ln w="19050">
            <a:solidFill>
              <a:srgbClr val="23585F"/>
            </a:solidFill>
            <a:prstDash val="solid"/>
          </a:ln>
        </p:spPr>
      </p:sp>
      <p:pic>
        <p:nvPicPr>
          <p:cNvPr id="14" name="Image 2" descr="preencoded.png"/>
          <p:cNvPicPr>
            <a:picLocks noChangeAspect="1"/>
          </p:cNvPicPr>
          <p:nvPr/>
        </p:nvPicPr>
        <p:blipFill>
          <a:blip r:embed="rId5"/>
          <a:stretch>
            <a:fillRect/>
          </a:stretch>
        </p:blipFill>
        <p:spPr>
          <a:xfrm>
            <a:off x="857229" y="4508798"/>
            <a:ext cx="276218" cy="219075"/>
          </a:xfrm>
          <a:prstGeom prst="rect">
            <a:avLst/>
          </a:prstGeom>
        </p:spPr>
      </p:pic>
      <p:sp>
        <p:nvSpPr>
          <p:cNvPr id="15" name="Text 10"/>
          <p:cNvSpPr/>
          <p:nvPr/>
        </p:nvSpPr>
        <p:spPr>
          <a:xfrm>
            <a:off x="857229" y="4848523"/>
            <a:ext cx="4838579" cy="279400"/>
          </a:xfrm>
          <a:prstGeom prst="rect">
            <a:avLst/>
          </a:prstGeom>
          <a:noFill/>
          <a:ln/>
        </p:spPr>
        <p:txBody>
          <a:bodyPr wrap="none" lIns="0" tIns="0" rIns="0" bIns="0" rtlCol="0" anchor="t"/>
          <a:lstStyle/>
          <a:p>
            <a:pPr marL="0" indent="0" algn="l">
              <a:lnSpc>
                <a:spcPct val="92000"/>
              </a:lnSpc>
              <a:buNone/>
            </a:pPr>
            <a:r>
              <a:rPr lang="en-US" sz="2000" dirty="0">
                <a:solidFill>
                  <a:srgbClr val="A9DDF0"/>
                </a:solidFill>
                <a:latin typeface="Saira Semi Condensed" pitchFamily="34" charset="0"/>
                <a:ea typeface="Saira Semi Condensed" pitchFamily="34" charset="-122"/>
                <a:cs typeface="Saira Semi Condensed" pitchFamily="34" charset="-120"/>
              </a:rPr>
              <a:t>Methods &amp; Modular Design</a:t>
            </a:r>
            <a:endParaRPr lang="en-US" sz="2000" dirty="0"/>
          </a:p>
        </p:txBody>
      </p:sp>
      <p:sp>
        <p:nvSpPr>
          <p:cNvPr id="16" name="Text 11"/>
          <p:cNvSpPr/>
          <p:nvPr/>
        </p:nvSpPr>
        <p:spPr>
          <a:xfrm>
            <a:off x="857229" y="5243493"/>
            <a:ext cx="4838579" cy="497681"/>
          </a:xfrm>
          <a:prstGeom prst="rect">
            <a:avLst/>
          </a:prstGeom>
          <a:noFill/>
          <a:ln/>
        </p:spPr>
        <p:txBody>
          <a:bodyPr wrap="square" lIns="0" tIns="0" rIns="0" bIns="0" rtlCol="0" anchor="t">
            <a:normAutofit fontScale="92500"/>
          </a:bodyPr>
          <a:lstStyle/>
          <a:p>
            <a:pPr marL="0" indent="0" algn="l">
              <a:lnSpc>
                <a:spcPct val="117000"/>
              </a:lnSpc>
              <a:buNone/>
            </a:pPr>
            <a:r>
              <a:rPr lang="en-US" sz="1400" dirty="0">
                <a:solidFill>
                  <a:srgbClr val="EAF6FA"/>
                </a:solidFill>
                <a:latin typeface="Public Sans" pitchFamily="34" charset="0"/>
                <a:ea typeface="Public Sans" pitchFamily="34" charset="-122"/>
                <a:cs typeface="Public Sans" pitchFamily="34" charset="-120"/>
              </a:rPr>
              <a:t>Structured calculations into distinct functions for GPA computation, percentage derivation, and status formatting.</a:t>
            </a:r>
            <a:endParaRPr lang="en-US" sz="1400" dirty="0"/>
          </a:p>
        </p:txBody>
      </p:sp>
      <p:sp>
        <p:nvSpPr>
          <p:cNvPr id="17" name="Shape 12"/>
          <p:cNvSpPr/>
          <p:nvPr/>
        </p:nvSpPr>
        <p:spPr>
          <a:xfrm>
            <a:off x="6248244" y="4261148"/>
            <a:ext cx="5333867" cy="1723231"/>
          </a:xfrm>
          <a:prstGeom prst="roundRect">
            <a:avLst>
              <a:gd name="adj" fmla="val 663"/>
            </a:avLst>
          </a:prstGeom>
          <a:noFill/>
          <a:ln w="19050">
            <a:solidFill>
              <a:srgbClr val="23585F"/>
            </a:solidFill>
            <a:prstDash val="solid"/>
          </a:ln>
        </p:spPr>
      </p:sp>
      <p:pic>
        <p:nvPicPr>
          <p:cNvPr id="18" name="Image 3" descr="preencoded.png"/>
          <p:cNvPicPr>
            <a:picLocks noChangeAspect="1"/>
          </p:cNvPicPr>
          <p:nvPr/>
        </p:nvPicPr>
        <p:blipFill>
          <a:blip r:embed="rId6"/>
          <a:stretch>
            <a:fillRect/>
          </a:stretch>
        </p:blipFill>
        <p:spPr>
          <a:xfrm>
            <a:off x="6495887" y="4508798"/>
            <a:ext cx="238119" cy="219075"/>
          </a:xfrm>
          <a:prstGeom prst="rect">
            <a:avLst/>
          </a:prstGeom>
        </p:spPr>
      </p:pic>
      <p:sp>
        <p:nvSpPr>
          <p:cNvPr id="19" name="Text 13"/>
          <p:cNvSpPr/>
          <p:nvPr/>
        </p:nvSpPr>
        <p:spPr>
          <a:xfrm>
            <a:off x="6495887" y="4848523"/>
            <a:ext cx="4838579" cy="279400"/>
          </a:xfrm>
          <a:prstGeom prst="rect">
            <a:avLst/>
          </a:prstGeom>
          <a:noFill/>
          <a:ln/>
        </p:spPr>
        <p:txBody>
          <a:bodyPr wrap="none" lIns="0" tIns="0" rIns="0" bIns="0" rtlCol="0" anchor="t"/>
          <a:lstStyle/>
          <a:p>
            <a:pPr marL="0" indent="0" algn="l">
              <a:lnSpc>
                <a:spcPct val="92000"/>
              </a:lnSpc>
              <a:buNone/>
            </a:pPr>
            <a:r>
              <a:rPr lang="en-US" sz="2000" dirty="0">
                <a:solidFill>
                  <a:srgbClr val="A9DDF0"/>
                </a:solidFill>
                <a:latin typeface="Saira Semi Condensed" pitchFamily="34" charset="0"/>
                <a:ea typeface="Saira Semi Condensed" pitchFamily="34" charset="-122"/>
                <a:cs typeface="Saira Semi Condensed" pitchFamily="34" charset="-120"/>
              </a:rPr>
              <a:t>Scanner &amp; I/O Handling</a:t>
            </a:r>
            <a:endParaRPr lang="en-US" sz="2000" dirty="0"/>
          </a:p>
        </p:txBody>
      </p:sp>
      <p:sp>
        <p:nvSpPr>
          <p:cNvPr id="20" name="Text 14"/>
          <p:cNvSpPr/>
          <p:nvPr/>
        </p:nvSpPr>
        <p:spPr>
          <a:xfrm>
            <a:off x="6495887" y="5243493"/>
            <a:ext cx="4838579" cy="497681"/>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EAF6FA"/>
                </a:solidFill>
                <a:latin typeface="Public Sans" pitchFamily="34" charset="0"/>
                <a:ea typeface="Public Sans" pitchFamily="34" charset="-122"/>
                <a:cs typeface="Public Sans" pitchFamily="34" charset="-120"/>
              </a:rPr>
              <a:t>Used `java.util.Scanner` for interactive terminal data entry, capturing student metadata and subject scores.</a:t>
            </a:r>
            <a:endParaRPr lang="en-US" sz="1400" dirty="0"/>
          </a:p>
        </p:txBody>
      </p:sp>
      <p:sp>
        <p:nvSpPr>
          <p:cNvPr id="21" name="Text 15"/>
          <p:cNvSpPr/>
          <p:nvPr/>
        </p:nvSpPr>
        <p:spPr>
          <a:xfrm>
            <a:off x="11963200" y="6466086"/>
            <a:ext cx="228495" cy="174129"/>
          </a:xfrm>
          <a:prstGeom prst="rect">
            <a:avLst/>
          </a:prstGeom>
          <a:noFill/>
          <a:ln/>
        </p:spPr>
        <p:txBody>
          <a:bodyPr wrap="none" lIns="0" tIns="0" rIns="0" bIns="0" rtlCol="0" anchor="ctr"/>
          <a:lstStyle/>
          <a:p>
            <a:pPr marL="0" indent="0" algn="l">
              <a:lnSpc>
                <a:spcPct val="117000"/>
              </a:lnSpc>
              <a:buNone/>
            </a:pPr>
            <a:r>
              <a:rPr lang="en-US" sz="1000" dirty="0">
                <a:solidFill>
                  <a:srgbClr val="EAF6FA"/>
                </a:solidFill>
                <a:latin typeface="Public Sans" pitchFamily="34" charset="0"/>
                <a:ea typeface="Public Sans" pitchFamily="34" charset="-122"/>
                <a:cs typeface="Public Sans" pitchFamily="34" charset="-120"/>
              </a:rPr>
              <a:t>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85" y="610553"/>
            <a:ext cx="11582110"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A9DDF0"/>
                </a:solidFill>
                <a:latin typeface="Public Sans" pitchFamily="34" charset="0"/>
                <a:ea typeface="Public Sans" pitchFamily="34" charset="-122"/>
                <a:cs typeface="Public Sans" pitchFamily="34" charset="-120"/>
              </a:rPr>
              <a:t>CORE JAVA / TOPIC MAP</a:t>
            </a:r>
            <a:endParaRPr lang="en-US" sz="1050" dirty="0"/>
          </a:p>
        </p:txBody>
      </p:sp>
      <p:sp>
        <p:nvSpPr>
          <p:cNvPr id="3" name="Text 1"/>
          <p:cNvSpPr/>
          <p:nvPr/>
        </p:nvSpPr>
        <p:spPr>
          <a:xfrm>
            <a:off x="609585" y="915928"/>
            <a:ext cx="10972526" cy="670520"/>
          </a:xfrm>
          <a:prstGeom prst="rect">
            <a:avLst/>
          </a:prstGeom>
          <a:noFill/>
          <a:ln/>
        </p:spPr>
        <p:txBody>
          <a:bodyPr wrap="none" lIns="0" tIns="0" rIns="0" bIns="0" rtlCol="0" anchor="t"/>
          <a:lstStyle/>
          <a:p>
            <a:pPr marL="0" indent="0" algn="l">
              <a:lnSpc>
                <a:spcPct val="92000"/>
              </a:lnSpc>
              <a:buNone/>
            </a:pPr>
            <a:r>
              <a:rPr lang="en-US" sz="4800" dirty="0">
                <a:solidFill>
                  <a:srgbClr val="EAF6FA"/>
                </a:solidFill>
                <a:latin typeface="Saira Semi Condensed" pitchFamily="34" charset="0"/>
                <a:ea typeface="Saira Semi Condensed" pitchFamily="34" charset="-122"/>
                <a:cs typeface="Saira Semi Condensed" pitchFamily="34" charset="-120"/>
              </a:rPr>
              <a:t>Core Java Topics Used</a:t>
            </a:r>
            <a:endParaRPr lang="en-US" sz="4800" dirty="0"/>
          </a:p>
        </p:txBody>
      </p:sp>
      <p:sp>
        <p:nvSpPr>
          <p:cNvPr id="4" name="Shape 2"/>
          <p:cNvSpPr/>
          <p:nvPr/>
        </p:nvSpPr>
        <p:spPr>
          <a:xfrm>
            <a:off x="609585" y="1762026"/>
            <a:ext cx="10972526" cy="19050"/>
          </a:xfrm>
          <a:prstGeom prst="roundRect">
            <a:avLst>
              <a:gd name="adj" fmla="val 49999"/>
            </a:avLst>
          </a:prstGeom>
          <a:solidFill>
            <a:srgbClr val="A9DDF0"/>
          </a:solidFill>
          <a:ln/>
        </p:spPr>
      </p:sp>
      <p:sp>
        <p:nvSpPr>
          <p:cNvPr id="5" name="Shape 3"/>
          <p:cNvSpPr/>
          <p:nvPr/>
        </p:nvSpPr>
        <p:spPr>
          <a:xfrm>
            <a:off x="609585" y="1984276"/>
            <a:ext cx="5410065" cy="905371"/>
          </a:xfrm>
          <a:prstGeom prst="roundRect">
            <a:avLst>
              <a:gd name="adj" fmla="val 1262"/>
            </a:avLst>
          </a:prstGeom>
          <a:noFill/>
          <a:ln w="19050">
            <a:solidFill>
              <a:srgbClr val="23585F"/>
            </a:solidFill>
            <a:prstDash val="solid"/>
          </a:ln>
        </p:spPr>
      </p:sp>
      <p:sp>
        <p:nvSpPr>
          <p:cNvPr id="6" name="Text 4"/>
          <p:cNvSpPr/>
          <p:nvPr/>
        </p:nvSpPr>
        <p:spPr>
          <a:xfrm>
            <a:off x="755631" y="2147153"/>
            <a:ext cx="5117972" cy="237430"/>
          </a:xfrm>
          <a:prstGeom prst="rect">
            <a:avLst/>
          </a:prstGeom>
          <a:noFill/>
          <a:ln/>
        </p:spPr>
        <p:txBody>
          <a:bodyPr wrap="none" lIns="0" tIns="0" rIns="0" bIns="0" rtlCol="0" anchor="t"/>
          <a:lstStyle/>
          <a:p>
            <a:pPr marL="0" indent="0" algn="l">
              <a:lnSpc>
                <a:spcPct val="92000"/>
              </a:lnSpc>
              <a:buNone/>
            </a:pPr>
            <a:r>
              <a:rPr lang="en-US" sz="1700" dirty="0">
                <a:solidFill>
                  <a:srgbClr val="A9DDF0"/>
                </a:solidFill>
                <a:latin typeface="Saira Semi Condensed" pitchFamily="34" charset="0"/>
                <a:ea typeface="Saira Semi Condensed" pitchFamily="34" charset="-122"/>
                <a:cs typeface="Saira Semi Condensed" pitchFamily="34" charset="-120"/>
              </a:rPr>
              <a:t>Scanner &amp; I/O</a:t>
            </a:r>
            <a:endParaRPr lang="en-US" sz="1700" dirty="0"/>
          </a:p>
        </p:txBody>
      </p:sp>
      <p:sp>
        <p:nvSpPr>
          <p:cNvPr id="7" name="Text 5"/>
          <p:cNvSpPr/>
          <p:nvPr/>
        </p:nvSpPr>
        <p:spPr>
          <a:xfrm>
            <a:off x="755631" y="2499201"/>
            <a:ext cx="5264018" cy="248841"/>
          </a:xfrm>
          <a:prstGeom prst="rect">
            <a:avLst/>
          </a:prstGeom>
          <a:noFill/>
          <a:ln/>
        </p:spPr>
        <p:txBody>
          <a:bodyPr wrap="none" lIns="0" tIns="0" rIns="0" bIns="0" rtlCol="0" anchor="t"/>
          <a:lstStyle/>
          <a:p>
            <a:pPr marL="0" indent="0" algn="l">
              <a:lnSpc>
                <a:spcPct val="117000"/>
              </a:lnSpc>
              <a:buNone/>
            </a:pPr>
            <a:r>
              <a:rPr lang="en-US" sz="1400" dirty="0">
                <a:solidFill>
                  <a:srgbClr val="EAF6FA"/>
                </a:solidFill>
                <a:latin typeface="Public Sans" pitchFamily="34" charset="0"/>
                <a:ea typeface="Public Sans" pitchFamily="34" charset="-122"/>
                <a:cs typeface="Public Sans" pitchFamily="34" charset="-120"/>
              </a:rPr>
              <a:t>nextLine, nextInt, nextDouble, printf</a:t>
            </a:r>
            <a:endParaRPr lang="en-US" sz="1400" dirty="0"/>
          </a:p>
        </p:txBody>
      </p:sp>
      <p:sp>
        <p:nvSpPr>
          <p:cNvPr id="8" name="Shape 6"/>
          <p:cNvSpPr/>
          <p:nvPr/>
        </p:nvSpPr>
        <p:spPr>
          <a:xfrm>
            <a:off x="6172046" y="1984276"/>
            <a:ext cx="5410065" cy="905371"/>
          </a:xfrm>
          <a:prstGeom prst="roundRect">
            <a:avLst>
              <a:gd name="adj" fmla="val 1262"/>
            </a:avLst>
          </a:prstGeom>
          <a:noFill/>
          <a:ln w="19050">
            <a:solidFill>
              <a:srgbClr val="23585F"/>
            </a:solidFill>
            <a:prstDash val="solid"/>
          </a:ln>
        </p:spPr>
      </p:sp>
      <p:sp>
        <p:nvSpPr>
          <p:cNvPr id="9" name="Text 7"/>
          <p:cNvSpPr/>
          <p:nvPr/>
        </p:nvSpPr>
        <p:spPr>
          <a:xfrm>
            <a:off x="6318092" y="2147153"/>
            <a:ext cx="5117972" cy="237430"/>
          </a:xfrm>
          <a:prstGeom prst="rect">
            <a:avLst/>
          </a:prstGeom>
          <a:noFill/>
          <a:ln/>
        </p:spPr>
        <p:txBody>
          <a:bodyPr wrap="none" lIns="0" tIns="0" rIns="0" bIns="0" rtlCol="0" anchor="t"/>
          <a:lstStyle/>
          <a:p>
            <a:pPr marL="0" indent="0" algn="l">
              <a:lnSpc>
                <a:spcPct val="92000"/>
              </a:lnSpc>
              <a:buNone/>
            </a:pPr>
            <a:r>
              <a:rPr lang="en-US" sz="1700" dirty="0">
                <a:solidFill>
                  <a:srgbClr val="A9DDF0"/>
                </a:solidFill>
                <a:latin typeface="Saira Semi Condensed" pitchFamily="34" charset="0"/>
                <a:ea typeface="Saira Semi Condensed" pitchFamily="34" charset="-122"/>
                <a:cs typeface="Saira Semi Condensed" pitchFamily="34" charset="-120"/>
              </a:rPr>
              <a:t>Arrays</a:t>
            </a:r>
            <a:endParaRPr lang="en-US" sz="1700" dirty="0"/>
          </a:p>
        </p:txBody>
      </p:sp>
      <p:sp>
        <p:nvSpPr>
          <p:cNvPr id="10" name="Text 8"/>
          <p:cNvSpPr/>
          <p:nvPr/>
        </p:nvSpPr>
        <p:spPr>
          <a:xfrm>
            <a:off x="6318092" y="2499201"/>
            <a:ext cx="5264018" cy="248841"/>
          </a:xfrm>
          <a:prstGeom prst="rect">
            <a:avLst/>
          </a:prstGeom>
          <a:noFill/>
          <a:ln/>
        </p:spPr>
        <p:txBody>
          <a:bodyPr wrap="none" lIns="0" tIns="0" rIns="0" bIns="0" rtlCol="0" anchor="t"/>
          <a:lstStyle/>
          <a:p>
            <a:pPr marL="0" indent="0" algn="l">
              <a:lnSpc>
                <a:spcPct val="117000"/>
              </a:lnSpc>
              <a:buNone/>
            </a:pPr>
            <a:r>
              <a:rPr lang="en-US" sz="1400" dirty="0">
                <a:solidFill>
                  <a:srgbClr val="EAF6FA"/>
                </a:solidFill>
                <a:latin typeface="Public Sans" pitchFamily="34" charset="0"/>
                <a:ea typeface="Public Sans" pitchFamily="34" charset="-122"/>
                <a:cs typeface="Public Sans" pitchFamily="34" charset="-120"/>
              </a:rPr>
              <a:t>grades[], classesAttended[], totalClasses[]</a:t>
            </a:r>
            <a:endParaRPr lang="en-US" sz="1400" dirty="0"/>
          </a:p>
        </p:txBody>
      </p:sp>
      <p:sp>
        <p:nvSpPr>
          <p:cNvPr id="11" name="Shape 9"/>
          <p:cNvSpPr/>
          <p:nvPr/>
        </p:nvSpPr>
        <p:spPr>
          <a:xfrm>
            <a:off x="609585" y="3042047"/>
            <a:ext cx="5410065" cy="905371"/>
          </a:xfrm>
          <a:prstGeom prst="roundRect">
            <a:avLst>
              <a:gd name="adj" fmla="val 1262"/>
            </a:avLst>
          </a:prstGeom>
          <a:noFill/>
          <a:ln w="19050">
            <a:solidFill>
              <a:srgbClr val="23585F"/>
            </a:solidFill>
            <a:prstDash val="solid"/>
          </a:ln>
        </p:spPr>
      </p:sp>
      <p:sp>
        <p:nvSpPr>
          <p:cNvPr id="12" name="Text 10"/>
          <p:cNvSpPr/>
          <p:nvPr/>
        </p:nvSpPr>
        <p:spPr>
          <a:xfrm>
            <a:off x="755631" y="3204924"/>
            <a:ext cx="5117972" cy="237430"/>
          </a:xfrm>
          <a:prstGeom prst="rect">
            <a:avLst/>
          </a:prstGeom>
          <a:noFill/>
          <a:ln/>
        </p:spPr>
        <p:txBody>
          <a:bodyPr wrap="none" lIns="0" tIns="0" rIns="0" bIns="0" rtlCol="0" anchor="t"/>
          <a:lstStyle/>
          <a:p>
            <a:pPr marL="0" indent="0" algn="l">
              <a:lnSpc>
                <a:spcPct val="92000"/>
              </a:lnSpc>
              <a:buNone/>
            </a:pPr>
            <a:r>
              <a:rPr lang="en-US" sz="1700" dirty="0">
                <a:solidFill>
                  <a:srgbClr val="A9DDF0"/>
                </a:solidFill>
                <a:latin typeface="Saira Semi Condensed" pitchFamily="34" charset="0"/>
                <a:ea typeface="Saira Semi Condensed" pitchFamily="34" charset="-122"/>
                <a:cs typeface="Saira Semi Condensed" pitchFamily="34" charset="-120"/>
              </a:rPr>
              <a:t>Loops</a:t>
            </a:r>
            <a:endParaRPr lang="en-US" sz="1700" dirty="0"/>
          </a:p>
        </p:txBody>
      </p:sp>
      <p:sp>
        <p:nvSpPr>
          <p:cNvPr id="13" name="Text 11"/>
          <p:cNvSpPr/>
          <p:nvPr/>
        </p:nvSpPr>
        <p:spPr>
          <a:xfrm>
            <a:off x="755631" y="3556972"/>
            <a:ext cx="5264018" cy="248841"/>
          </a:xfrm>
          <a:prstGeom prst="rect">
            <a:avLst/>
          </a:prstGeom>
          <a:noFill/>
          <a:ln/>
        </p:spPr>
        <p:txBody>
          <a:bodyPr wrap="none" lIns="0" tIns="0" rIns="0" bIns="0" rtlCol="0" anchor="t"/>
          <a:lstStyle/>
          <a:p>
            <a:pPr marL="0" indent="0" algn="l">
              <a:lnSpc>
                <a:spcPct val="117000"/>
              </a:lnSpc>
              <a:buNone/>
            </a:pPr>
            <a:r>
              <a:rPr lang="en-US" sz="1400" dirty="0">
                <a:solidFill>
                  <a:srgbClr val="EAF6FA"/>
                </a:solidFill>
                <a:latin typeface="Public Sans" pitchFamily="34" charset="0"/>
                <a:ea typeface="Public Sans" pitchFamily="34" charset="-122"/>
                <a:cs typeface="Public Sans" pitchFamily="34" charset="-120"/>
              </a:rPr>
              <a:t>for loops for input and totals</a:t>
            </a:r>
            <a:endParaRPr lang="en-US" sz="1400" dirty="0"/>
          </a:p>
        </p:txBody>
      </p:sp>
      <p:sp>
        <p:nvSpPr>
          <p:cNvPr id="14" name="Shape 12"/>
          <p:cNvSpPr/>
          <p:nvPr/>
        </p:nvSpPr>
        <p:spPr>
          <a:xfrm>
            <a:off x="6172046" y="3042047"/>
            <a:ext cx="5410065" cy="905371"/>
          </a:xfrm>
          <a:prstGeom prst="roundRect">
            <a:avLst>
              <a:gd name="adj" fmla="val 1262"/>
            </a:avLst>
          </a:prstGeom>
          <a:noFill/>
          <a:ln w="19050">
            <a:solidFill>
              <a:srgbClr val="23585F"/>
            </a:solidFill>
            <a:prstDash val="solid"/>
          </a:ln>
        </p:spPr>
      </p:sp>
      <p:sp>
        <p:nvSpPr>
          <p:cNvPr id="15" name="Text 13"/>
          <p:cNvSpPr/>
          <p:nvPr/>
        </p:nvSpPr>
        <p:spPr>
          <a:xfrm>
            <a:off x="6318092" y="3204924"/>
            <a:ext cx="5117972" cy="237430"/>
          </a:xfrm>
          <a:prstGeom prst="rect">
            <a:avLst/>
          </a:prstGeom>
          <a:noFill/>
          <a:ln/>
        </p:spPr>
        <p:txBody>
          <a:bodyPr wrap="none" lIns="0" tIns="0" rIns="0" bIns="0" rtlCol="0" anchor="t"/>
          <a:lstStyle/>
          <a:p>
            <a:pPr marL="0" indent="0" algn="l">
              <a:lnSpc>
                <a:spcPct val="92000"/>
              </a:lnSpc>
              <a:buNone/>
            </a:pPr>
            <a:r>
              <a:rPr lang="en-US" sz="1700" dirty="0">
                <a:solidFill>
                  <a:srgbClr val="A9DDF0"/>
                </a:solidFill>
                <a:latin typeface="Saira Semi Condensed" pitchFamily="34" charset="0"/>
                <a:ea typeface="Saira Semi Condensed" pitchFamily="34" charset="-122"/>
                <a:cs typeface="Saira Semi Condensed" pitchFamily="34" charset="-120"/>
              </a:rPr>
              <a:t>Operators</a:t>
            </a:r>
            <a:endParaRPr lang="en-US" sz="1700" dirty="0"/>
          </a:p>
        </p:txBody>
      </p:sp>
      <p:sp>
        <p:nvSpPr>
          <p:cNvPr id="16" name="Text 14"/>
          <p:cNvSpPr/>
          <p:nvPr/>
        </p:nvSpPr>
        <p:spPr>
          <a:xfrm>
            <a:off x="6318092" y="3556972"/>
            <a:ext cx="5264018" cy="248841"/>
          </a:xfrm>
          <a:prstGeom prst="rect">
            <a:avLst/>
          </a:prstGeom>
          <a:noFill/>
          <a:ln/>
        </p:spPr>
        <p:txBody>
          <a:bodyPr wrap="none" lIns="0" tIns="0" rIns="0" bIns="0" rtlCol="0" anchor="t"/>
          <a:lstStyle/>
          <a:p>
            <a:pPr marL="0" indent="0" algn="l">
              <a:lnSpc>
                <a:spcPct val="117000"/>
              </a:lnSpc>
              <a:buNone/>
            </a:pPr>
            <a:r>
              <a:rPr lang="en-US" sz="1400" dirty="0">
                <a:solidFill>
                  <a:srgbClr val="EAF6FA"/>
                </a:solidFill>
                <a:latin typeface="Public Sans" pitchFamily="34" charset="0"/>
                <a:ea typeface="Public Sans" pitchFamily="34" charset="-122"/>
                <a:cs typeface="Public Sans" pitchFamily="34" charset="-120"/>
              </a:rPr>
              <a:t>+, /, *, +=, &gt;=, &amp;&amp;</a:t>
            </a:r>
            <a:endParaRPr lang="en-US" sz="1400" dirty="0"/>
          </a:p>
        </p:txBody>
      </p:sp>
      <p:sp>
        <p:nvSpPr>
          <p:cNvPr id="17" name="Shape 15"/>
          <p:cNvSpPr/>
          <p:nvPr/>
        </p:nvSpPr>
        <p:spPr>
          <a:xfrm>
            <a:off x="609585" y="4099818"/>
            <a:ext cx="5410065" cy="905371"/>
          </a:xfrm>
          <a:prstGeom prst="roundRect">
            <a:avLst>
              <a:gd name="adj" fmla="val 1262"/>
            </a:avLst>
          </a:prstGeom>
          <a:noFill/>
          <a:ln w="19050">
            <a:solidFill>
              <a:srgbClr val="23585F"/>
            </a:solidFill>
            <a:prstDash val="solid"/>
          </a:ln>
        </p:spPr>
      </p:sp>
      <p:sp>
        <p:nvSpPr>
          <p:cNvPr id="18" name="Text 16"/>
          <p:cNvSpPr/>
          <p:nvPr/>
        </p:nvSpPr>
        <p:spPr>
          <a:xfrm>
            <a:off x="755631" y="4262696"/>
            <a:ext cx="5117972" cy="237430"/>
          </a:xfrm>
          <a:prstGeom prst="rect">
            <a:avLst/>
          </a:prstGeom>
          <a:noFill/>
          <a:ln/>
        </p:spPr>
        <p:txBody>
          <a:bodyPr wrap="none" lIns="0" tIns="0" rIns="0" bIns="0" rtlCol="0" anchor="t"/>
          <a:lstStyle/>
          <a:p>
            <a:pPr marL="0" indent="0" algn="l">
              <a:lnSpc>
                <a:spcPct val="92000"/>
              </a:lnSpc>
              <a:buNone/>
            </a:pPr>
            <a:r>
              <a:rPr lang="en-US" sz="1700" dirty="0">
                <a:solidFill>
                  <a:srgbClr val="A9DDF0"/>
                </a:solidFill>
                <a:latin typeface="Saira Semi Condensed" pitchFamily="34" charset="0"/>
                <a:ea typeface="Saira Semi Condensed" pitchFamily="34" charset="-122"/>
                <a:cs typeface="Saira Semi Condensed" pitchFamily="34" charset="-120"/>
              </a:rPr>
              <a:t>Type casting</a:t>
            </a:r>
            <a:endParaRPr lang="en-US" sz="1700" dirty="0"/>
          </a:p>
        </p:txBody>
      </p:sp>
      <p:sp>
        <p:nvSpPr>
          <p:cNvPr id="19" name="Text 17"/>
          <p:cNvSpPr/>
          <p:nvPr/>
        </p:nvSpPr>
        <p:spPr>
          <a:xfrm>
            <a:off x="755631" y="4614744"/>
            <a:ext cx="5264018" cy="248841"/>
          </a:xfrm>
          <a:prstGeom prst="rect">
            <a:avLst/>
          </a:prstGeom>
          <a:noFill/>
          <a:ln/>
        </p:spPr>
        <p:txBody>
          <a:bodyPr wrap="none" lIns="0" tIns="0" rIns="0" bIns="0" rtlCol="0" anchor="t"/>
          <a:lstStyle/>
          <a:p>
            <a:pPr marL="0" indent="0" algn="l">
              <a:lnSpc>
                <a:spcPct val="117000"/>
              </a:lnSpc>
              <a:buNone/>
            </a:pPr>
            <a:r>
              <a:rPr lang="en-US" sz="1400" dirty="0">
                <a:solidFill>
                  <a:srgbClr val="EAF6FA"/>
                </a:solidFill>
                <a:latin typeface="Public Sans" pitchFamily="34" charset="0"/>
                <a:ea typeface="Public Sans" pitchFamily="34" charset="-122"/>
                <a:cs typeface="Public Sans" pitchFamily="34" charset="-120"/>
              </a:rPr>
              <a:t>(double) sumAttended</a:t>
            </a:r>
            <a:endParaRPr lang="en-US" sz="1400" dirty="0"/>
          </a:p>
        </p:txBody>
      </p:sp>
      <p:sp>
        <p:nvSpPr>
          <p:cNvPr id="20" name="Shape 18"/>
          <p:cNvSpPr/>
          <p:nvPr/>
        </p:nvSpPr>
        <p:spPr>
          <a:xfrm>
            <a:off x="6172046" y="4099818"/>
            <a:ext cx="5410065" cy="905371"/>
          </a:xfrm>
          <a:prstGeom prst="roundRect">
            <a:avLst>
              <a:gd name="adj" fmla="val 1262"/>
            </a:avLst>
          </a:prstGeom>
          <a:noFill/>
          <a:ln w="19050">
            <a:solidFill>
              <a:srgbClr val="23585F"/>
            </a:solidFill>
            <a:prstDash val="solid"/>
          </a:ln>
        </p:spPr>
      </p:sp>
      <p:sp>
        <p:nvSpPr>
          <p:cNvPr id="21" name="Text 19"/>
          <p:cNvSpPr/>
          <p:nvPr/>
        </p:nvSpPr>
        <p:spPr>
          <a:xfrm>
            <a:off x="6318092" y="4262696"/>
            <a:ext cx="5117972" cy="237430"/>
          </a:xfrm>
          <a:prstGeom prst="rect">
            <a:avLst/>
          </a:prstGeom>
          <a:noFill/>
          <a:ln/>
        </p:spPr>
        <p:txBody>
          <a:bodyPr wrap="none" lIns="0" tIns="0" rIns="0" bIns="0" rtlCol="0" anchor="t"/>
          <a:lstStyle/>
          <a:p>
            <a:pPr marL="0" indent="0" algn="l">
              <a:lnSpc>
                <a:spcPct val="92000"/>
              </a:lnSpc>
              <a:buNone/>
            </a:pPr>
            <a:r>
              <a:rPr lang="en-US" sz="1700" dirty="0">
                <a:solidFill>
                  <a:srgbClr val="A9DDF0"/>
                </a:solidFill>
                <a:latin typeface="Saira Semi Condensed" pitchFamily="34" charset="0"/>
                <a:ea typeface="Saira Semi Condensed" pitchFamily="34" charset="-122"/>
                <a:cs typeface="Saira Semi Condensed" pitchFamily="34" charset="-120"/>
              </a:rPr>
              <a:t>if-else</a:t>
            </a:r>
            <a:endParaRPr lang="en-US" sz="1700" dirty="0"/>
          </a:p>
        </p:txBody>
      </p:sp>
      <p:sp>
        <p:nvSpPr>
          <p:cNvPr id="22" name="Text 20"/>
          <p:cNvSpPr/>
          <p:nvPr/>
        </p:nvSpPr>
        <p:spPr>
          <a:xfrm>
            <a:off x="6318092" y="4614744"/>
            <a:ext cx="5264018" cy="248841"/>
          </a:xfrm>
          <a:prstGeom prst="rect">
            <a:avLst/>
          </a:prstGeom>
          <a:noFill/>
          <a:ln/>
        </p:spPr>
        <p:txBody>
          <a:bodyPr wrap="none" lIns="0" tIns="0" rIns="0" bIns="0" rtlCol="0" anchor="t"/>
          <a:lstStyle/>
          <a:p>
            <a:pPr marL="0" indent="0" algn="l">
              <a:lnSpc>
                <a:spcPct val="117000"/>
              </a:lnSpc>
              <a:buNone/>
            </a:pPr>
            <a:r>
              <a:rPr lang="en-US" sz="1400" dirty="0">
                <a:solidFill>
                  <a:srgbClr val="EAF6FA"/>
                </a:solidFill>
                <a:latin typeface="Public Sans" pitchFamily="34" charset="0"/>
                <a:ea typeface="Public Sans" pitchFamily="34" charset="-122"/>
                <a:cs typeface="Public Sans" pitchFamily="34" charset="-120"/>
              </a:rPr>
              <a:t>grade category selection</a:t>
            </a:r>
            <a:endParaRPr lang="en-US" sz="1400" dirty="0"/>
          </a:p>
        </p:txBody>
      </p:sp>
      <p:sp>
        <p:nvSpPr>
          <p:cNvPr id="23" name="Shape 21"/>
          <p:cNvSpPr/>
          <p:nvPr/>
        </p:nvSpPr>
        <p:spPr>
          <a:xfrm>
            <a:off x="609585" y="5157589"/>
            <a:ext cx="5410065" cy="905371"/>
          </a:xfrm>
          <a:prstGeom prst="roundRect">
            <a:avLst>
              <a:gd name="adj" fmla="val 1262"/>
            </a:avLst>
          </a:prstGeom>
          <a:noFill/>
          <a:ln w="19050">
            <a:solidFill>
              <a:srgbClr val="23585F"/>
            </a:solidFill>
            <a:prstDash val="solid"/>
          </a:ln>
        </p:spPr>
      </p:sp>
      <p:sp>
        <p:nvSpPr>
          <p:cNvPr id="24" name="Text 22"/>
          <p:cNvSpPr/>
          <p:nvPr/>
        </p:nvSpPr>
        <p:spPr>
          <a:xfrm>
            <a:off x="755631" y="5320467"/>
            <a:ext cx="5117972" cy="237430"/>
          </a:xfrm>
          <a:prstGeom prst="rect">
            <a:avLst/>
          </a:prstGeom>
          <a:noFill/>
          <a:ln/>
        </p:spPr>
        <p:txBody>
          <a:bodyPr wrap="none" lIns="0" tIns="0" rIns="0" bIns="0" rtlCol="0" anchor="t"/>
          <a:lstStyle/>
          <a:p>
            <a:pPr marL="0" indent="0" algn="l">
              <a:lnSpc>
                <a:spcPct val="92000"/>
              </a:lnSpc>
              <a:buNone/>
            </a:pPr>
            <a:r>
              <a:rPr lang="en-US" sz="1700" dirty="0">
                <a:solidFill>
                  <a:srgbClr val="A9DDF0"/>
                </a:solidFill>
                <a:latin typeface="Saira Semi Condensed" pitchFamily="34" charset="0"/>
                <a:ea typeface="Saira Semi Condensed" pitchFamily="34" charset="-122"/>
                <a:cs typeface="Saira Semi Condensed" pitchFamily="34" charset="-120"/>
              </a:rPr>
              <a:t>switch</a:t>
            </a:r>
            <a:endParaRPr lang="en-US" sz="1700" dirty="0"/>
          </a:p>
        </p:txBody>
      </p:sp>
      <p:sp>
        <p:nvSpPr>
          <p:cNvPr id="25" name="Text 23"/>
          <p:cNvSpPr/>
          <p:nvPr/>
        </p:nvSpPr>
        <p:spPr>
          <a:xfrm>
            <a:off x="755631" y="5672515"/>
            <a:ext cx="5264018" cy="248841"/>
          </a:xfrm>
          <a:prstGeom prst="rect">
            <a:avLst/>
          </a:prstGeom>
          <a:noFill/>
          <a:ln/>
        </p:spPr>
        <p:txBody>
          <a:bodyPr wrap="none" lIns="0" tIns="0" rIns="0" bIns="0" rtlCol="0" anchor="t"/>
          <a:lstStyle/>
          <a:p>
            <a:pPr marL="0" indent="0" algn="l">
              <a:lnSpc>
                <a:spcPct val="117000"/>
              </a:lnSpc>
              <a:buNone/>
            </a:pPr>
            <a:r>
              <a:rPr lang="en-US" sz="1400" dirty="0">
                <a:solidFill>
                  <a:srgbClr val="EAF6FA"/>
                </a:solidFill>
                <a:latin typeface="Public Sans" pitchFamily="34" charset="0"/>
                <a:ea typeface="Public Sans" pitchFamily="34" charset="-122"/>
                <a:cs typeface="Public Sans" pitchFamily="34" charset="-120"/>
              </a:rPr>
              <a:t>category to letter grade</a:t>
            </a:r>
            <a:endParaRPr lang="en-US" sz="1400" dirty="0"/>
          </a:p>
        </p:txBody>
      </p:sp>
      <p:sp>
        <p:nvSpPr>
          <p:cNvPr id="26" name="Shape 24"/>
          <p:cNvSpPr/>
          <p:nvPr/>
        </p:nvSpPr>
        <p:spPr>
          <a:xfrm>
            <a:off x="6172046" y="5157589"/>
            <a:ext cx="5410065" cy="905371"/>
          </a:xfrm>
          <a:prstGeom prst="roundRect">
            <a:avLst>
              <a:gd name="adj" fmla="val 1262"/>
            </a:avLst>
          </a:prstGeom>
          <a:solidFill>
            <a:srgbClr val="7C3AED"/>
          </a:solidFill>
          <a:ln/>
        </p:spPr>
      </p:sp>
      <p:sp>
        <p:nvSpPr>
          <p:cNvPr id="27" name="Text 25"/>
          <p:cNvSpPr/>
          <p:nvPr/>
        </p:nvSpPr>
        <p:spPr>
          <a:xfrm>
            <a:off x="6299042" y="5301417"/>
            <a:ext cx="5156071" cy="237430"/>
          </a:xfrm>
          <a:prstGeom prst="rect">
            <a:avLst/>
          </a:prstGeom>
          <a:noFill/>
          <a:ln/>
        </p:spPr>
        <p:txBody>
          <a:bodyPr wrap="none" lIns="0" tIns="0" rIns="0" bIns="0" rtlCol="0" anchor="t"/>
          <a:lstStyle/>
          <a:p>
            <a:pPr marL="0" indent="0" algn="l">
              <a:lnSpc>
                <a:spcPct val="92000"/>
              </a:lnSpc>
              <a:buNone/>
            </a:pPr>
            <a:r>
              <a:rPr lang="en-US" sz="1700" dirty="0">
                <a:solidFill>
                  <a:srgbClr val="FFFFFF"/>
                </a:solidFill>
                <a:latin typeface="Saira Semi Condensed" pitchFamily="34" charset="0"/>
                <a:ea typeface="Saira Semi Condensed" pitchFamily="34" charset="-122"/>
                <a:cs typeface="Saira Semi Condensed" pitchFamily="34" charset="-120"/>
              </a:rPr>
              <a:t>Ternary ?:</a:t>
            </a:r>
            <a:endParaRPr lang="en-US" sz="1700" dirty="0"/>
          </a:p>
        </p:txBody>
      </p:sp>
      <p:sp>
        <p:nvSpPr>
          <p:cNvPr id="28" name="Text 26"/>
          <p:cNvSpPr/>
          <p:nvPr/>
        </p:nvSpPr>
        <p:spPr>
          <a:xfrm>
            <a:off x="6299042" y="5653465"/>
            <a:ext cx="5283068" cy="248841"/>
          </a:xfrm>
          <a:prstGeom prst="rect">
            <a:avLst/>
          </a:prstGeom>
          <a:noFill/>
          <a:ln/>
        </p:spPr>
        <p:txBody>
          <a:bodyPr wrap="none" lIns="0" tIns="0" rIns="0" bIns="0" rtlCol="0" anchor="t"/>
          <a:lstStyle/>
          <a:p>
            <a:pPr marL="0" indent="0" algn="l">
              <a:lnSpc>
                <a:spcPct val="117000"/>
              </a:lnSpc>
              <a:buNone/>
            </a:pPr>
            <a:r>
              <a:rPr lang="en-US" sz="1400" dirty="0">
                <a:solidFill>
                  <a:srgbClr val="FFFFFF"/>
                </a:solidFill>
                <a:latin typeface="Public Sans" pitchFamily="34" charset="0"/>
                <a:ea typeface="Public Sans" pitchFamily="34" charset="-122"/>
                <a:cs typeface="Public Sans" pitchFamily="34" charset="-120"/>
              </a:rPr>
              <a:t>eligibility status message</a:t>
            </a:r>
            <a:endParaRPr lang="en-US" sz="1400" dirty="0"/>
          </a:p>
        </p:txBody>
      </p:sp>
      <p:sp>
        <p:nvSpPr>
          <p:cNvPr id="29" name="Text 27"/>
          <p:cNvSpPr/>
          <p:nvPr/>
        </p:nvSpPr>
        <p:spPr>
          <a:xfrm>
            <a:off x="11939686" y="6466086"/>
            <a:ext cx="252009" cy="174129"/>
          </a:xfrm>
          <a:prstGeom prst="rect">
            <a:avLst/>
          </a:prstGeom>
          <a:noFill/>
          <a:ln/>
        </p:spPr>
        <p:txBody>
          <a:bodyPr wrap="none" lIns="0" tIns="0" rIns="0" bIns="0" rtlCol="0" anchor="ctr"/>
          <a:lstStyle/>
          <a:p>
            <a:pPr marL="0" indent="0" algn="l">
              <a:lnSpc>
                <a:spcPct val="117000"/>
              </a:lnSpc>
              <a:buNone/>
            </a:pPr>
            <a:r>
              <a:rPr lang="en-US" sz="1000" dirty="0">
                <a:solidFill>
                  <a:srgbClr val="EAF6FA"/>
                </a:solidFill>
                <a:latin typeface="Public Sans" pitchFamily="34" charset="0"/>
                <a:ea typeface="Public Sans" pitchFamily="34" charset="-122"/>
                <a:cs typeface="Public Sans" pitchFamily="34" charset="-120"/>
              </a:rPr>
              <a:t>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85" y="610553"/>
            <a:ext cx="11582110"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A9DDF0"/>
                </a:solidFill>
                <a:latin typeface="Public Sans" pitchFamily="34" charset="0"/>
                <a:ea typeface="Public Sans" pitchFamily="34" charset="-122"/>
                <a:cs typeface="Public Sans" pitchFamily="34" charset="-120"/>
              </a:rPr>
              <a:t>TOPIC 1 / IMMUTABLE RULES</a:t>
            </a:r>
            <a:endParaRPr lang="en-US" sz="1050" dirty="0"/>
          </a:p>
        </p:txBody>
      </p:sp>
      <p:sp>
        <p:nvSpPr>
          <p:cNvPr id="3" name="Text 1"/>
          <p:cNvSpPr/>
          <p:nvPr/>
        </p:nvSpPr>
        <p:spPr>
          <a:xfrm>
            <a:off x="609585" y="915928"/>
            <a:ext cx="10972526" cy="670520"/>
          </a:xfrm>
          <a:prstGeom prst="rect">
            <a:avLst/>
          </a:prstGeom>
          <a:noFill/>
          <a:ln/>
        </p:spPr>
        <p:txBody>
          <a:bodyPr wrap="none" lIns="0" tIns="0" rIns="0" bIns="0" rtlCol="0" anchor="t"/>
          <a:lstStyle/>
          <a:p>
            <a:pPr marL="0" indent="0" algn="l">
              <a:lnSpc>
                <a:spcPct val="92000"/>
              </a:lnSpc>
              <a:buNone/>
            </a:pPr>
            <a:r>
              <a:rPr lang="en-US" sz="4800" dirty="0">
                <a:solidFill>
                  <a:srgbClr val="EAF6FA"/>
                </a:solidFill>
                <a:latin typeface="Saira Semi Condensed" pitchFamily="34" charset="0"/>
                <a:ea typeface="Saira Semi Condensed" pitchFamily="34" charset="-122"/>
                <a:cs typeface="Saira Semi Condensed" pitchFamily="34" charset="-120"/>
              </a:rPr>
              <a:t>Topic 1: final Keyword (final variable)</a:t>
            </a:r>
            <a:endParaRPr lang="en-US" sz="4800" dirty="0"/>
          </a:p>
        </p:txBody>
      </p:sp>
      <p:sp>
        <p:nvSpPr>
          <p:cNvPr id="4" name="Shape 2"/>
          <p:cNvSpPr/>
          <p:nvPr/>
        </p:nvSpPr>
        <p:spPr>
          <a:xfrm>
            <a:off x="609585" y="1762026"/>
            <a:ext cx="10972526" cy="19050"/>
          </a:xfrm>
          <a:prstGeom prst="roundRect">
            <a:avLst>
              <a:gd name="adj" fmla="val 49999"/>
            </a:avLst>
          </a:prstGeom>
          <a:solidFill>
            <a:srgbClr val="2F6A73"/>
          </a:solidFill>
          <a:ln/>
        </p:spPr>
      </p:sp>
      <p:sp>
        <p:nvSpPr>
          <p:cNvPr id="5" name="Shape 3"/>
          <p:cNvSpPr/>
          <p:nvPr/>
        </p:nvSpPr>
        <p:spPr>
          <a:xfrm>
            <a:off x="609585" y="1984276"/>
            <a:ext cx="4556706" cy="4294882"/>
          </a:xfrm>
          <a:prstGeom prst="roundRect">
            <a:avLst>
              <a:gd name="adj" fmla="val 266"/>
            </a:avLst>
          </a:prstGeom>
          <a:noFill/>
          <a:ln w="19050">
            <a:solidFill>
              <a:srgbClr val="23585F"/>
            </a:solidFill>
            <a:prstDash val="solid"/>
          </a:ln>
        </p:spPr>
      </p:sp>
      <p:sp>
        <p:nvSpPr>
          <p:cNvPr id="6" name="Text 4"/>
          <p:cNvSpPr/>
          <p:nvPr/>
        </p:nvSpPr>
        <p:spPr>
          <a:xfrm>
            <a:off x="882628" y="2257326"/>
            <a:ext cx="4010619" cy="1626394"/>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EAF6FA"/>
                </a:solidFill>
                <a:latin typeface="Public Sans" pitchFamily="34" charset="0"/>
                <a:ea typeface="Public Sans" pitchFamily="34" charset="-122"/>
                <a:cs typeface="Public Sans" pitchFamily="34" charset="-120"/>
              </a:rPr>
              <a:t>final variable: value cannot be changed after it is set</a:t>
            </a:r>
            <a:endParaRPr lang="en-US" sz="1400" dirty="0"/>
          </a:p>
          <a:p>
            <a:pPr marL="284480" indent="-284480" algn="l">
              <a:lnSpc>
                <a:spcPct val="117000"/>
              </a:lnSpc>
              <a:buSzPct val="100000"/>
              <a:buChar char="•"/>
            </a:pPr>
            <a:r>
              <a:rPr lang="en-US" sz="1400" dirty="0">
                <a:solidFill>
                  <a:srgbClr val="EAF6FA"/>
                </a:solidFill>
                <a:latin typeface="Public Sans" pitchFamily="34" charset="0"/>
                <a:ea typeface="Public Sans" pitchFamily="34" charset="-122"/>
                <a:cs typeface="Public Sans" pitchFamily="34" charset="-120"/>
              </a:rPr>
              <a:t>Used for fixed rules of the university</a:t>
            </a:r>
            <a:endParaRPr lang="en-US" sz="1400" dirty="0"/>
          </a:p>
          <a:p>
            <a:pPr marL="284480" indent="-284480" algn="l">
              <a:lnSpc>
                <a:spcPct val="117000"/>
              </a:lnSpc>
              <a:buSzPct val="100000"/>
              <a:buChar char="•"/>
            </a:pPr>
            <a:r>
              <a:rPr lang="en-US" sz="1400" dirty="0">
                <a:solidFill>
                  <a:srgbClr val="EAF6FA"/>
                </a:solidFill>
                <a:latin typeface="Public Sans" pitchFamily="34" charset="0"/>
                <a:ea typeface="Public Sans" pitchFamily="34" charset="-122"/>
                <a:cs typeface="Public Sans" pitchFamily="34" charset="-120"/>
              </a:rPr>
              <a:t>Changing it later gives a compile-time error</a:t>
            </a:r>
            <a:endParaRPr lang="en-US" sz="1400" dirty="0"/>
          </a:p>
          <a:p>
            <a:pPr marL="284480" indent="-284480" algn="l">
              <a:lnSpc>
                <a:spcPct val="117000"/>
              </a:lnSpc>
              <a:buSzPct val="100000"/>
              <a:buChar char="•"/>
            </a:pPr>
            <a:r>
              <a:rPr lang="en-US" sz="1400" dirty="0">
                <a:solidFill>
                  <a:srgbClr val="EAF6FA"/>
                </a:solidFill>
                <a:latin typeface="Public Sans" pitchFamily="34" charset="0"/>
                <a:ea typeface="Public Sans" pitchFamily="34" charset="-122"/>
                <a:cs typeface="Public Sans" pitchFamily="34" charset="-120"/>
              </a:rPr>
              <a:t>Keeps 75.0 and 60.0 in one place, no magic numbers</a:t>
            </a:r>
            <a:endParaRPr lang="en-US" sz="1400" dirty="0"/>
          </a:p>
        </p:txBody>
      </p:sp>
      <p:sp>
        <p:nvSpPr>
          <p:cNvPr id="7" name="Shape 5"/>
          <p:cNvSpPr/>
          <p:nvPr/>
        </p:nvSpPr>
        <p:spPr>
          <a:xfrm>
            <a:off x="5623380" y="1984276"/>
            <a:ext cx="5958731" cy="4294882"/>
          </a:xfrm>
          <a:prstGeom prst="rect">
            <a:avLst/>
          </a:prstGeom>
          <a:solidFill>
            <a:srgbClr val="0A3F46"/>
          </a:solidFill>
          <a:ln/>
        </p:spPr>
      </p:sp>
      <p:sp>
        <p:nvSpPr>
          <p:cNvPr id="8" name="Text 6"/>
          <p:cNvSpPr/>
          <p:nvPr/>
        </p:nvSpPr>
        <p:spPr>
          <a:xfrm>
            <a:off x="5877373" y="2239228"/>
            <a:ext cx="5704737"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FFFFFF"/>
                </a:solidFill>
                <a:latin typeface="Public Sans" pitchFamily="34" charset="0"/>
                <a:ea typeface="Public Sans" pitchFamily="34" charset="-122"/>
                <a:cs typeface="Public Sans" pitchFamily="34" charset="-120"/>
              </a:rPr>
              <a:t>CONSTANTS IN THE ELIGIBILITY CHECK</a:t>
            </a:r>
            <a:endParaRPr lang="en-US" sz="1050" dirty="0"/>
          </a:p>
        </p:txBody>
      </p:sp>
      <p:sp>
        <p:nvSpPr>
          <p:cNvPr id="9" name="Shape 7"/>
          <p:cNvSpPr/>
          <p:nvPr/>
        </p:nvSpPr>
        <p:spPr>
          <a:xfrm>
            <a:off x="5877373" y="2624931"/>
            <a:ext cx="5450743" cy="3200202"/>
          </a:xfrm>
          <a:prstGeom prst="roundRect">
            <a:avLst>
              <a:gd name="adj" fmla="val 357"/>
            </a:avLst>
          </a:prstGeom>
          <a:solidFill>
            <a:srgbClr val="13272B"/>
          </a:solidFill>
          <a:ln/>
        </p:spPr>
      </p:sp>
      <p:sp>
        <p:nvSpPr>
          <p:cNvPr id="10" name="Text 8"/>
          <p:cNvSpPr/>
          <p:nvPr/>
        </p:nvSpPr>
        <p:spPr>
          <a:xfrm>
            <a:off x="6090688" y="2803049"/>
            <a:ext cx="5024113" cy="2844602"/>
          </a:xfrm>
          <a:prstGeom prst="rect">
            <a:avLst/>
          </a:prstGeom>
          <a:noFill/>
          <a:ln/>
        </p:spPr>
        <p:txBody>
          <a:bodyPr wrap="square" lIns="0" tIns="0" rIns="0" bIns="0" rtlCol="0" anchor="t">
            <a:normAutofit/>
          </a:bodyPr>
          <a:lstStyle/>
          <a:p>
            <a:pPr marL="0" indent="0" algn="l">
              <a:lnSpc>
                <a:spcPct val="133000"/>
              </a:lnSpc>
              <a:buNone/>
            </a:pPr>
            <a:r>
              <a:rPr lang="en-US" sz="1400" dirty="0">
                <a:solidFill>
                  <a:srgbClr val="FF7B72"/>
                </a:solidFill>
                <a:latin typeface="Consolas" pitchFamily="34" charset="0"/>
                <a:ea typeface="Consolas" pitchFamily="34" charset="-122"/>
                <a:cs typeface="Consolas" pitchFamily="34" charset="-120"/>
              </a:rPr>
              <a:t>static final String UNIVERSITY_NAME =</a:t>
            </a:r>
            <a:endParaRPr lang="en-US" sz="1400" dirty="0"/>
          </a:p>
          <a:p>
            <a:pPr marL="0" indent="0" algn="l">
              <a:lnSpc>
                <a:spcPct val="133000"/>
              </a:lnSpc>
              <a:buNone/>
            </a:pPr>
            <a:r>
              <a:rPr lang="en-US" sz="1400" dirty="0">
                <a:solidFill>
                  <a:srgbClr val="FF7B72"/>
                </a:solidFill>
                <a:latin typeface="Consolas" pitchFamily="34" charset="0"/>
                <a:ea typeface="Consolas" pitchFamily="34" charset="-122"/>
                <a:cs typeface="Consolas" pitchFamily="34" charset="-120"/>
              </a:rPr>
              <a:t>    "KLU University, Hyd";</a:t>
            </a:r>
            <a:endParaRPr lang="en-US" sz="1400" dirty="0"/>
          </a:p>
          <a:p>
            <a:pPr marL="0" indent="0" algn="l">
              <a:lnSpc>
                <a:spcPct val="133000"/>
              </a:lnSpc>
              <a:buNone/>
            </a:pPr>
            <a:r>
              <a:rPr lang="en-US" sz="1400" dirty="0">
                <a:solidFill>
                  <a:srgbClr val="FF7B72"/>
                </a:solidFill>
                <a:latin typeface="Consolas" pitchFamily="34" charset="0"/>
                <a:ea typeface="Consolas" pitchFamily="34" charset="-122"/>
                <a:cs typeface="Consolas" pitchFamily="34" charset="-120"/>
              </a:rPr>
              <a:t>static final double MIN_ATTENDANCE = 75.0;</a:t>
            </a:r>
            <a:endParaRPr lang="en-US" sz="1400" dirty="0"/>
          </a:p>
          <a:p>
            <a:pPr marL="0" indent="0" algn="l">
              <a:lnSpc>
                <a:spcPct val="133000"/>
              </a:lnSpc>
              <a:buNone/>
            </a:pPr>
            <a:r>
              <a:rPr lang="en-US" sz="1400" dirty="0">
                <a:solidFill>
                  <a:srgbClr val="FF7B72"/>
                </a:solidFill>
                <a:latin typeface="Consolas" pitchFamily="34" charset="0"/>
                <a:ea typeface="Consolas" pitchFamily="34" charset="-122"/>
                <a:cs typeface="Consolas" pitchFamily="34" charset="-120"/>
              </a:rPr>
              <a:t>static final double PASS_PERCENTAGE = 60.0;</a:t>
            </a:r>
            <a:endParaRPr lang="en-US" sz="1400" dirty="0"/>
          </a:p>
          <a:p>
            <a:pPr marL="0" indent="0" algn="l">
              <a:lnSpc>
                <a:spcPct val="133000"/>
              </a:lnSpc>
              <a:buNone/>
            </a:pPr>
            <a:endParaRPr lang="en-US" sz="1400" dirty="0"/>
          </a:p>
          <a:p>
            <a:pPr marL="0" indent="0" algn="l">
              <a:lnSpc>
                <a:spcPct val="133000"/>
              </a:lnSpc>
              <a:buNone/>
            </a:pPr>
            <a:r>
              <a:rPr lang="en-US" sz="1400" dirty="0">
                <a:solidFill>
                  <a:srgbClr val="FF7B72"/>
                </a:solidFill>
                <a:latin typeface="Consolas" pitchFamily="34" charset="0"/>
                <a:ea typeface="Consolas" pitchFamily="34" charset="-122"/>
                <a:cs typeface="Consolas" pitchFamily="34" charset="-120"/>
              </a:rPr>
              <a:t>// used in eligibility check</a:t>
            </a:r>
            <a:endParaRPr lang="en-US" sz="1400" dirty="0"/>
          </a:p>
          <a:p>
            <a:pPr marL="0" indent="0" algn="l">
              <a:lnSpc>
                <a:spcPct val="133000"/>
              </a:lnSpc>
              <a:buNone/>
            </a:pPr>
            <a:r>
              <a:rPr lang="en-US" sz="1400" dirty="0">
                <a:solidFill>
                  <a:srgbClr val="FF7B72"/>
                </a:solidFill>
                <a:latin typeface="Consolas" pitchFamily="34" charset="0"/>
                <a:ea typeface="Consolas" pitchFamily="34" charset="-122"/>
                <a:cs typeface="Consolas" pitchFamily="34" charset="-120"/>
              </a:rPr>
              <a:t>boolean meetsAttendance =</a:t>
            </a:r>
            <a:endParaRPr lang="en-US" sz="1400" dirty="0"/>
          </a:p>
          <a:p>
            <a:pPr marL="0" indent="0" algn="l">
              <a:lnSpc>
                <a:spcPct val="133000"/>
              </a:lnSpc>
              <a:buNone/>
            </a:pPr>
            <a:r>
              <a:rPr lang="en-US" sz="1400" dirty="0">
                <a:solidFill>
                  <a:srgbClr val="FF7B72"/>
                </a:solidFill>
                <a:latin typeface="Consolas" pitchFamily="34" charset="0"/>
                <a:ea typeface="Consolas" pitchFamily="34" charset="-122"/>
                <a:cs typeface="Consolas" pitchFamily="34" charset="-120"/>
              </a:rPr>
              <a:t>  attendancePercentage &gt;= MIN_ATTENDANCE;</a:t>
            </a:r>
            <a:endParaRPr lang="en-US" sz="1400" dirty="0"/>
          </a:p>
          <a:p>
            <a:pPr marL="0" indent="0" algn="l">
              <a:lnSpc>
                <a:spcPct val="133000"/>
              </a:lnSpc>
              <a:buNone/>
            </a:pPr>
            <a:r>
              <a:rPr lang="en-US" sz="1400" dirty="0">
                <a:solidFill>
                  <a:srgbClr val="FF7B72"/>
                </a:solidFill>
                <a:latin typeface="Consolas" pitchFamily="34" charset="0"/>
                <a:ea typeface="Consolas" pitchFamily="34" charset="-122"/>
                <a:cs typeface="Consolas" pitchFamily="34" charset="-120"/>
              </a:rPr>
              <a:t>boolean passesGrades =</a:t>
            </a:r>
            <a:endParaRPr lang="en-US" sz="1400" dirty="0"/>
          </a:p>
          <a:p>
            <a:pPr marL="0" indent="0" algn="l">
              <a:lnSpc>
                <a:spcPct val="133000"/>
              </a:lnSpc>
              <a:buNone/>
            </a:pPr>
            <a:r>
              <a:rPr lang="en-US" sz="1400" dirty="0">
                <a:solidFill>
                  <a:srgbClr val="FF7B72"/>
                </a:solidFill>
                <a:latin typeface="Consolas" pitchFamily="34" charset="0"/>
                <a:ea typeface="Consolas" pitchFamily="34" charset="-122"/>
                <a:cs typeface="Consolas" pitchFamily="34" charset="-120"/>
              </a:rPr>
              <a:t>  averageGrade &gt;= PASS_PERCENTAGE;</a:t>
            </a:r>
            <a:endParaRPr lang="en-US" sz="1400" dirty="0"/>
          </a:p>
        </p:txBody>
      </p:sp>
      <p:sp>
        <p:nvSpPr>
          <p:cNvPr id="11" name="Text 9"/>
          <p:cNvSpPr/>
          <p:nvPr/>
        </p:nvSpPr>
        <p:spPr>
          <a:xfrm>
            <a:off x="11935419" y="6466086"/>
            <a:ext cx="256276" cy="174129"/>
          </a:xfrm>
          <a:prstGeom prst="rect">
            <a:avLst/>
          </a:prstGeom>
          <a:noFill/>
          <a:ln/>
        </p:spPr>
        <p:txBody>
          <a:bodyPr wrap="none" lIns="0" tIns="0" rIns="0" bIns="0" rtlCol="0" anchor="ctr"/>
          <a:lstStyle/>
          <a:p>
            <a:pPr marL="0" indent="0" algn="l">
              <a:lnSpc>
                <a:spcPct val="117000"/>
              </a:lnSpc>
              <a:buNone/>
            </a:pPr>
            <a:r>
              <a:rPr lang="en-US" sz="1000" dirty="0">
                <a:solidFill>
                  <a:srgbClr val="EAF6FA"/>
                </a:solidFill>
                <a:latin typeface="Public Sans" pitchFamily="34" charset="0"/>
                <a:ea typeface="Public Sans" pitchFamily="34" charset="-122"/>
                <a:cs typeface="Public Sans" pitchFamily="34" charset="-120"/>
              </a:rPr>
              <a:t>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85" y="610553"/>
            <a:ext cx="11582110"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A9DDF0"/>
                </a:solidFill>
                <a:latin typeface="Public Sans" pitchFamily="34" charset="0"/>
                <a:ea typeface="Public Sans" pitchFamily="34" charset="-122"/>
                <a:cs typeface="Public Sans" pitchFamily="34" charset="-120"/>
              </a:rPr>
              <a:t>TOPIC 2 / COLLECTION FRAMEWORK</a:t>
            </a:r>
            <a:endParaRPr lang="en-US" sz="1050" dirty="0"/>
          </a:p>
        </p:txBody>
      </p:sp>
      <p:sp>
        <p:nvSpPr>
          <p:cNvPr id="3" name="Text 1"/>
          <p:cNvSpPr/>
          <p:nvPr/>
        </p:nvSpPr>
        <p:spPr>
          <a:xfrm>
            <a:off x="609585" y="900688"/>
            <a:ext cx="10972526" cy="502841"/>
          </a:xfrm>
          <a:prstGeom prst="rect">
            <a:avLst/>
          </a:prstGeom>
          <a:noFill/>
          <a:ln/>
        </p:spPr>
        <p:txBody>
          <a:bodyPr wrap="none" lIns="0" tIns="0" rIns="0" bIns="0" rtlCol="0" anchor="t"/>
          <a:lstStyle/>
          <a:p>
            <a:pPr marL="0" indent="0" algn="l">
              <a:lnSpc>
                <a:spcPct val="92000"/>
              </a:lnSpc>
              <a:buNone/>
            </a:pPr>
            <a:r>
              <a:rPr lang="en-US" sz="3600" dirty="0">
                <a:solidFill>
                  <a:srgbClr val="EAF6FA"/>
                </a:solidFill>
                <a:latin typeface="Saira Semi Condensed" pitchFamily="34" charset="0"/>
                <a:ea typeface="Saira Semi Condensed" pitchFamily="34" charset="-122"/>
                <a:cs typeface="Saira Semi Condensed" pitchFamily="34" charset="-120"/>
              </a:rPr>
              <a:t>Topic 2: Collection Framework (ArrayList + Iterator)</a:t>
            </a:r>
            <a:endParaRPr lang="en-US" sz="3600" dirty="0"/>
          </a:p>
        </p:txBody>
      </p:sp>
      <p:sp>
        <p:nvSpPr>
          <p:cNvPr id="4" name="Shape 2"/>
          <p:cNvSpPr/>
          <p:nvPr/>
        </p:nvSpPr>
        <p:spPr>
          <a:xfrm>
            <a:off x="609585" y="1594346"/>
            <a:ext cx="10972526" cy="19050"/>
          </a:xfrm>
          <a:prstGeom prst="roundRect">
            <a:avLst>
              <a:gd name="adj" fmla="val 49999"/>
            </a:avLst>
          </a:prstGeom>
          <a:solidFill>
            <a:srgbClr val="2F6A73"/>
          </a:solidFill>
          <a:ln/>
        </p:spPr>
      </p:sp>
      <p:sp>
        <p:nvSpPr>
          <p:cNvPr id="5" name="Shape 3"/>
          <p:cNvSpPr/>
          <p:nvPr/>
        </p:nvSpPr>
        <p:spPr>
          <a:xfrm>
            <a:off x="609585" y="1816596"/>
            <a:ext cx="4556706" cy="3990082"/>
          </a:xfrm>
          <a:prstGeom prst="roundRect">
            <a:avLst>
              <a:gd name="adj" fmla="val 286"/>
            </a:avLst>
          </a:prstGeom>
          <a:noFill/>
          <a:ln w="19050">
            <a:solidFill>
              <a:srgbClr val="23585F"/>
            </a:solidFill>
            <a:prstDash val="solid"/>
          </a:ln>
        </p:spPr>
      </p:sp>
      <p:sp>
        <p:nvSpPr>
          <p:cNvPr id="6" name="Text 4"/>
          <p:cNvSpPr/>
          <p:nvPr/>
        </p:nvSpPr>
        <p:spPr>
          <a:xfrm>
            <a:off x="730232" y="1937246"/>
            <a:ext cx="4315412" cy="1626394"/>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EAF6FA"/>
                </a:solidFill>
                <a:latin typeface="Public Sans" pitchFamily="34" charset="0"/>
                <a:ea typeface="Public Sans" pitchFamily="34" charset="-122"/>
                <a:cs typeface="Public Sans" pitchFamily="34" charset="-120"/>
              </a:rPr>
              <a:t>ArrayList: dynamic array that stores subject names</a:t>
            </a:r>
            <a:endParaRPr lang="en-US" sz="1400" dirty="0"/>
          </a:p>
          <a:p>
            <a:pPr marL="284480" indent="-284480" algn="l">
              <a:lnSpc>
                <a:spcPct val="117000"/>
              </a:lnSpc>
              <a:buSzPct val="100000"/>
              <a:buChar char="•"/>
            </a:pPr>
            <a:r>
              <a:rPr lang="en-US" sz="1400" dirty="0">
                <a:solidFill>
                  <a:srgbClr val="EAF6FA"/>
                </a:solidFill>
                <a:latin typeface="Public Sans" pitchFamily="34" charset="0"/>
                <a:ea typeface="Public Sans" pitchFamily="34" charset="-122"/>
                <a:cs typeface="Public Sans" pitchFamily="34" charset="-120"/>
              </a:rPr>
              <a:t>Grows automatically, unlike a fixed array</a:t>
            </a:r>
            <a:endParaRPr lang="en-US" sz="1400" dirty="0"/>
          </a:p>
          <a:p>
            <a:pPr marL="284480" indent="-284480" algn="l">
              <a:lnSpc>
                <a:spcPct val="117000"/>
              </a:lnSpc>
              <a:buSzPct val="100000"/>
              <a:buChar char="•"/>
            </a:pPr>
            <a:r>
              <a:rPr lang="en-US" sz="1400" dirty="0">
                <a:solidFill>
                  <a:srgbClr val="EAF6FA"/>
                </a:solidFill>
                <a:latin typeface="Public Sans" pitchFamily="34" charset="0"/>
                <a:ea typeface="Public Sans" pitchFamily="34" charset="-122"/>
                <a:cs typeface="Public Sans" pitchFamily="34" charset="-120"/>
              </a:rPr>
              <a:t>Iterator: moves through elements with hasNext() and next()</a:t>
            </a:r>
            <a:endParaRPr lang="en-US" sz="1400" dirty="0"/>
          </a:p>
          <a:p>
            <a:pPr marL="284480" indent="-284480" algn="l">
              <a:lnSpc>
                <a:spcPct val="117000"/>
              </a:lnSpc>
              <a:buSzPct val="100000"/>
              <a:buChar char="•"/>
            </a:pPr>
            <a:r>
              <a:rPr lang="en-US" sz="1400" dirty="0">
                <a:solidFill>
                  <a:srgbClr val="EAF6FA"/>
                </a:solidFill>
                <a:latin typeface="Public Sans" pitchFamily="34" charset="0"/>
                <a:ea typeface="Public Sans" pitchFamily="34" charset="-122"/>
                <a:cs typeface="Public Sans" pitchFamily="34" charset="-120"/>
              </a:rPr>
              <a:t>Used to read each subject name for the report</a:t>
            </a:r>
            <a:endParaRPr lang="en-US" sz="1400" dirty="0"/>
          </a:p>
        </p:txBody>
      </p:sp>
      <p:sp>
        <p:nvSpPr>
          <p:cNvPr id="7" name="Shape 5"/>
          <p:cNvSpPr/>
          <p:nvPr/>
        </p:nvSpPr>
        <p:spPr>
          <a:xfrm>
            <a:off x="5623380" y="1816596"/>
            <a:ext cx="5958731" cy="3990082"/>
          </a:xfrm>
          <a:prstGeom prst="rect">
            <a:avLst/>
          </a:prstGeom>
          <a:solidFill>
            <a:srgbClr val="0A3F46"/>
          </a:solidFill>
          <a:ln/>
        </p:spPr>
      </p:sp>
      <p:sp>
        <p:nvSpPr>
          <p:cNvPr id="8" name="Text 6"/>
          <p:cNvSpPr/>
          <p:nvPr/>
        </p:nvSpPr>
        <p:spPr>
          <a:xfrm>
            <a:off x="5724977" y="1919149"/>
            <a:ext cx="5857133"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FFFFFF"/>
                </a:solidFill>
                <a:latin typeface="Public Sans" pitchFamily="34" charset="0"/>
                <a:ea typeface="Public Sans" pitchFamily="34" charset="-122"/>
                <a:cs typeface="Public Sans" pitchFamily="34" charset="-120"/>
              </a:rPr>
              <a:t>READING SUBJECT NAMES</a:t>
            </a:r>
            <a:endParaRPr lang="en-US" sz="1050" dirty="0"/>
          </a:p>
        </p:txBody>
      </p:sp>
      <p:sp>
        <p:nvSpPr>
          <p:cNvPr id="9" name="Shape 7"/>
          <p:cNvSpPr/>
          <p:nvPr/>
        </p:nvSpPr>
        <p:spPr>
          <a:xfrm>
            <a:off x="5724977" y="2304852"/>
            <a:ext cx="5755536" cy="3200202"/>
          </a:xfrm>
          <a:prstGeom prst="roundRect">
            <a:avLst>
              <a:gd name="adj" fmla="val 357"/>
            </a:avLst>
          </a:prstGeom>
          <a:solidFill>
            <a:srgbClr val="13272B"/>
          </a:solidFill>
          <a:ln/>
        </p:spPr>
      </p:sp>
      <p:sp>
        <p:nvSpPr>
          <p:cNvPr id="10" name="Text 8"/>
          <p:cNvSpPr/>
          <p:nvPr/>
        </p:nvSpPr>
        <p:spPr>
          <a:xfrm>
            <a:off x="5938292" y="2482969"/>
            <a:ext cx="5328906" cy="2844602"/>
          </a:xfrm>
          <a:prstGeom prst="rect">
            <a:avLst/>
          </a:prstGeom>
          <a:noFill/>
          <a:ln/>
        </p:spPr>
        <p:txBody>
          <a:bodyPr wrap="square" lIns="0" tIns="0" rIns="0" bIns="0" rtlCol="0" anchor="t">
            <a:normAutofit/>
          </a:bodyPr>
          <a:lstStyle/>
          <a:p>
            <a:pPr marL="0" indent="0" algn="l">
              <a:lnSpc>
                <a:spcPct val="133000"/>
              </a:lnSpc>
              <a:buNone/>
            </a:pPr>
            <a:r>
              <a:rPr lang="en-US" sz="1400" dirty="0">
                <a:solidFill>
                  <a:srgbClr val="E6EDF3"/>
                </a:solidFill>
                <a:latin typeface="Consolas" pitchFamily="34" charset="0"/>
                <a:ea typeface="Consolas" pitchFamily="34" charset="-122"/>
                <a:cs typeface="Consolas" pitchFamily="34" charset="-120"/>
              </a:rPr>
              <a:t>ArrayList&lt;String&gt; subjectNames =</a:t>
            </a:r>
            <a:endParaRPr lang="en-US" sz="1400" dirty="0"/>
          </a:p>
          <a:p>
            <a:pPr marL="0" indent="0" algn="l">
              <a:lnSpc>
                <a:spcPct val="133000"/>
              </a:lnSpc>
              <a:buNone/>
            </a:pPr>
            <a:r>
              <a:rPr lang="en-US" sz="1400" dirty="0">
                <a:solidFill>
                  <a:srgbClr val="E6EDF3"/>
                </a:solidFill>
                <a:latin typeface="Consolas" pitchFamily="34" charset="0"/>
                <a:ea typeface="Consolas" pitchFamily="34" charset="-122"/>
                <a:cs typeface="Consolas" pitchFamily="34" charset="-120"/>
              </a:rPr>
              <a:t>    new ArrayList&lt;String&gt;();</a:t>
            </a:r>
            <a:endParaRPr lang="en-US" sz="1400" dirty="0"/>
          </a:p>
          <a:p>
            <a:pPr marL="0" indent="0" algn="l">
              <a:lnSpc>
                <a:spcPct val="133000"/>
              </a:lnSpc>
              <a:buNone/>
            </a:pPr>
            <a:endParaRPr lang="en-US" sz="1400" dirty="0"/>
          </a:p>
          <a:p>
            <a:pPr marL="0" indent="0" algn="l">
              <a:lnSpc>
                <a:spcPct val="133000"/>
              </a:lnSpc>
              <a:buNone/>
            </a:pPr>
            <a:r>
              <a:rPr lang="en-US" sz="1400" dirty="0">
                <a:solidFill>
                  <a:srgbClr val="E6EDF3"/>
                </a:solidFill>
                <a:latin typeface="Consolas" pitchFamily="34" charset="0"/>
                <a:ea typeface="Consolas" pitchFamily="34" charset="-122"/>
                <a:cs typeface="Consolas" pitchFamily="34" charset="-120"/>
              </a:rPr>
              <a:t>subjectNames.add(scanner.nextLine());</a:t>
            </a:r>
            <a:endParaRPr lang="en-US" sz="1400" dirty="0"/>
          </a:p>
          <a:p>
            <a:pPr marL="0" indent="0" algn="l">
              <a:lnSpc>
                <a:spcPct val="133000"/>
              </a:lnSpc>
              <a:buNone/>
            </a:pPr>
            <a:endParaRPr lang="en-US" sz="1400" dirty="0"/>
          </a:p>
          <a:p>
            <a:pPr marL="0" indent="0" algn="l">
              <a:lnSpc>
                <a:spcPct val="133000"/>
              </a:lnSpc>
              <a:buNone/>
            </a:pPr>
            <a:r>
              <a:rPr lang="en-US" sz="1400" dirty="0">
                <a:solidFill>
                  <a:srgbClr val="E6EDF3"/>
                </a:solidFill>
                <a:latin typeface="Consolas" pitchFamily="34" charset="0"/>
                <a:ea typeface="Consolas" pitchFamily="34" charset="-122"/>
                <a:cs typeface="Consolas" pitchFamily="34" charset="-120"/>
              </a:rPr>
              <a:t>Iterator&lt;String&gt; itr =</a:t>
            </a:r>
            <a:endParaRPr lang="en-US" sz="1400" dirty="0"/>
          </a:p>
          <a:p>
            <a:pPr marL="0" indent="0" algn="l">
              <a:lnSpc>
                <a:spcPct val="133000"/>
              </a:lnSpc>
              <a:buNone/>
            </a:pPr>
            <a:r>
              <a:rPr lang="en-US" sz="1400" dirty="0">
                <a:solidFill>
                  <a:srgbClr val="E6EDF3"/>
                </a:solidFill>
                <a:latin typeface="Consolas" pitchFamily="34" charset="0"/>
                <a:ea typeface="Consolas" pitchFamily="34" charset="-122"/>
                <a:cs typeface="Consolas" pitchFamily="34" charset="-120"/>
              </a:rPr>
              <a:t>    subjectNames.iterator();</a:t>
            </a:r>
            <a:endParaRPr lang="en-US" sz="1400" dirty="0"/>
          </a:p>
          <a:p>
            <a:pPr marL="0" indent="0" algn="l">
              <a:lnSpc>
                <a:spcPct val="133000"/>
              </a:lnSpc>
              <a:buNone/>
            </a:pPr>
            <a:r>
              <a:rPr lang="en-US" sz="1400" dirty="0">
                <a:solidFill>
                  <a:srgbClr val="E6EDF3"/>
                </a:solidFill>
                <a:latin typeface="Consolas" pitchFamily="34" charset="0"/>
                <a:ea typeface="Consolas" pitchFamily="34" charset="-122"/>
                <a:cs typeface="Consolas" pitchFamily="34" charset="-120"/>
              </a:rPr>
              <a:t>while (itr.hasNext()) {</a:t>
            </a:r>
            <a:endParaRPr lang="en-US" sz="1400" dirty="0"/>
          </a:p>
          <a:p>
            <a:pPr marL="0" indent="0" algn="l">
              <a:lnSpc>
                <a:spcPct val="133000"/>
              </a:lnSpc>
              <a:buNone/>
            </a:pPr>
            <a:r>
              <a:rPr lang="en-US" sz="1400" dirty="0">
                <a:solidFill>
                  <a:srgbClr val="E6EDF3"/>
                </a:solidFill>
                <a:latin typeface="Consolas" pitchFamily="34" charset="0"/>
                <a:ea typeface="Consolas" pitchFamily="34" charset="-122"/>
                <a:cs typeface="Consolas" pitchFamily="34" charset="-120"/>
              </a:rPr>
              <a:t>    ... itr.next() ...</a:t>
            </a:r>
            <a:endParaRPr lang="en-US" sz="1400" dirty="0"/>
          </a:p>
          <a:p>
            <a:pPr marL="0" indent="0" algn="l">
              <a:lnSpc>
                <a:spcPct val="133000"/>
              </a:lnSpc>
              <a:buNone/>
            </a:pPr>
            <a:r>
              <a:rPr lang="en-US" sz="1400" dirty="0">
                <a:solidFill>
                  <a:srgbClr val="E6EDF3"/>
                </a:solidFill>
                <a:latin typeface="Consolas" pitchFamily="34" charset="0"/>
                <a:ea typeface="Consolas" pitchFamily="34" charset="-122"/>
                <a:cs typeface="Consolas" pitchFamily="34" charset="-120"/>
              </a:rPr>
              <a:t>}</a:t>
            </a:r>
            <a:endParaRPr lang="en-US" sz="1400" dirty="0"/>
          </a:p>
        </p:txBody>
      </p:sp>
      <p:sp>
        <p:nvSpPr>
          <p:cNvPr id="11" name="Text 9"/>
          <p:cNvSpPr/>
          <p:nvPr/>
        </p:nvSpPr>
        <p:spPr>
          <a:xfrm>
            <a:off x="11935618" y="6466086"/>
            <a:ext cx="256077" cy="174129"/>
          </a:xfrm>
          <a:prstGeom prst="rect">
            <a:avLst/>
          </a:prstGeom>
          <a:noFill/>
          <a:ln/>
        </p:spPr>
        <p:txBody>
          <a:bodyPr wrap="none" lIns="0" tIns="0" rIns="0" bIns="0" rtlCol="0" anchor="ctr"/>
          <a:lstStyle/>
          <a:p>
            <a:pPr marL="0" indent="0" algn="l">
              <a:lnSpc>
                <a:spcPct val="117000"/>
              </a:lnSpc>
              <a:buNone/>
            </a:pPr>
            <a:r>
              <a:rPr lang="en-US" sz="1000" dirty="0">
                <a:solidFill>
                  <a:srgbClr val="EAF6FA"/>
                </a:solidFill>
                <a:latin typeface="Public Sans" pitchFamily="34" charset="0"/>
                <a:ea typeface="Public Sans" pitchFamily="34" charset="-122"/>
                <a:cs typeface="Public Sans" pitchFamily="34" charset="-120"/>
              </a:rPr>
              <a:t>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85" y="610553"/>
            <a:ext cx="11582110"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A9DDF0"/>
                </a:solidFill>
                <a:latin typeface="Public Sans" pitchFamily="34" charset="0"/>
                <a:ea typeface="Public Sans" pitchFamily="34" charset="-122"/>
                <a:cs typeface="Public Sans" pitchFamily="34" charset="-120"/>
              </a:rPr>
              <a:t>TOPIC 3 / MUTABLE TEXT</a:t>
            </a:r>
            <a:endParaRPr lang="en-US" sz="1050" dirty="0"/>
          </a:p>
        </p:txBody>
      </p:sp>
      <p:sp>
        <p:nvSpPr>
          <p:cNvPr id="3" name="Text 1"/>
          <p:cNvSpPr/>
          <p:nvPr/>
        </p:nvSpPr>
        <p:spPr>
          <a:xfrm>
            <a:off x="609585" y="915928"/>
            <a:ext cx="10972526" cy="670520"/>
          </a:xfrm>
          <a:prstGeom prst="rect">
            <a:avLst/>
          </a:prstGeom>
          <a:noFill/>
          <a:ln/>
        </p:spPr>
        <p:txBody>
          <a:bodyPr wrap="none" lIns="0" tIns="0" rIns="0" bIns="0" rtlCol="0" anchor="t"/>
          <a:lstStyle/>
          <a:p>
            <a:pPr marL="0" indent="0" algn="l">
              <a:lnSpc>
                <a:spcPct val="92000"/>
              </a:lnSpc>
              <a:buNone/>
            </a:pPr>
            <a:r>
              <a:rPr lang="en-US" sz="4800" dirty="0">
                <a:solidFill>
                  <a:srgbClr val="EAF6FA"/>
                </a:solidFill>
                <a:latin typeface="Saira Semi Condensed" pitchFamily="34" charset="0"/>
                <a:ea typeface="Saira Semi Condensed" pitchFamily="34" charset="-122"/>
                <a:cs typeface="Saira Semi Condensed" pitchFamily="34" charset="-120"/>
              </a:rPr>
              <a:t>Topic 3: StringBuffer (append method)</a:t>
            </a:r>
            <a:endParaRPr lang="en-US" sz="4800" dirty="0"/>
          </a:p>
        </p:txBody>
      </p:sp>
      <p:sp>
        <p:nvSpPr>
          <p:cNvPr id="4" name="Shape 2"/>
          <p:cNvSpPr/>
          <p:nvPr/>
        </p:nvSpPr>
        <p:spPr>
          <a:xfrm>
            <a:off x="609585" y="1762026"/>
            <a:ext cx="10972526" cy="19050"/>
          </a:xfrm>
          <a:prstGeom prst="roundRect">
            <a:avLst>
              <a:gd name="adj" fmla="val 49999"/>
            </a:avLst>
          </a:prstGeom>
          <a:solidFill>
            <a:srgbClr val="2F6A73"/>
          </a:solidFill>
          <a:ln/>
        </p:spPr>
      </p:sp>
      <p:sp>
        <p:nvSpPr>
          <p:cNvPr id="5" name="Shape 3"/>
          <p:cNvSpPr/>
          <p:nvPr/>
        </p:nvSpPr>
        <p:spPr>
          <a:xfrm>
            <a:off x="609585" y="1984276"/>
            <a:ext cx="4622684" cy="4274542"/>
          </a:xfrm>
          <a:prstGeom prst="roundRect">
            <a:avLst>
              <a:gd name="adj" fmla="val 267"/>
            </a:avLst>
          </a:prstGeom>
          <a:noFill/>
          <a:ln w="19050">
            <a:solidFill>
              <a:srgbClr val="23585F"/>
            </a:solidFill>
            <a:prstDash val="solid"/>
          </a:ln>
        </p:spPr>
      </p:sp>
      <p:sp>
        <p:nvSpPr>
          <p:cNvPr id="6" name="Text 4"/>
          <p:cNvSpPr/>
          <p:nvPr/>
        </p:nvSpPr>
        <p:spPr>
          <a:xfrm>
            <a:off x="730232" y="2104926"/>
            <a:ext cx="4381390" cy="1377553"/>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EAF6FA"/>
                </a:solidFill>
                <a:latin typeface="Public Sans" pitchFamily="34" charset="0"/>
                <a:ea typeface="Public Sans" pitchFamily="34" charset="-122"/>
                <a:cs typeface="Public Sans" pitchFamily="34" charset="-120"/>
              </a:rPr>
              <a:t>StringBuffer is a mutable String: it can be changed in place</a:t>
            </a:r>
            <a:endParaRPr lang="en-US" sz="1400" dirty="0"/>
          </a:p>
          <a:p>
            <a:pPr marL="284480" indent="-284480" algn="l">
              <a:lnSpc>
                <a:spcPct val="117000"/>
              </a:lnSpc>
              <a:buSzPct val="100000"/>
              <a:buChar char="•"/>
            </a:pPr>
            <a:r>
              <a:rPr lang="en-US" sz="1400" dirty="0">
                <a:solidFill>
                  <a:srgbClr val="EAF6FA"/>
                </a:solidFill>
                <a:latin typeface="Public Sans" pitchFamily="34" charset="0"/>
                <a:ea typeface="Public Sans" pitchFamily="34" charset="-122"/>
                <a:cs typeface="Public Sans" pitchFamily="34" charset="-120"/>
              </a:rPr>
              <a:t>append() adds text to the end of the buffer</a:t>
            </a:r>
            <a:endParaRPr lang="en-US" sz="1400" dirty="0"/>
          </a:p>
          <a:p>
            <a:pPr marL="284480" indent="-284480" algn="l">
              <a:lnSpc>
                <a:spcPct val="117000"/>
              </a:lnSpc>
              <a:buSzPct val="100000"/>
              <a:buChar char="•"/>
            </a:pPr>
            <a:r>
              <a:rPr lang="en-US" sz="1400" dirty="0">
                <a:solidFill>
                  <a:srgbClr val="EAF6FA"/>
                </a:solidFill>
                <a:latin typeface="Public Sans" pitchFamily="34" charset="0"/>
                <a:ea typeface="Public Sans" pitchFamily="34" charset="-122"/>
                <a:cs typeface="Public Sans" pitchFamily="34" charset="-120"/>
              </a:rPr>
              <a:t>Chained append() calls build each subject line</a:t>
            </a:r>
            <a:endParaRPr lang="en-US" sz="1400" dirty="0"/>
          </a:p>
          <a:p>
            <a:pPr marL="284480" indent="-284480" algn="l">
              <a:lnSpc>
                <a:spcPct val="117000"/>
              </a:lnSpc>
              <a:buSzPct val="100000"/>
              <a:buChar char="•"/>
            </a:pPr>
            <a:r>
              <a:rPr lang="en-US" sz="1400" dirty="0">
                <a:solidFill>
                  <a:srgbClr val="EAF6FA"/>
                </a:solidFill>
                <a:latin typeface="Public Sans" pitchFamily="34" charset="0"/>
                <a:ea typeface="Public Sans" pitchFamily="34" charset="-122"/>
                <a:cs typeface="Public Sans" pitchFamily="34" charset="-120"/>
              </a:rPr>
              <a:t>No new String object is created on every join</a:t>
            </a:r>
            <a:endParaRPr lang="en-US" sz="1400" dirty="0"/>
          </a:p>
        </p:txBody>
      </p:sp>
      <p:sp>
        <p:nvSpPr>
          <p:cNvPr id="7" name="Shape 5"/>
          <p:cNvSpPr/>
          <p:nvPr/>
        </p:nvSpPr>
        <p:spPr>
          <a:xfrm>
            <a:off x="5536962" y="1984276"/>
            <a:ext cx="6045148" cy="4274542"/>
          </a:xfrm>
          <a:prstGeom prst="rect">
            <a:avLst/>
          </a:prstGeom>
          <a:solidFill>
            <a:srgbClr val="0A3F46"/>
          </a:solidFill>
          <a:ln/>
        </p:spPr>
      </p:sp>
      <p:sp>
        <p:nvSpPr>
          <p:cNvPr id="8" name="Text 6"/>
          <p:cNvSpPr/>
          <p:nvPr/>
        </p:nvSpPr>
        <p:spPr>
          <a:xfrm>
            <a:off x="5638560" y="2086828"/>
            <a:ext cx="5943551"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FFFFFF"/>
                </a:solidFill>
                <a:latin typeface="Public Sans" pitchFamily="34" charset="0"/>
                <a:ea typeface="Public Sans" pitchFamily="34" charset="-122"/>
                <a:cs typeface="Public Sans" pitchFamily="34" charset="-120"/>
              </a:rPr>
              <a:t>BUILDING THE SUBJECT REPORT</a:t>
            </a:r>
            <a:endParaRPr lang="en-US" sz="1050" dirty="0"/>
          </a:p>
        </p:txBody>
      </p:sp>
      <p:sp>
        <p:nvSpPr>
          <p:cNvPr id="9" name="Shape 7"/>
          <p:cNvSpPr/>
          <p:nvPr/>
        </p:nvSpPr>
        <p:spPr>
          <a:xfrm>
            <a:off x="5638560" y="2472531"/>
            <a:ext cx="5841953" cy="3484662"/>
          </a:xfrm>
          <a:prstGeom prst="roundRect">
            <a:avLst>
              <a:gd name="adj" fmla="val 328"/>
            </a:avLst>
          </a:prstGeom>
          <a:solidFill>
            <a:srgbClr val="13272B"/>
          </a:solidFill>
          <a:ln/>
        </p:spPr>
      </p:sp>
      <p:sp>
        <p:nvSpPr>
          <p:cNvPr id="10" name="Text 8"/>
          <p:cNvSpPr/>
          <p:nvPr/>
        </p:nvSpPr>
        <p:spPr>
          <a:xfrm>
            <a:off x="5851875" y="2650649"/>
            <a:ext cx="5415323" cy="3129062"/>
          </a:xfrm>
          <a:prstGeom prst="rect">
            <a:avLst/>
          </a:prstGeom>
          <a:noFill/>
          <a:ln/>
        </p:spPr>
        <p:txBody>
          <a:bodyPr wrap="square" lIns="0" tIns="0" rIns="0" bIns="0" rtlCol="0" anchor="t">
            <a:normAutofit/>
          </a:bodyPr>
          <a:lstStyle/>
          <a:p>
            <a:pPr marL="0" indent="0" algn="l">
              <a:lnSpc>
                <a:spcPct val="133000"/>
              </a:lnSpc>
              <a:buNone/>
            </a:pPr>
            <a:r>
              <a:rPr lang="en-US" sz="1400" dirty="0">
                <a:solidFill>
                  <a:srgbClr val="FF7B72"/>
                </a:solidFill>
                <a:latin typeface="Consolas" pitchFamily="34" charset="0"/>
                <a:ea typeface="Consolas" pitchFamily="34" charset="-122"/>
                <a:cs typeface="Consolas" pitchFamily="34" charset="-120"/>
              </a:rPr>
              <a:t>StringBuffer subjectReport =</a:t>
            </a:r>
            <a:endParaRPr lang="en-US" sz="1400" dirty="0"/>
          </a:p>
          <a:p>
            <a:pPr marL="0" indent="0" algn="l">
              <a:lnSpc>
                <a:spcPct val="133000"/>
              </a:lnSpc>
              <a:buNone/>
            </a:pPr>
            <a:r>
              <a:rPr lang="en-US" sz="1400" dirty="0">
                <a:solidFill>
                  <a:srgbClr val="FF7B72"/>
                </a:solidFill>
                <a:latin typeface="Consolas" pitchFamily="34" charset="0"/>
                <a:ea typeface="Consolas" pitchFamily="34" charset="-122"/>
                <a:cs typeface="Consolas" pitchFamily="34" charset="-120"/>
              </a:rPr>
              <a:t>    new StringBuffer();</a:t>
            </a:r>
            <a:endParaRPr lang="en-US" sz="1400" dirty="0"/>
          </a:p>
          <a:p>
            <a:pPr marL="0" indent="0" algn="l">
              <a:lnSpc>
                <a:spcPct val="133000"/>
              </a:lnSpc>
              <a:buNone/>
            </a:pPr>
            <a:endParaRPr lang="en-US" sz="1400" dirty="0"/>
          </a:p>
          <a:p>
            <a:pPr marL="0" indent="0" algn="l">
              <a:lnSpc>
                <a:spcPct val="133000"/>
              </a:lnSpc>
              <a:buNone/>
            </a:pPr>
            <a:r>
              <a:rPr lang="en-US" sz="1400" dirty="0">
                <a:solidFill>
                  <a:srgbClr val="FF7B72"/>
                </a:solidFill>
                <a:latin typeface="Consolas" pitchFamily="34" charset="0"/>
                <a:ea typeface="Consolas" pitchFamily="34" charset="-122"/>
                <a:cs typeface="Consolas" pitchFamily="34" charset="-120"/>
              </a:rPr>
              <a:t>subjectReport.append(index + 1)</a:t>
            </a:r>
            <a:endParaRPr lang="en-US" sz="1400" dirty="0"/>
          </a:p>
          <a:p>
            <a:pPr marL="0" indent="0" algn="l">
              <a:lnSpc>
                <a:spcPct val="133000"/>
              </a:lnSpc>
              <a:buNone/>
            </a:pPr>
            <a:r>
              <a:rPr lang="en-US" sz="1400" dirty="0">
                <a:solidFill>
                  <a:srgbClr val="FF7B72"/>
                </a:solidFill>
                <a:latin typeface="Consolas" pitchFamily="34" charset="0"/>
                <a:ea typeface="Consolas" pitchFamily="34" charset="-122"/>
                <a:cs typeface="Consolas" pitchFamily="34" charset="-120"/>
              </a:rPr>
              <a:t>  .append(". ")</a:t>
            </a:r>
            <a:endParaRPr lang="en-US" sz="1400" dirty="0"/>
          </a:p>
          <a:p>
            <a:pPr marL="0" indent="0" algn="l">
              <a:lnSpc>
                <a:spcPct val="133000"/>
              </a:lnSpc>
              <a:buNone/>
            </a:pPr>
            <a:r>
              <a:rPr lang="en-US" sz="1400" dirty="0">
                <a:solidFill>
                  <a:srgbClr val="FF7B72"/>
                </a:solidFill>
                <a:latin typeface="Consolas" pitchFamily="34" charset="0"/>
                <a:ea typeface="Consolas" pitchFamily="34" charset="-122"/>
                <a:cs typeface="Consolas" pitchFamily="34" charset="-120"/>
              </a:rPr>
              <a:t>  .append(itr.next())</a:t>
            </a:r>
            <a:endParaRPr lang="en-US" sz="1400" dirty="0"/>
          </a:p>
          <a:p>
            <a:pPr marL="0" indent="0" algn="l">
              <a:lnSpc>
                <a:spcPct val="133000"/>
              </a:lnSpc>
              <a:buNone/>
            </a:pPr>
            <a:r>
              <a:rPr lang="en-US" sz="1400" dirty="0">
                <a:solidFill>
                  <a:srgbClr val="FF7B72"/>
                </a:solidFill>
                <a:latin typeface="Consolas" pitchFamily="34" charset="0"/>
                <a:ea typeface="Consolas" pitchFamily="34" charset="-122"/>
                <a:cs typeface="Consolas" pitchFamily="34" charset="-120"/>
              </a:rPr>
              <a:t>  .append(" -&gt; Grade: ")</a:t>
            </a:r>
            <a:endParaRPr lang="en-US" sz="1400" dirty="0"/>
          </a:p>
          <a:p>
            <a:pPr marL="0" indent="0" algn="l">
              <a:lnSpc>
                <a:spcPct val="133000"/>
              </a:lnSpc>
              <a:buNone/>
            </a:pPr>
            <a:r>
              <a:rPr lang="en-US" sz="1400" dirty="0">
                <a:solidFill>
                  <a:srgbClr val="FF7B72"/>
                </a:solidFill>
                <a:latin typeface="Consolas" pitchFamily="34" charset="0"/>
                <a:ea typeface="Consolas" pitchFamily="34" charset="-122"/>
                <a:cs typeface="Consolas" pitchFamily="34" charset="-120"/>
              </a:rPr>
              <a:t>  .append(grades[index])</a:t>
            </a:r>
            <a:endParaRPr lang="en-US" sz="1400" dirty="0"/>
          </a:p>
          <a:p>
            <a:pPr marL="0" indent="0" algn="l">
              <a:lnSpc>
                <a:spcPct val="133000"/>
              </a:lnSpc>
              <a:buNone/>
            </a:pPr>
            <a:r>
              <a:rPr lang="en-US" sz="1400" dirty="0">
                <a:solidFill>
                  <a:srgbClr val="FF7B72"/>
                </a:solidFill>
                <a:latin typeface="Consolas" pitchFamily="34" charset="0"/>
                <a:ea typeface="Consolas" pitchFamily="34" charset="-122"/>
                <a:cs typeface="Consolas" pitchFamily="34" charset="-120"/>
              </a:rPr>
              <a:t>  .append("\n");</a:t>
            </a:r>
            <a:endParaRPr lang="en-US" sz="1400" dirty="0"/>
          </a:p>
          <a:p>
            <a:pPr marL="0" indent="0" algn="l">
              <a:lnSpc>
                <a:spcPct val="133000"/>
              </a:lnSpc>
              <a:buNone/>
            </a:pPr>
            <a:endParaRPr lang="en-US" sz="1400" dirty="0"/>
          </a:p>
          <a:p>
            <a:pPr marL="0" indent="0" algn="l">
              <a:lnSpc>
                <a:spcPct val="133000"/>
              </a:lnSpc>
              <a:buNone/>
            </a:pPr>
            <a:r>
              <a:rPr lang="en-US" sz="1400" dirty="0">
                <a:solidFill>
                  <a:srgbClr val="FF7B72"/>
                </a:solidFill>
                <a:latin typeface="Consolas" pitchFamily="34" charset="0"/>
                <a:ea typeface="Consolas" pitchFamily="34" charset="-122"/>
                <a:cs typeface="Consolas" pitchFamily="34" charset="-120"/>
              </a:rPr>
              <a:t>System.out.print(subjectReport);</a:t>
            </a:r>
            <a:endParaRPr lang="en-US" sz="1400" dirty="0"/>
          </a:p>
        </p:txBody>
      </p:sp>
      <p:sp>
        <p:nvSpPr>
          <p:cNvPr id="11" name="Text 9"/>
          <p:cNvSpPr/>
          <p:nvPr/>
        </p:nvSpPr>
        <p:spPr>
          <a:xfrm>
            <a:off x="11934130" y="6466086"/>
            <a:ext cx="257565" cy="174129"/>
          </a:xfrm>
          <a:prstGeom prst="rect">
            <a:avLst/>
          </a:prstGeom>
          <a:noFill/>
          <a:ln/>
        </p:spPr>
        <p:txBody>
          <a:bodyPr wrap="none" lIns="0" tIns="0" rIns="0" bIns="0" rtlCol="0" anchor="ctr"/>
          <a:lstStyle/>
          <a:p>
            <a:pPr marL="0" indent="0" algn="l">
              <a:lnSpc>
                <a:spcPct val="117000"/>
              </a:lnSpc>
              <a:buNone/>
            </a:pPr>
            <a:r>
              <a:rPr lang="en-US" sz="1000" dirty="0">
                <a:solidFill>
                  <a:srgbClr val="EAF6FA"/>
                </a:solidFill>
                <a:latin typeface="Public Sans" pitchFamily="34" charset="0"/>
                <a:ea typeface="Public Sans" pitchFamily="34" charset="-122"/>
                <a:cs typeface="Public Sans" pitchFamily="34" charset="-120"/>
              </a:rPr>
              <a:t>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85" y="610553"/>
            <a:ext cx="11582110"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A9DDF0"/>
                </a:solidFill>
                <a:latin typeface="Public Sans" pitchFamily="34" charset="0"/>
                <a:ea typeface="Public Sans" pitchFamily="34" charset="-122"/>
                <a:cs typeface="Public Sans" pitchFamily="34" charset="-120"/>
              </a:rPr>
              <a:t>ARITHMETIC PROCESSING</a:t>
            </a:r>
            <a:endParaRPr lang="en-US" sz="1050" dirty="0"/>
          </a:p>
        </p:txBody>
      </p:sp>
      <p:sp>
        <p:nvSpPr>
          <p:cNvPr id="3" name="Text 1"/>
          <p:cNvSpPr/>
          <p:nvPr/>
        </p:nvSpPr>
        <p:spPr>
          <a:xfrm>
            <a:off x="609585" y="915928"/>
            <a:ext cx="10972526" cy="670520"/>
          </a:xfrm>
          <a:prstGeom prst="rect">
            <a:avLst/>
          </a:prstGeom>
          <a:noFill/>
          <a:ln/>
        </p:spPr>
        <p:txBody>
          <a:bodyPr wrap="none" lIns="0" tIns="0" rIns="0" bIns="0" rtlCol="0" anchor="t"/>
          <a:lstStyle/>
          <a:p>
            <a:pPr marL="0" indent="0" algn="l">
              <a:lnSpc>
                <a:spcPct val="92000"/>
              </a:lnSpc>
              <a:buNone/>
            </a:pPr>
            <a:r>
              <a:rPr lang="en-US" sz="4800" dirty="0">
                <a:solidFill>
                  <a:srgbClr val="EAF6FA"/>
                </a:solidFill>
                <a:latin typeface="Saira Semi Condensed" pitchFamily="34" charset="0"/>
                <a:ea typeface="Saira Semi Condensed" pitchFamily="34" charset="-122"/>
                <a:cs typeface="Saira Semi Condensed" pitchFamily="34" charset="-120"/>
              </a:rPr>
              <a:t>Accumulation &amp; Explicit Casting</a:t>
            </a:r>
            <a:endParaRPr lang="en-US" sz="4800" dirty="0"/>
          </a:p>
        </p:txBody>
      </p:sp>
      <p:sp>
        <p:nvSpPr>
          <p:cNvPr id="4" name="Shape 2"/>
          <p:cNvSpPr/>
          <p:nvPr/>
        </p:nvSpPr>
        <p:spPr>
          <a:xfrm>
            <a:off x="609585" y="1762026"/>
            <a:ext cx="10972526" cy="19050"/>
          </a:xfrm>
          <a:prstGeom prst="roundRect">
            <a:avLst>
              <a:gd name="adj" fmla="val 49999"/>
            </a:avLst>
          </a:prstGeom>
          <a:solidFill>
            <a:srgbClr val="2F6A73"/>
          </a:solidFill>
          <a:ln/>
        </p:spPr>
      </p:sp>
      <p:sp>
        <p:nvSpPr>
          <p:cNvPr id="5" name="Shape 3"/>
          <p:cNvSpPr/>
          <p:nvPr/>
        </p:nvSpPr>
        <p:spPr>
          <a:xfrm>
            <a:off x="609585" y="1984276"/>
            <a:ext cx="5333867" cy="2363291"/>
          </a:xfrm>
          <a:prstGeom prst="roundRect">
            <a:avLst>
              <a:gd name="adj" fmla="val 484"/>
            </a:avLst>
          </a:prstGeom>
          <a:noFill/>
          <a:ln w="19050">
            <a:solidFill>
              <a:srgbClr val="23585F"/>
            </a:solidFill>
            <a:prstDash val="solid"/>
          </a:ln>
        </p:spPr>
      </p:sp>
      <p:sp>
        <p:nvSpPr>
          <p:cNvPr id="6" name="Text 4"/>
          <p:cNvSpPr/>
          <p:nvPr/>
        </p:nvSpPr>
        <p:spPr>
          <a:xfrm>
            <a:off x="882628" y="2273201"/>
            <a:ext cx="4787780" cy="279400"/>
          </a:xfrm>
          <a:prstGeom prst="rect">
            <a:avLst/>
          </a:prstGeom>
          <a:noFill/>
          <a:ln/>
        </p:spPr>
        <p:txBody>
          <a:bodyPr wrap="none" lIns="0" tIns="0" rIns="0" bIns="0" rtlCol="0" anchor="t"/>
          <a:lstStyle/>
          <a:p>
            <a:pPr marL="0" indent="0" algn="l">
              <a:lnSpc>
                <a:spcPct val="92000"/>
              </a:lnSpc>
              <a:buNone/>
            </a:pPr>
            <a:r>
              <a:rPr lang="en-US" sz="2000" dirty="0">
                <a:solidFill>
                  <a:srgbClr val="A9DDF0"/>
                </a:solidFill>
                <a:latin typeface="Saira Semi Condensed" pitchFamily="34" charset="0"/>
                <a:ea typeface="Saira Semi Condensed" pitchFamily="34" charset="-122"/>
                <a:cs typeface="Saira Semi Condensed" pitchFamily="34" charset="-120"/>
              </a:rPr>
              <a:t>Average Grade Calculation</a:t>
            </a:r>
            <a:endParaRPr lang="en-US" sz="2000" dirty="0"/>
          </a:p>
        </p:txBody>
      </p:sp>
      <p:sp>
        <p:nvSpPr>
          <p:cNvPr id="7" name="Shape 5"/>
          <p:cNvSpPr/>
          <p:nvPr/>
        </p:nvSpPr>
        <p:spPr>
          <a:xfrm>
            <a:off x="882628" y="2736751"/>
            <a:ext cx="4787780" cy="640060"/>
          </a:xfrm>
          <a:prstGeom prst="roundRect">
            <a:avLst>
              <a:gd name="adj" fmla="val 1786"/>
            </a:avLst>
          </a:prstGeom>
          <a:solidFill>
            <a:srgbClr val="13272B"/>
          </a:solidFill>
          <a:ln/>
        </p:spPr>
      </p:sp>
      <p:sp>
        <p:nvSpPr>
          <p:cNvPr id="8" name="Text 6"/>
          <p:cNvSpPr/>
          <p:nvPr/>
        </p:nvSpPr>
        <p:spPr>
          <a:xfrm>
            <a:off x="1095943" y="2914868"/>
            <a:ext cx="4847508" cy="284460"/>
          </a:xfrm>
          <a:prstGeom prst="rect">
            <a:avLst/>
          </a:prstGeom>
          <a:noFill/>
          <a:ln/>
        </p:spPr>
        <p:txBody>
          <a:bodyPr wrap="none" lIns="0" tIns="0" rIns="0" bIns="0" rtlCol="0" anchor="t"/>
          <a:lstStyle/>
          <a:p>
            <a:pPr marL="0" indent="0" algn="l">
              <a:lnSpc>
                <a:spcPct val="133000"/>
              </a:lnSpc>
              <a:buNone/>
            </a:pPr>
            <a:r>
              <a:rPr lang="en-US" sz="1400" dirty="0">
                <a:solidFill>
                  <a:srgbClr val="FF7B72"/>
                </a:solidFill>
                <a:latin typeface="Consolas" pitchFamily="34" charset="0"/>
                <a:ea typeface="Consolas" pitchFamily="34" charset="-122"/>
                <a:cs typeface="Consolas" pitchFamily="34" charset="-120"/>
              </a:rPr>
              <a:t>double average = totalGradePoints / totalSubjects;</a:t>
            </a:r>
            <a:endParaRPr lang="en-US" sz="1400" dirty="0"/>
          </a:p>
        </p:txBody>
      </p:sp>
      <p:sp>
        <p:nvSpPr>
          <p:cNvPr id="9" name="Text 7"/>
          <p:cNvSpPr/>
          <p:nvPr/>
        </p:nvSpPr>
        <p:spPr>
          <a:xfrm>
            <a:off x="882628" y="3581281"/>
            <a:ext cx="4787780" cy="497681"/>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EAF6FA"/>
                </a:solidFill>
                <a:latin typeface="Public Sans" pitchFamily="34" charset="0"/>
                <a:ea typeface="Public Sans" pitchFamily="34" charset="-122"/>
                <a:cs typeface="Public Sans" pitchFamily="34" charset="-120"/>
              </a:rPr>
              <a:t>Performs floating-point division using accumulated grade scores.</a:t>
            </a:r>
            <a:endParaRPr lang="en-US" sz="1400" dirty="0"/>
          </a:p>
        </p:txBody>
      </p:sp>
      <p:sp>
        <p:nvSpPr>
          <p:cNvPr id="10" name="Shape 8"/>
          <p:cNvSpPr/>
          <p:nvPr/>
        </p:nvSpPr>
        <p:spPr>
          <a:xfrm>
            <a:off x="6248244" y="1984276"/>
            <a:ext cx="5333867" cy="2363291"/>
          </a:xfrm>
          <a:prstGeom prst="roundRect">
            <a:avLst>
              <a:gd name="adj" fmla="val 484"/>
            </a:avLst>
          </a:prstGeom>
          <a:noFill/>
          <a:ln w="19050">
            <a:solidFill>
              <a:srgbClr val="23585F"/>
            </a:solidFill>
            <a:prstDash val="solid"/>
          </a:ln>
        </p:spPr>
      </p:sp>
      <p:sp>
        <p:nvSpPr>
          <p:cNvPr id="11" name="Text 9"/>
          <p:cNvSpPr/>
          <p:nvPr/>
        </p:nvSpPr>
        <p:spPr>
          <a:xfrm>
            <a:off x="6521287" y="2273201"/>
            <a:ext cx="4787780" cy="279400"/>
          </a:xfrm>
          <a:prstGeom prst="rect">
            <a:avLst/>
          </a:prstGeom>
          <a:noFill/>
          <a:ln/>
        </p:spPr>
        <p:txBody>
          <a:bodyPr wrap="none" lIns="0" tIns="0" rIns="0" bIns="0" rtlCol="0" anchor="t"/>
          <a:lstStyle/>
          <a:p>
            <a:pPr marL="0" indent="0" algn="l">
              <a:lnSpc>
                <a:spcPct val="92000"/>
              </a:lnSpc>
              <a:buNone/>
            </a:pPr>
            <a:r>
              <a:rPr lang="en-US" sz="2000" dirty="0">
                <a:solidFill>
                  <a:srgbClr val="A9DDF0"/>
                </a:solidFill>
                <a:latin typeface="Saira Semi Condensed" pitchFamily="34" charset="0"/>
                <a:ea typeface="Saira Semi Condensed" pitchFamily="34" charset="-122"/>
                <a:cs typeface="Saira Semi Condensed" pitchFamily="34" charset="-120"/>
              </a:rPr>
              <a:t>Attendance Percentage</a:t>
            </a:r>
            <a:endParaRPr lang="en-US" sz="2000" dirty="0"/>
          </a:p>
        </p:txBody>
      </p:sp>
      <p:sp>
        <p:nvSpPr>
          <p:cNvPr id="12" name="Shape 10"/>
          <p:cNvSpPr/>
          <p:nvPr/>
        </p:nvSpPr>
        <p:spPr>
          <a:xfrm>
            <a:off x="6521287" y="2736751"/>
            <a:ext cx="4787780" cy="640060"/>
          </a:xfrm>
          <a:prstGeom prst="roundRect">
            <a:avLst>
              <a:gd name="adj" fmla="val 1786"/>
            </a:avLst>
          </a:prstGeom>
          <a:solidFill>
            <a:srgbClr val="13272B"/>
          </a:solidFill>
          <a:ln/>
        </p:spPr>
      </p:sp>
      <p:sp>
        <p:nvSpPr>
          <p:cNvPr id="13" name="Text 11"/>
          <p:cNvSpPr/>
          <p:nvPr/>
        </p:nvSpPr>
        <p:spPr>
          <a:xfrm>
            <a:off x="6734602" y="2914868"/>
            <a:ext cx="4847508" cy="284460"/>
          </a:xfrm>
          <a:prstGeom prst="rect">
            <a:avLst/>
          </a:prstGeom>
          <a:noFill/>
          <a:ln/>
        </p:spPr>
        <p:txBody>
          <a:bodyPr wrap="none" lIns="0" tIns="0" rIns="0" bIns="0" rtlCol="0" anchor="t"/>
          <a:lstStyle/>
          <a:p>
            <a:pPr marL="0" indent="0" algn="l">
              <a:lnSpc>
                <a:spcPct val="133000"/>
              </a:lnSpc>
              <a:buNone/>
            </a:pPr>
            <a:r>
              <a:rPr lang="en-US" sz="1400" dirty="0">
                <a:solidFill>
                  <a:srgbClr val="E6EDF3"/>
                </a:solidFill>
                <a:latin typeface="Consolas" pitchFamily="34" charset="0"/>
                <a:ea typeface="Consolas" pitchFamily="34" charset="-122"/>
                <a:cs typeface="Consolas" pitchFamily="34" charset="-120"/>
              </a:rPr>
              <a:t>((double) sumAttended / sumTotalClasses) * 100</a:t>
            </a:r>
            <a:endParaRPr lang="en-US" sz="1400" dirty="0"/>
          </a:p>
        </p:txBody>
      </p:sp>
      <p:sp>
        <p:nvSpPr>
          <p:cNvPr id="14" name="Text 12"/>
          <p:cNvSpPr/>
          <p:nvPr/>
        </p:nvSpPr>
        <p:spPr>
          <a:xfrm>
            <a:off x="6521287" y="3581281"/>
            <a:ext cx="4787780" cy="497681"/>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EAF6FA"/>
                </a:solidFill>
                <a:latin typeface="Public Sans" pitchFamily="34" charset="0"/>
                <a:ea typeface="Public Sans" pitchFamily="34" charset="-122"/>
                <a:cs typeface="Public Sans" pitchFamily="34" charset="-120"/>
              </a:rPr>
              <a:t>Casts integer numerator to double to avoid loss of fraction.</a:t>
            </a:r>
            <a:endParaRPr lang="en-US" sz="1400" dirty="0"/>
          </a:p>
        </p:txBody>
      </p:sp>
      <p:sp>
        <p:nvSpPr>
          <p:cNvPr id="15" name="Text 13"/>
          <p:cNvSpPr/>
          <p:nvPr/>
        </p:nvSpPr>
        <p:spPr>
          <a:xfrm>
            <a:off x="11936412" y="6466086"/>
            <a:ext cx="255283" cy="174129"/>
          </a:xfrm>
          <a:prstGeom prst="rect">
            <a:avLst/>
          </a:prstGeom>
          <a:noFill/>
          <a:ln/>
        </p:spPr>
        <p:txBody>
          <a:bodyPr wrap="none" lIns="0" tIns="0" rIns="0" bIns="0" rtlCol="0" anchor="ctr"/>
          <a:lstStyle/>
          <a:p>
            <a:pPr marL="0" indent="0" algn="l">
              <a:lnSpc>
                <a:spcPct val="117000"/>
              </a:lnSpc>
              <a:buNone/>
            </a:pPr>
            <a:r>
              <a:rPr lang="en-US" sz="1000" dirty="0">
                <a:solidFill>
                  <a:srgbClr val="EAF6FA"/>
                </a:solidFill>
                <a:latin typeface="Public Sans" pitchFamily="34" charset="0"/>
                <a:ea typeface="Public Sans" pitchFamily="34" charset="-122"/>
                <a:cs typeface="Public Sans" pitchFamily="34" charset="-120"/>
              </a:rPr>
              <a:t>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85" y="610553"/>
            <a:ext cx="4937696"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A9DDF0"/>
                </a:solidFill>
                <a:latin typeface="Public Sans" pitchFamily="34" charset="0"/>
                <a:ea typeface="Public Sans" pitchFamily="34" charset="-122"/>
                <a:cs typeface="Public Sans" pitchFamily="34" charset="-120"/>
              </a:rPr>
              <a:t>BUSINESS RULES</a:t>
            </a:r>
            <a:endParaRPr lang="en-US" sz="1050" dirty="0"/>
          </a:p>
        </p:txBody>
      </p:sp>
      <p:sp>
        <p:nvSpPr>
          <p:cNvPr id="3" name="Text 1"/>
          <p:cNvSpPr/>
          <p:nvPr/>
        </p:nvSpPr>
        <p:spPr>
          <a:xfrm>
            <a:off x="609585" y="915928"/>
            <a:ext cx="4328111" cy="1341041"/>
          </a:xfrm>
          <a:prstGeom prst="rect">
            <a:avLst/>
          </a:prstGeom>
          <a:noFill/>
          <a:ln/>
        </p:spPr>
        <p:txBody>
          <a:bodyPr wrap="square" lIns="0" tIns="0" rIns="0" bIns="0" rtlCol="0" anchor="t">
            <a:normAutofit lnSpcReduction="10000"/>
          </a:bodyPr>
          <a:lstStyle/>
          <a:p>
            <a:pPr marL="0" indent="0" algn="l">
              <a:lnSpc>
                <a:spcPct val="92000"/>
              </a:lnSpc>
              <a:buNone/>
            </a:pPr>
            <a:r>
              <a:rPr lang="en-US" sz="4800" dirty="0">
                <a:solidFill>
                  <a:srgbClr val="EAF6FA"/>
                </a:solidFill>
                <a:latin typeface="Saira Semi Condensed" pitchFamily="34" charset="0"/>
                <a:ea typeface="Saira Semi Condensed" pitchFamily="34" charset="-122"/>
                <a:cs typeface="Saira Semi Condensed" pitchFamily="34" charset="-120"/>
              </a:rPr>
              <a:t>Exam Eligibility Thresholds</a:t>
            </a:r>
            <a:endParaRPr lang="en-US" sz="4800" dirty="0"/>
          </a:p>
        </p:txBody>
      </p:sp>
      <p:sp>
        <p:nvSpPr>
          <p:cNvPr id="4" name="Shape 2"/>
          <p:cNvSpPr/>
          <p:nvPr/>
        </p:nvSpPr>
        <p:spPr>
          <a:xfrm>
            <a:off x="609585" y="2486323"/>
            <a:ext cx="1428218" cy="19050"/>
          </a:xfrm>
          <a:prstGeom prst="roundRect">
            <a:avLst>
              <a:gd name="adj" fmla="val 49999"/>
            </a:avLst>
          </a:prstGeom>
          <a:solidFill>
            <a:srgbClr val="A9DDF0"/>
          </a:solidFill>
          <a:ln/>
        </p:spPr>
      </p:sp>
      <p:sp>
        <p:nvSpPr>
          <p:cNvPr id="5" name="Text 3"/>
          <p:cNvSpPr/>
          <p:nvPr/>
        </p:nvSpPr>
        <p:spPr>
          <a:xfrm>
            <a:off x="609585" y="2802235"/>
            <a:ext cx="4328111" cy="939800"/>
          </a:xfrm>
          <a:prstGeom prst="rect">
            <a:avLst/>
          </a:prstGeom>
          <a:noFill/>
          <a:ln/>
        </p:spPr>
        <p:txBody>
          <a:bodyPr wrap="none" lIns="0" tIns="0" rIns="0" bIns="0" rtlCol="0" anchor="t"/>
          <a:lstStyle/>
          <a:p>
            <a:pPr marL="0" indent="0" algn="l">
              <a:lnSpc>
                <a:spcPct val="83000"/>
              </a:lnSpc>
              <a:buNone/>
            </a:pPr>
            <a:r>
              <a:rPr lang="en-US" sz="7400" dirty="0">
                <a:solidFill>
                  <a:srgbClr val="7C3AED"/>
                </a:solidFill>
                <a:latin typeface="Saira Semi Condensed" pitchFamily="34" charset="0"/>
                <a:ea typeface="Saira Semi Condensed" pitchFamily="34" charset="-122"/>
                <a:cs typeface="Saira Semi Condensed" pitchFamily="34" charset="-120"/>
              </a:rPr>
              <a:t>75%</a:t>
            </a:r>
            <a:endParaRPr lang="en-US" sz="7400" dirty="0"/>
          </a:p>
        </p:txBody>
      </p:sp>
      <p:sp>
        <p:nvSpPr>
          <p:cNvPr id="6" name="Text 4"/>
          <p:cNvSpPr/>
          <p:nvPr/>
        </p:nvSpPr>
        <p:spPr>
          <a:xfrm>
            <a:off x="609585" y="3769023"/>
            <a:ext cx="4328111" cy="279400"/>
          </a:xfrm>
          <a:prstGeom prst="rect">
            <a:avLst/>
          </a:prstGeom>
          <a:noFill/>
          <a:ln/>
        </p:spPr>
        <p:txBody>
          <a:bodyPr wrap="none" lIns="0" tIns="0" rIns="0" bIns="0" rtlCol="0" anchor="t"/>
          <a:lstStyle/>
          <a:p>
            <a:pPr marL="0" indent="0" algn="l">
              <a:lnSpc>
                <a:spcPct val="92000"/>
              </a:lnSpc>
              <a:buNone/>
            </a:pPr>
            <a:r>
              <a:rPr lang="en-US" sz="2000" dirty="0">
                <a:solidFill>
                  <a:srgbClr val="A9DDF0"/>
                </a:solidFill>
                <a:latin typeface="Saira Semi Condensed" pitchFamily="34" charset="0"/>
                <a:ea typeface="Saira Semi Condensed" pitchFamily="34" charset="-122"/>
                <a:cs typeface="Saira Semi Condensed" pitchFamily="34" charset="-120"/>
              </a:rPr>
              <a:t>Minimum Attendance</a:t>
            </a:r>
            <a:endParaRPr lang="en-US" sz="2000" dirty="0"/>
          </a:p>
        </p:txBody>
      </p:sp>
      <p:sp>
        <p:nvSpPr>
          <p:cNvPr id="7" name="Text 5"/>
          <p:cNvSpPr/>
          <p:nvPr/>
        </p:nvSpPr>
        <p:spPr>
          <a:xfrm>
            <a:off x="609585" y="4163993"/>
            <a:ext cx="4328111" cy="248841"/>
          </a:xfrm>
          <a:prstGeom prst="rect">
            <a:avLst/>
          </a:prstGeom>
          <a:noFill/>
          <a:ln/>
        </p:spPr>
        <p:txBody>
          <a:bodyPr wrap="none" lIns="0" tIns="0" rIns="0" bIns="0" rtlCol="0" anchor="t"/>
          <a:lstStyle/>
          <a:p>
            <a:pPr marL="0" indent="0" algn="l">
              <a:lnSpc>
                <a:spcPct val="117000"/>
              </a:lnSpc>
              <a:buNone/>
            </a:pPr>
            <a:r>
              <a:rPr lang="en-US" sz="1400" dirty="0">
                <a:solidFill>
                  <a:srgbClr val="EAF6FA"/>
                </a:solidFill>
                <a:latin typeface="Public Sans" pitchFamily="34" charset="0"/>
                <a:ea typeface="Public Sans" pitchFamily="34" charset="-122"/>
                <a:cs typeface="Public Sans" pitchFamily="34" charset="-120"/>
              </a:rPr>
              <a:t>Required class participation rate across all courses.</a:t>
            </a:r>
            <a:endParaRPr lang="en-US" sz="1400" dirty="0"/>
          </a:p>
        </p:txBody>
      </p:sp>
      <p:sp>
        <p:nvSpPr>
          <p:cNvPr id="8" name="Text 6"/>
          <p:cNvSpPr/>
          <p:nvPr/>
        </p:nvSpPr>
        <p:spPr>
          <a:xfrm>
            <a:off x="609585" y="4502051"/>
            <a:ext cx="4328111" cy="939800"/>
          </a:xfrm>
          <a:prstGeom prst="rect">
            <a:avLst/>
          </a:prstGeom>
          <a:noFill/>
          <a:ln/>
        </p:spPr>
        <p:txBody>
          <a:bodyPr wrap="none" lIns="0" tIns="0" rIns="0" bIns="0" rtlCol="0" anchor="t"/>
          <a:lstStyle/>
          <a:p>
            <a:pPr marL="0" indent="0" algn="l">
              <a:lnSpc>
                <a:spcPct val="83000"/>
              </a:lnSpc>
              <a:buNone/>
            </a:pPr>
            <a:r>
              <a:rPr lang="en-US" sz="7400" dirty="0">
                <a:solidFill>
                  <a:srgbClr val="7C3AED"/>
                </a:solidFill>
                <a:latin typeface="Saira Semi Condensed" pitchFamily="34" charset="0"/>
                <a:ea typeface="Saira Semi Condensed" pitchFamily="34" charset="-122"/>
                <a:cs typeface="Saira Semi Condensed" pitchFamily="34" charset="-120"/>
              </a:rPr>
              <a:t>60%</a:t>
            </a:r>
            <a:endParaRPr lang="en-US" sz="7400" dirty="0"/>
          </a:p>
        </p:txBody>
      </p:sp>
      <p:sp>
        <p:nvSpPr>
          <p:cNvPr id="9" name="Text 7"/>
          <p:cNvSpPr/>
          <p:nvPr/>
        </p:nvSpPr>
        <p:spPr>
          <a:xfrm>
            <a:off x="609585" y="5468838"/>
            <a:ext cx="4328111" cy="279400"/>
          </a:xfrm>
          <a:prstGeom prst="rect">
            <a:avLst/>
          </a:prstGeom>
          <a:noFill/>
          <a:ln/>
        </p:spPr>
        <p:txBody>
          <a:bodyPr wrap="none" lIns="0" tIns="0" rIns="0" bIns="0" rtlCol="0" anchor="t"/>
          <a:lstStyle/>
          <a:p>
            <a:pPr marL="0" indent="0" algn="l">
              <a:lnSpc>
                <a:spcPct val="92000"/>
              </a:lnSpc>
              <a:buNone/>
            </a:pPr>
            <a:r>
              <a:rPr lang="en-US" sz="2000" dirty="0">
                <a:solidFill>
                  <a:srgbClr val="A9DDF0"/>
                </a:solidFill>
                <a:latin typeface="Saira Semi Condensed" pitchFamily="34" charset="0"/>
                <a:ea typeface="Saira Semi Condensed" pitchFamily="34" charset="-122"/>
                <a:cs typeface="Saira Semi Condensed" pitchFamily="34" charset="-120"/>
              </a:rPr>
              <a:t>Minimum Average Grade</a:t>
            </a:r>
            <a:endParaRPr lang="en-US" sz="2000" dirty="0"/>
          </a:p>
        </p:txBody>
      </p:sp>
      <p:sp>
        <p:nvSpPr>
          <p:cNvPr id="10" name="Text 8"/>
          <p:cNvSpPr/>
          <p:nvPr/>
        </p:nvSpPr>
        <p:spPr>
          <a:xfrm>
            <a:off x="609585" y="5863808"/>
            <a:ext cx="4328111" cy="248841"/>
          </a:xfrm>
          <a:prstGeom prst="rect">
            <a:avLst/>
          </a:prstGeom>
          <a:noFill/>
          <a:ln/>
        </p:spPr>
        <p:txBody>
          <a:bodyPr wrap="none" lIns="0" tIns="0" rIns="0" bIns="0" rtlCol="0" anchor="t"/>
          <a:lstStyle/>
          <a:p>
            <a:pPr marL="0" indent="0" algn="l">
              <a:lnSpc>
                <a:spcPct val="117000"/>
              </a:lnSpc>
              <a:buNone/>
            </a:pPr>
            <a:r>
              <a:rPr lang="en-US" sz="1400" dirty="0">
                <a:solidFill>
                  <a:srgbClr val="EAF6FA"/>
                </a:solidFill>
                <a:latin typeface="Public Sans" pitchFamily="34" charset="0"/>
                <a:ea typeface="Public Sans" pitchFamily="34" charset="-122"/>
                <a:cs typeface="Public Sans" pitchFamily="34" charset="-120"/>
              </a:rPr>
              <a:t>Passing academic performance threshold.</a:t>
            </a:r>
            <a:endParaRPr lang="en-US" sz="1400" dirty="0"/>
          </a:p>
        </p:txBody>
      </p:sp>
      <p:sp>
        <p:nvSpPr>
          <p:cNvPr id="11" name="Shape 9"/>
          <p:cNvSpPr/>
          <p:nvPr/>
        </p:nvSpPr>
        <p:spPr>
          <a:xfrm>
            <a:off x="5851974" y="0"/>
            <a:ext cx="6339721" cy="6858000"/>
          </a:xfrm>
          <a:prstGeom prst="rect">
            <a:avLst/>
          </a:prstGeom>
          <a:solidFill>
            <a:srgbClr val="0A3F46"/>
          </a:solidFill>
          <a:ln/>
        </p:spPr>
      </p:sp>
      <p:sp>
        <p:nvSpPr>
          <p:cNvPr id="12" name="Text 10"/>
          <p:cNvSpPr/>
          <p:nvPr/>
        </p:nvSpPr>
        <p:spPr>
          <a:xfrm>
            <a:off x="6131367" y="2247662"/>
            <a:ext cx="6060328"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FFFFFF"/>
                </a:solidFill>
                <a:latin typeface="Public Sans" pitchFamily="34" charset="0"/>
                <a:ea typeface="Public Sans" pitchFamily="34" charset="-122"/>
                <a:cs typeface="Public Sans" pitchFamily="34" charset="-120"/>
              </a:rPr>
              <a:t>LOGICAL EVALUATION CODE</a:t>
            </a:r>
            <a:endParaRPr lang="en-US" sz="1050" dirty="0"/>
          </a:p>
        </p:txBody>
      </p:sp>
      <p:sp>
        <p:nvSpPr>
          <p:cNvPr id="13" name="Shape 11"/>
          <p:cNvSpPr/>
          <p:nvPr/>
        </p:nvSpPr>
        <p:spPr>
          <a:xfrm>
            <a:off x="6131367" y="2633365"/>
            <a:ext cx="5780935" cy="1777901"/>
          </a:xfrm>
          <a:prstGeom prst="roundRect">
            <a:avLst>
              <a:gd name="adj" fmla="val 643"/>
            </a:avLst>
          </a:prstGeom>
          <a:solidFill>
            <a:srgbClr val="13272B"/>
          </a:solidFill>
          <a:ln/>
        </p:spPr>
      </p:sp>
      <p:sp>
        <p:nvSpPr>
          <p:cNvPr id="14" name="Text 12"/>
          <p:cNvSpPr/>
          <p:nvPr/>
        </p:nvSpPr>
        <p:spPr>
          <a:xfrm>
            <a:off x="6344682" y="2811482"/>
            <a:ext cx="5354305" cy="1422301"/>
          </a:xfrm>
          <a:prstGeom prst="rect">
            <a:avLst/>
          </a:prstGeom>
          <a:noFill/>
          <a:ln/>
        </p:spPr>
        <p:txBody>
          <a:bodyPr wrap="square" lIns="0" tIns="0" rIns="0" bIns="0" rtlCol="0" anchor="t">
            <a:normAutofit/>
          </a:bodyPr>
          <a:lstStyle/>
          <a:p>
            <a:pPr marL="0" indent="0" algn="l">
              <a:lnSpc>
                <a:spcPct val="133000"/>
              </a:lnSpc>
              <a:buNone/>
            </a:pPr>
            <a:r>
              <a:rPr lang="en-US" sz="1400" dirty="0">
                <a:solidFill>
                  <a:srgbClr val="FF7B72"/>
                </a:solidFill>
                <a:latin typeface="Consolas" pitchFamily="34" charset="0"/>
                <a:ea typeface="Consolas" pitchFamily="34" charset="-122"/>
                <a:cs typeface="Consolas" pitchFamily="34" charset="-120"/>
              </a:rPr>
              <a:t>boolean meetsAtt = attendance &gt;= 75.0;</a:t>
            </a:r>
            <a:endParaRPr lang="en-US" sz="1400" dirty="0"/>
          </a:p>
          <a:p>
            <a:pPr marL="0" indent="0" algn="l">
              <a:lnSpc>
                <a:spcPct val="133000"/>
              </a:lnSpc>
              <a:buNone/>
            </a:pPr>
            <a:r>
              <a:rPr lang="en-US" sz="1400" dirty="0">
                <a:solidFill>
                  <a:srgbClr val="FF7B72"/>
                </a:solidFill>
                <a:latin typeface="Consolas" pitchFamily="34" charset="0"/>
                <a:ea typeface="Consolas" pitchFamily="34" charset="-122"/>
                <a:cs typeface="Consolas" pitchFamily="34" charset="-120"/>
              </a:rPr>
              <a:t>boolean passesG = average &gt;= 60.0;</a:t>
            </a:r>
            <a:endParaRPr lang="en-US" sz="1400" dirty="0"/>
          </a:p>
          <a:p>
            <a:pPr marL="0" indent="0" algn="l">
              <a:lnSpc>
                <a:spcPct val="133000"/>
              </a:lnSpc>
              <a:buNone/>
            </a:pPr>
            <a:r>
              <a:rPr lang="en-US" sz="1400" dirty="0">
                <a:solidFill>
                  <a:srgbClr val="FF7B72"/>
                </a:solidFill>
                <a:latin typeface="Consolas" pitchFamily="34" charset="0"/>
                <a:ea typeface="Consolas" pitchFamily="34" charset="-122"/>
                <a:cs typeface="Consolas" pitchFamily="34" charset="-120"/>
              </a:rPr>
              <a:t>boolean isEligible = meetsAtt &amp;&amp; passesG;</a:t>
            </a:r>
            <a:endParaRPr lang="en-US" sz="1400" dirty="0"/>
          </a:p>
          <a:p>
            <a:pPr marL="0" indent="0" algn="l">
              <a:lnSpc>
                <a:spcPct val="133000"/>
              </a:lnSpc>
              <a:buNone/>
            </a:pPr>
            <a:endParaRPr lang="en-US" sz="1400" dirty="0"/>
          </a:p>
          <a:p>
            <a:pPr marL="0" indent="0" algn="l">
              <a:lnSpc>
                <a:spcPct val="133000"/>
              </a:lnSpc>
              <a:buNone/>
            </a:pPr>
            <a:r>
              <a:rPr lang="en-US" sz="1400" dirty="0">
                <a:solidFill>
                  <a:srgbClr val="FF7B72"/>
                </a:solidFill>
                <a:latin typeface="Consolas" pitchFamily="34" charset="0"/>
                <a:ea typeface="Consolas" pitchFamily="34" charset="-122"/>
                <a:cs typeface="Consolas" pitchFamily="34" charset="-120"/>
              </a:rPr>
              <a:t>String msg = isEligible ? "Eligible" : "Ineligible";</a:t>
            </a:r>
            <a:endParaRPr lang="en-US" sz="1400" dirty="0"/>
          </a:p>
        </p:txBody>
      </p:sp>
      <p:sp>
        <p:nvSpPr>
          <p:cNvPr id="15" name="Text 13"/>
          <p:cNvSpPr/>
          <p:nvPr/>
        </p:nvSpPr>
        <p:spPr>
          <a:xfrm>
            <a:off x="11939090" y="6466086"/>
            <a:ext cx="252605" cy="174129"/>
          </a:xfrm>
          <a:prstGeom prst="rect">
            <a:avLst/>
          </a:prstGeom>
          <a:noFill/>
          <a:ln/>
        </p:spPr>
        <p:txBody>
          <a:bodyPr wrap="none" lIns="0" tIns="0" rIns="0" bIns="0" rtlCol="0" anchor="ctr"/>
          <a:lstStyle/>
          <a:p>
            <a:pPr marL="0" indent="0" algn="l">
              <a:lnSpc>
                <a:spcPct val="117000"/>
              </a:lnSpc>
              <a:buNone/>
            </a:pPr>
            <a:r>
              <a:rPr lang="en-US" sz="1000" dirty="0">
                <a:solidFill>
                  <a:srgbClr val="EAF6FA"/>
                </a:solidFill>
                <a:latin typeface="Public Sans" pitchFamily="34" charset="0"/>
                <a:ea typeface="Public Sans" pitchFamily="34" charset="-122"/>
                <a:cs typeface="Public Sans" pitchFamily="34" charset="-120"/>
              </a:rPr>
              <a:t>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85" y="610553"/>
            <a:ext cx="11582110"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A9DDF0"/>
                </a:solidFill>
                <a:latin typeface="Public Sans" pitchFamily="34" charset="0"/>
                <a:ea typeface="Public Sans" pitchFamily="34" charset="-122"/>
                <a:cs typeface="Public Sans" pitchFamily="34" charset="-120"/>
              </a:rPr>
              <a:t>09 / NEXT STEPS &amp; WRAP-UP</a:t>
            </a:r>
            <a:endParaRPr lang="en-US" sz="1050" dirty="0"/>
          </a:p>
        </p:txBody>
      </p:sp>
      <p:sp>
        <p:nvSpPr>
          <p:cNvPr id="3" name="Text 1"/>
          <p:cNvSpPr/>
          <p:nvPr/>
        </p:nvSpPr>
        <p:spPr>
          <a:xfrm>
            <a:off x="609585" y="915928"/>
            <a:ext cx="10972526" cy="670520"/>
          </a:xfrm>
          <a:prstGeom prst="rect">
            <a:avLst/>
          </a:prstGeom>
          <a:noFill/>
          <a:ln/>
        </p:spPr>
        <p:txBody>
          <a:bodyPr wrap="none" lIns="0" tIns="0" rIns="0" bIns="0" rtlCol="0" anchor="t"/>
          <a:lstStyle/>
          <a:p>
            <a:pPr marL="0" indent="0" algn="l">
              <a:lnSpc>
                <a:spcPct val="92000"/>
              </a:lnSpc>
              <a:buNone/>
            </a:pPr>
            <a:r>
              <a:rPr lang="en-US" sz="4800" dirty="0">
                <a:solidFill>
                  <a:srgbClr val="EAF6FA"/>
                </a:solidFill>
                <a:latin typeface="Saira Semi Condensed" pitchFamily="34" charset="0"/>
                <a:ea typeface="Saira Semi Condensed" pitchFamily="34" charset="-122"/>
                <a:cs typeface="Saira Semi Condensed" pitchFamily="34" charset="-120"/>
              </a:rPr>
              <a:t>FUTURE SCOPE &amp; CONCLUSION</a:t>
            </a:r>
            <a:endParaRPr lang="en-US" sz="4800" dirty="0"/>
          </a:p>
        </p:txBody>
      </p:sp>
      <p:sp>
        <p:nvSpPr>
          <p:cNvPr id="4" name="Shape 2"/>
          <p:cNvSpPr/>
          <p:nvPr/>
        </p:nvSpPr>
        <p:spPr>
          <a:xfrm>
            <a:off x="609585" y="1762026"/>
            <a:ext cx="10972526" cy="19050"/>
          </a:xfrm>
          <a:prstGeom prst="roundRect">
            <a:avLst>
              <a:gd name="adj" fmla="val 49999"/>
            </a:avLst>
          </a:prstGeom>
          <a:solidFill>
            <a:srgbClr val="2F6A73"/>
          </a:solidFill>
          <a:ln/>
        </p:spPr>
      </p:sp>
      <p:sp>
        <p:nvSpPr>
          <p:cNvPr id="5" name="Shape 3"/>
          <p:cNvSpPr/>
          <p:nvPr/>
        </p:nvSpPr>
        <p:spPr>
          <a:xfrm>
            <a:off x="609585" y="1984276"/>
            <a:ext cx="3454314" cy="1994297"/>
          </a:xfrm>
          <a:prstGeom prst="roundRect">
            <a:avLst>
              <a:gd name="adj" fmla="val 573"/>
            </a:avLst>
          </a:prstGeom>
          <a:noFill/>
          <a:ln w="19050">
            <a:solidFill>
              <a:srgbClr val="23585F"/>
            </a:solidFill>
            <a:prstDash val="solid"/>
          </a:ln>
        </p:spPr>
      </p:sp>
      <p:pic>
        <p:nvPicPr>
          <p:cNvPr id="6" name="Image 0" descr="preencoded.png"/>
          <p:cNvPicPr>
            <a:picLocks noChangeAspect="1"/>
          </p:cNvPicPr>
          <p:nvPr/>
        </p:nvPicPr>
        <p:blipFill>
          <a:blip r:embed="rId3"/>
          <a:stretch>
            <a:fillRect/>
          </a:stretch>
        </p:blipFill>
        <p:spPr>
          <a:xfrm>
            <a:off x="831829" y="2206526"/>
            <a:ext cx="200020" cy="228600"/>
          </a:xfrm>
          <a:prstGeom prst="rect">
            <a:avLst/>
          </a:prstGeom>
        </p:spPr>
      </p:pic>
      <p:sp>
        <p:nvSpPr>
          <p:cNvPr id="7" name="Text 4"/>
          <p:cNvSpPr/>
          <p:nvPr/>
        </p:nvSpPr>
        <p:spPr>
          <a:xfrm>
            <a:off x="831829" y="2609751"/>
            <a:ext cx="3009825" cy="279400"/>
          </a:xfrm>
          <a:prstGeom prst="rect">
            <a:avLst/>
          </a:prstGeom>
          <a:noFill/>
          <a:ln/>
        </p:spPr>
        <p:txBody>
          <a:bodyPr wrap="none" lIns="0" tIns="0" rIns="0" bIns="0" rtlCol="0" anchor="t"/>
          <a:lstStyle/>
          <a:p>
            <a:pPr marL="0" indent="0" algn="l">
              <a:lnSpc>
                <a:spcPct val="92000"/>
              </a:lnSpc>
              <a:buNone/>
            </a:pPr>
            <a:r>
              <a:rPr lang="en-US" sz="2000" dirty="0">
                <a:solidFill>
                  <a:srgbClr val="A9DDF0"/>
                </a:solidFill>
                <a:latin typeface="Saira Semi Condensed" pitchFamily="34" charset="0"/>
                <a:ea typeface="Saira Semi Condensed" pitchFamily="34" charset="-122"/>
                <a:cs typeface="Saira Semi Condensed" pitchFamily="34" charset="-120"/>
              </a:rPr>
              <a:t>MySQL Database</a:t>
            </a:r>
            <a:endParaRPr lang="en-US" sz="2000" dirty="0"/>
          </a:p>
        </p:txBody>
      </p:sp>
      <p:sp>
        <p:nvSpPr>
          <p:cNvPr id="8" name="Text 5"/>
          <p:cNvSpPr/>
          <p:nvPr/>
        </p:nvSpPr>
        <p:spPr>
          <a:xfrm>
            <a:off x="831829" y="3004721"/>
            <a:ext cx="3009825" cy="746522"/>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EAF6FA"/>
                </a:solidFill>
                <a:latin typeface="Public Sans" pitchFamily="34" charset="0"/>
                <a:ea typeface="Public Sans" pitchFamily="34" charset="-122"/>
                <a:cs typeface="Public Sans" pitchFamily="34" charset="-120"/>
              </a:rPr>
              <a:t>Replace volatile arrays with persistent SQL tables for multi-year academic history storage.</a:t>
            </a:r>
            <a:endParaRPr lang="en-US" sz="1400" dirty="0"/>
          </a:p>
        </p:txBody>
      </p:sp>
      <p:sp>
        <p:nvSpPr>
          <p:cNvPr id="9" name="Shape 6"/>
          <p:cNvSpPr/>
          <p:nvPr/>
        </p:nvSpPr>
        <p:spPr>
          <a:xfrm>
            <a:off x="4368691" y="1984276"/>
            <a:ext cx="3454314" cy="1994297"/>
          </a:xfrm>
          <a:prstGeom prst="roundRect">
            <a:avLst>
              <a:gd name="adj" fmla="val 573"/>
            </a:avLst>
          </a:prstGeom>
          <a:noFill/>
          <a:ln w="19050">
            <a:solidFill>
              <a:srgbClr val="23585F"/>
            </a:solidFill>
            <a:prstDash val="solid"/>
          </a:ln>
        </p:spPr>
      </p:sp>
      <p:pic>
        <p:nvPicPr>
          <p:cNvPr id="10" name="Image 1" descr="preencoded.png"/>
          <p:cNvPicPr>
            <a:picLocks noChangeAspect="1"/>
          </p:cNvPicPr>
          <p:nvPr/>
        </p:nvPicPr>
        <p:blipFill>
          <a:blip r:embed="rId4"/>
          <a:stretch>
            <a:fillRect/>
          </a:stretch>
        </p:blipFill>
        <p:spPr>
          <a:xfrm>
            <a:off x="4590935" y="2206526"/>
            <a:ext cx="266693" cy="238125"/>
          </a:xfrm>
          <a:prstGeom prst="rect">
            <a:avLst/>
          </a:prstGeom>
        </p:spPr>
      </p:pic>
      <p:sp>
        <p:nvSpPr>
          <p:cNvPr id="11" name="Text 7"/>
          <p:cNvSpPr/>
          <p:nvPr/>
        </p:nvSpPr>
        <p:spPr>
          <a:xfrm>
            <a:off x="4590935" y="2619276"/>
            <a:ext cx="3009825" cy="279400"/>
          </a:xfrm>
          <a:prstGeom prst="rect">
            <a:avLst/>
          </a:prstGeom>
          <a:noFill/>
          <a:ln/>
        </p:spPr>
        <p:txBody>
          <a:bodyPr wrap="none" lIns="0" tIns="0" rIns="0" bIns="0" rtlCol="0" anchor="t"/>
          <a:lstStyle/>
          <a:p>
            <a:pPr marL="0" indent="0" algn="l">
              <a:lnSpc>
                <a:spcPct val="92000"/>
              </a:lnSpc>
              <a:buNone/>
            </a:pPr>
            <a:r>
              <a:rPr lang="en-US" sz="2000" dirty="0">
                <a:solidFill>
                  <a:srgbClr val="A9DDF0"/>
                </a:solidFill>
                <a:latin typeface="Saira Semi Condensed" pitchFamily="34" charset="0"/>
                <a:ea typeface="Saira Semi Condensed" pitchFamily="34" charset="-122"/>
                <a:cs typeface="Saira Semi Condensed" pitchFamily="34" charset="-120"/>
              </a:rPr>
              <a:t>JavaFX GUI Interface</a:t>
            </a:r>
            <a:endParaRPr lang="en-US" sz="2000" dirty="0"/>
          </a:p>
        </p:txBody>
      </p:sp>
      <p:sp>
        <p:nvSpPr>
          <p:cNvPr id="12" name="Text 8"/>
          <p:cNvSpPr/>
          <p:nvPr/>
        </p:nvSpPr>
        <p:spPr>
          <a:xfrm>
            <a:off x="4590935" y="3014246"/>
            <a:ext cx="3009825" cy="746522"/>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EAF6FA"/>
                </a:solidFill>
                <a:latin typeface="Public Sans" pitchFamily="34" charset="0"/>
                <a:ea typeface="Public Sans" pitchFamily="34" charset="-122"/>
                <a:cs typeface="Public Sans" pitchFamily="34" charset="-120"/>
              </a:rPr>
              <a:t>Develop a rich graphical user interface with visual performance charts and dashboards.</a:t>
            </a:r>
            <a:endParaRPr lang="en-US" sz="1400" dirty="0"/>
          </a:p>
        </p:txBody>
      </p:sp>
      <p:sp>
        <p:nvSpPr>
          <p:cNvPr id="13" name="Shape 9"/>
          <p:cNvSpPr/>
          <p:nvPr/>
        </p:nvSpPr>
        <p:spPr>
          <a:xfrm>
            <a:off x="8127797" y="1984276"/>
            <a:ext cx="3454314" cy="1994297"/>
          </a:xfrm>
          <a:prstGeom prst="roundRect">
            <a:avLst>
              <a:gd name="adj" fmla="val 573"/>
            </a:avLst>
          </a:prstGeom>
          <a:noFill/>
          <a:ln w="19050">
            <a:solidFill>
              <a:srgbClr val="23585F"/>
            </a:solidFill>
            <a:prstDash val="solid"/>
          </a:ln>
        </p:spPr>
      </p:sp>
      <p:pic>
        <p:nvPicPr>
          <p:cNvPr id="14" name="Image 2" descr="preencoded.png"/>
          <p:cNvPicPr>
            <a:picLocks noChangeAspect="1"/>
          </p:cNvPicPr>
          <p:nvPr/>
        </p:nvPicPr>
        <p:blipFill>
          <a:blip r:embed="rId5"/>
          <a:stretch>
            <a:fillRect/>
          </a:stretch>
        </p:blipFill>
        <p:spPr>
          <a:xfrm>
            <a:off x="8350041" y="2206526"/>
            <a:ext cx="295268" cy="228600"/>
          </a:xfrm>
          <a:prstGeom prst="rect">
            <a:avLst/>
          </a:prstGeom>
        </p:spPr>
      </p:pic>
      <p:sp>
        <p:nvSpPr>
          <p:cNvPr id="15" name="Text 10"/>
          <p:cNvSpPr/>
          <p:nvPr/>
        </p:nvSpPr>
        <p:spPr>
          <a:xfrm>
            <a:off x="8350041" y="2609751"/>
            <a:ext cx="3009825" cy="279400"/>
          </a:xfrm>
          <a:prstGeom prst="rect">
            <a:avLst/>
          </a:prstGeom>
          <a:noFill/>
          <a:ln/>
        </p:spPr>
        <p:txBody>
          <a:bodyPr wrap="none" lIns="0" tIns="0" rIns="0" bIns="0" rtlCol="0" anchor="t"/>
          <a:lstStyle/>
          <a:p>
            <a:pPr marL="0" indent="0" algn="l">
              <a:lnSpc>
                <a:spcPct val="92000"/>
              </a:lnSpc>
              <a:buNone/>
            </a:pPr>
            <a:r>
              <a:rPr lang="en-US" sz="2000" dirty="0">
                <a:solidFill>
                  <a:srgbClr val="A9DDF0"/>
                </a:solidFill>
                <a:latin typeface="Saira Semi Condensed" pitchFamily="34" charset="0"/>
                <a:ea typeface="Saira Semi Condensed" pitchFamily="34" charset="-122"/>
                <a:cs typeface="Saira Semi Condensed" pitchFamily="34" charset="-120"/>
              </a:rPr>
              <a:t>Automated Alerts</a:t>
            </a:r>
            <a:endParaRPr lang="en-US" sz="2000" dirty="0"/>
          </a:p>
        </p:txBody>
      </p:sp>
      <p:sp>
        <p:nvSpPr>
          <p:cNvPr id="16" name="Text 11"/>
          <p:cNvSpPr/>
          <p:nvPr/>
        </p:nvSpPr>
        <p:spPr>
          <a:xfrm>
            <a:off x="8350041" y="3004721"/>
            <a:ext cx="3009825" cy="746522"/>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EAF6FA"/>
                </a:solidFill>
                <a:latin typeface="Public Sans" pitchFamily="34" charset="0"/>
                <a:ea typeface="Public Sans" pitchFamily="34" charset="-122"/>
                <a:cs typeface="Public Sans" pitchFamily="34" charset="-120"/>
              </a:rPr>
              <a:t>Dispatch instant SMS/Email warnings to students and guardians when attendance drops below 75%.</a:t>
            </a:r>
            <a:endParaRPr lang="en-US" sz="1400" dirty="0"/>
          </a:p>
        </p:txBody>
      </p:sp>
      <p:sp>
        <p:nvSpPr>
          <p:cNvPr id="17" name="Text 12"/>
          <p:cNvSpPr/>
          <p:nvPr/>
        </p:nvSpPr>
        <p:spPr>
          <a:xfrm>
            <a:off x="609585" y="4381798"/>
            <a:ext cx="8534187" cy="279400"/>
          </a:xfrm>
          <a:prstGeom prst="rect">
            <a:avLst/>
          </a:prstGeom>
          <a:noFill/>
          <a:ln/>
        </p:spPr>
        <p:txBody>
          <a:bodyPr wrap="none" lIns="0" tIns="0" rIns="0" bIns="0" rtlCol="0" anchor="t"/>
          <a:lstStyle/>
          <a:p>
            <a:pPr marL="0" indent="0" algn="l">
              <a:lnSpc>
                <a:spcPct val="92000"/>
              </a:lnSpc>
              <a:buNone/>
            </a:pPr>
            <a:r>
              <a:rPr lang="en-US" sz="2000" dirty="0">
                <a:solidFill>
                  <a:srgbClr val="A9DDF0"/>
                </a:solidFill>
                <a:latin typeface="Saira Semi Condensed" pitchFamily="34" charset="0"/>
                <a:ea typeface="Saira Semi Condensed" pitchFamily="34" charset="-122"/>
                <a:cs typeface="Saira Semi Condensed" pitchFamily="34" charset="-120"/>
              </a:rPr>
              <a:t>Empowering Higher Education with Automated Precision</a:t>
            </a:r>
            <a:endParaRPr lang="en-US" sz="2000" dirty="0"/>
          </a:p>
        </p:txBody>
      </p:sp>
      <p:sp>
        <p:nvSpPr>
          <p:cNvPr id="18" name="Text 13"/>
          <p:cNvSpPr/>
          <p:nvPr/>
        </p:nvSpPr>
        <p:spPr>
          <a:xfrm>
            <a:off x="609585" y="4776768"/>
            <a:ext cx="8534187" cy="248841"/>
          </a:xfrm>
          <a:prstGeom prst="rect">
            <a:avLst/>
          </a:prstGeom>
          <a:noFill/>
          <a:ln/>
        </p:spPr>
        <p:txBody>
          <a:bodyPr wrap="none" lIns="0" tIns="0" rIns="0" bIns="0" rtlCol="0" anchor="t"/>
          <a:lstStyle/>
          <a:p>
            <a:pPr marL="0" indent="0" algn="l">
              <a:lnSpc>
                <a:spcPct val="117000"/>
              </a:lnSpc>
              <a:buNone/>
            </a:pPr>
            <a:r>
              <a:rPr lang="en-US" sz="1400" dirty="0">
                <a:solidFill>
                  <a:srgbClr val="EAF6FA"/>
                </a:solidFill>
                <a:latin typeface="Public Sans" pitchFamily="34" charset="0"/>
                <a:ea typeface="Public Sans" pitchFamily="34" charset="-122"/>
                <a:cs typeface="Public Sans" pitchFamily="34" charset="-120"/>
              </a:rPr>
              <a:t>Thank you! Ready for Questions &amp; Discussion.</a:t>
            </a:r>
            <a:endParaRPr lang="en-US" sz="1400" dirty="0"/>
          </a:p>
        </p:txBody>
      </p:sp>
      <p:sp>
        <p:nvSpPr>
          <p:cNvPr id="19" name="Shape 14"/>
          <p:cNvSpPr/>
          <p:nvPr/>
        </p:nvSpPr>
        <p:spPr>
          <a:xfrm>
            <a:off x="9448464" y="4137323"/>
            <a:ext cx="2133646" cy="1112441"/>
          </a:xfrm>
          <a:prstGeom prst="rect">
            <a:avLst/>
          </a:prstGeom>
          <a:solidFill>
            <a:srgbClr val="7C3AED"/>
          </a:solidFill>
          <a:ln/>
        </p:spPr>
      </p:sp>
      <p:sp>
        <p:nvSpPr>
          <p:cNvPr id="20" name="Text 15"/>
          <p:cNvSpPr/>
          <p:nvPr/>
        </p:nvSpPr>
        <p:spPr>
          <a:xfrm>
            <a:off x="9448464" y="4294168"/>
            <a:ext cx="2133646" cy="248841"/>
          </a:xfrm>
          <a:prstGeom prst="rect">
            <a:avLst/>
          </a:prstGeom>
          <a:noFill/>
          <a:ln/>
        </p:spPr>
        <p:txBody>
          <a:bodyPr wrap="none" lIns="0" tIns="0" rIns="0" bIns="0" rtlCol="0" anchor="t"/>
          <a:lstStyle/>
          <a:p>
            <a:pPr marL="0" indent="0" algn="ctr">
              <a:lnSpc>
                <a:spcPct val="117000"/>
              </a:lnSpc>
              <a:buNone/>
            </a:pPr>
            <a:r>
              <a:rPr lang="en-US" sz="1400" b="1" dirty="0">
                <a:solidFill>
                  <a:srgbClr val="FFFFFF"/>
                </a:solidFill>
                <a:latin typeface="Public Sans Bold" pitchFamily="34" charset="0"/>
                <a:ea typeface="Public Sans Bold" pitchFamily="34" charset="-122"/>
                <a:cs typeface="Public Sans Bold" pitchFamily="34" charset="-120"/>
              </a:rPr>
              <a:t>Q &amp; A</a:t>
            </a:r>
            <a:endParaRPr lang="en-US" sz="1400" dirty="0"/>
          </a:p>
        </p:txBody>
      </p:sp>
      <p:sp>
        <p:nvSpPr>
          <p:cNvPr id="21" name="Text 16"/>
          <p:cNvSpPr/>
          <p:nvPr/>
        </p:nvSpPr>
        <p:spPr>
          <a:xfrm>
            <a:off x="11933336" y="6466086"/>
            <a:ext cx="258359" cy="174129"/>
          </a:xfrm>
          <a:prstGeom prst="rect">
            <a:avLst/>
          </a:prstGeom>
          <a:noFill/>
          <a:ln/>
        </p:spPr>
        <p:txBody>
          <a:bodyPr wrap="none" lIns="0" tIns="0" rIns="0" bIns="0" rtlCol="0" anchor="ctr"/>
          <a:lstStyle/>
          <a:p>
            <a:pPr marL="0" indent="0" algn="l">
              <a:lnSpc>
                <a:spcPct val="117000"/>
              </a:lnSpc>
              <a:buNone/>
            </a:pPr>
            <a:r>
              <a:rPr lang="en-US" sz="1000" dirty="0">
                <a:solidFill>
                  <a:srgbClr val="EAF6FA"/>
                </a:solidFill>
                <a:latin typeface="Public Sans" pitchFamily="34" charset="0"/>
                <a:ea typeface="Public Sans" pitchFamily="34" charset="-122"/>
                <a:cs typeface="Public Sans" pitchFamily="34" charset="-120"/>
              </a:rPr>
              <a:t>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3790" y="610553"/>
            <a:ext cx="2873700"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A9DDF0"/>
                </a:solidFill>
                <a:latin typeface="Public Sans" pitchFamily="34" charset="0"/>
                <a:ea typeface="Public Sans" pitchFamily="34" charset="-122"/>
                <a:cs typeface="Public Sans" pitchFamily="34" charset="-120"/>
              </a:rPr>
              <a:t>CAPSTONE PROJECT REVIEW – 2</a:t>
            </a:r>
            <a:endParaRPr lang="en-US" sz="1050" dirty="0"/>
          </a:p>
        </p:txBody>
      </p:sp>
      <p:pic>
        <p:nvPicPr>
          <p:cNvPr id="3" name="Image 0" descr="preencoded.png"/>
          <p:cNvPicPr>
            <a:picLocks noChangeAspect="1"/>
          </p:cNvPicPr>
          <p:nvPr/>
        </p:nvPicPr>
        <p:blipFill>
          <a:blip r:embed="rId3"/>
          <a:stretch>
            <a:fillRect/>
          </a:stretch>
        </p:blipFill>
        <p:spPr>
          <a:xfrm>
            <a:off x="5752956" y="1502966"/>
            <a:ext cx="685783" cy="685800"/>
          </a:xfrm>
          <a:prstGeom prst="rect">
            <a:avLst/>
          </a:prstGeom>
        </p:spPr>
      </p:pic>
      <p:pic>
        <p:nvPicPr>
          <p:cNvPr id="4" name="Image 1" descr="preencoded.png"/>
          <p:cNvPicPr>
            <a:picLocks noChangeAspect="1"/>
          </p:cNvPicPr>
          <p:nvPr/>
        </p:nvPicPr>
        <p:blipFill>
          <a:blip r:embed="rId4"/>
          <a:stretch>
            <a:fillRect/>
          </a:stretch>
        </p:blipFill>
        <p:spPr>
          <a:xfrm>
            <a:off x="5900590" y="2347516"/>
            <a:ext cx="390515" cy="314325"/>
          </a:xfrm>
          <a:prstGeom prst="rect">
            <a:avLst/>
          </a:prstGeom>
        </p:spPr>
      </p:pic>
      <p:sp>
        <p:nvSpPr>
          <p:cNvPr id="5" name="Text 1"/>
          <p:cNvSpPr/>
          <p:nvPr/>
        </p:nvSpPr>
        <p:spPr>
          <a:xfrm>
            <a:off x="3685289" y="3057128"/>
            <a:ext cx="10972526" cy="939800"/>
          </a:xfrm>
          <a:prstGeom prst="rect">
            <a:avLst/>
          </a:prstGeom>
          <a:noFill/>
          <a:ln/>
        </p:spPr>
        <p:txBody>
          <a:bodyPr wrap="none" lIns="0" tIns="0" rIns="0" bIns="0" rtlCol="0" anchor="t"/>
          <a:lstStyle/>
          <a:p>
            <a:pPr marL="0" indent="0" algn="l">
              <a:lnSpc>
                <a:spcPct val="83000"/>
              </a:lnSpc>
              <a:buNone/>
            </a:pPr>
            <a:r>
              <a:rPr lang="en-US" sz="7400" dirty="0">
                <a:solidFill>
                  <a:srgbClr val="EAF6FA"/>
                </a:solidFill>
                <a:latin typeface="Saira Semi Condensed" pitchFamily="34" charset="0"/>
                <a:ea typeface="Saira Semi Condensed" pitchFamily="34" charset="-122"/>
                <a:cs typeface="Saira Semi Condensed" pitchFamily="34" charset="-120"/>
              </a:rPr>
              <a:t>THANK YOU!</a:t>
            </a:r>
            <a:endParaRPr lang="en-US" sz="7400" dirty="0"/>
          </a:p>
        </p:txBody>
      </p:sp>
      <p:sp>
        <p:nvSpPr>
          <p:cNvPr id="6" name="Text 2"/>
          <p:cNvSpPr/>
          <p:nvPr/>
        </p:nvSpPr>
        <p:spPr>
          <a:xfrm>
            <a:off x="4340414" y="4077891"/>
            <a:ext cx="10972526" cy="279400"/>
          </a:xfrm>
          <a:prstGeom prst="rect">
            <a:avLst/>
          </a:prstGeom>
          <a:noFill/>
          <a:ln/>
        </p:spPr>
        <p:txBody>
          <a:bodyPr wrap="none" lIns="0" tIns="0" rIns="0" bIns="0" rtlCol="0" anchor="t"/>
          <a:lstStyle/>
          <a:p>
            <a:pPr marL="0" indent="0" algn="l">
              <a:lnSpc>
                <a:spcPct val="92000"/>
              </a:lnSpc>
              <a:buNone/>
            </a:pPr>
            <a:r>
              <a:rPr lang="en-US" sz="2000" dirty="0">
                <a:solidFill>
                  <a:srgbClr val="A9DDF0"/>
                </a:solidFill>
                <a:latin typeface="Saira Semi Condensed" pitchFamily="34" charset="0"/>
                <a:ea typeface="Saira Semi Condensed" pitchFamily="34" charset="-122"/>
                <a:cs typeface="Saira Semi Condensed" pitchFamily="34" charset="-120"/>
              </a:rPr>
              <a:t>Questions, Feedback &amp; Discussion</a:t>
            </a:r>
            <a:endParaRPr lang="en-US" sz="2000" dirty="0"/>
          </a:p>
        </p:txBody>
      </p:sp>
      <p:sp>
        <p:nvSpPr>
          <p:cNvPr id="7" name="Shape 3"/>
          <p:cNvSpPr/>
          <p:nvPr/>
        </p:nvSpPr>
        <p:spPr>
          <a:xfrm>
            <a:off x="609585" y="5092601"/>
            <a:ext cx="10972526" cy="19050"/>
          </a:xfrm>
          <a:prstGeom prst="roundRect">
            <a:avLst>
              <a:gd name="adj" fmla="val 49999"/>
            </a:avLst>
          </a:prstGeom>
          <a:solidFill>
            <a:srgbClr val="A9DDF0"/>
          </a:solidFill>
          <a:ln/>
        </p:spPr>
      </p:sp>
      <p:pic>
        <p:nvPicPr>
          <p:cNvPr id="8" name="Image 2" descr="preencoded.png"/>
          <p:cNvPicPr>
            <a:picLocks noChangeAspect="1"/>
          </p:cNvPicPr>
          <p:nvPr/>
        </p:nvPicPr>
        <p:blipFill>
          <a:blip r:embed="rId5"/>
          <a:stretch>
            <a:fillRect/>
          </a:stretch>
        </p:blipFill>
        <p:spPr>
          <a:xfrm>
            <a:off x="609585" y="5314851"/>
            <a:ext cx="133347" cy="151110"/>
          </a:xfrm>
          <a:prstGeom prst="rect">
            <a:avLst/>
          </a:prstGeom>
        </p:spPr>
      </p:pic>
      <p:sp>
        <p:nvSpPr>
          <p:cNvPr id="9" name="Text 4"/>
          <p:cNvSpPr/>
          <p:nvPr/>
        </p:nvSpPr>
        <p:spPr>
          <a:xfrm>
            <a:off x="609585" y="5575181"/>
            <a:ext cx="5257668" cy="248841"/>
          </a:xfrm>
          <a:prstGeom prst="rect">
            <a:avLst/>
          </a:prstGeom>
          <a:noFill/>
          <a:ln/>
        </p:spPr>
        <p:txBody>
          <a:bodyPr wrap="none" lIns="0" tIns="0" rIns="0" bIns="0" rtlCol="0" anchor="t"/>
          <a:lstStyle/>
          <a:p>
            <a:pPr marL="0" indent="0" algn="l">
              <a:lnSpc>
                <a:spcPct val="117000"/>
              </a:lnSpc>
              <a:buNone/>
            </a:pPr>
            <a:r>
              <a:rPr lang="en-US" sz="1400" b="1" dirty="0">
                <a:solidFill>
                  <a:srgbClr val="EAF6FA"/>
                </a:solidFill>
                <a:latin typeface="Public Sans Bold" pitchFamily="34" charset="0"/>
                <a:ea typeface="Public Sans Bold" pitchFamily="34" charset="-122"/>
                <a:cs typeface="Public Sans Bold" pitchFamily="34" charset="-120"/>
              </a:rPr>
              <a:t>Martha Hemanth Sai </a:t>
            </a:r>
            <a:r>
              <a:rPr lang="en-US" sz="1400" dirty="0">
                <a:solidFill>
                  <a:srgbClr val="EAF6FA"/>
                </a:solidFill>
                <a:latin typeface="Public Sans" pitchFamily="34" charset="0"/>
                <a:ea typeface="Public Sans" pitchFamily="34" charset="-122"/>
                <a:cs typeface="Public Sans" pitchFamily="34" charset="-120"/>
              </a:rPr>
              <a:t>(2620030510)</a:t>
            </a:r>
            <a:endParaRPr lang="en-US" sz="1400" dirty="0"/>
          </a:p>
        </p:txBody>
      </p:sp>
      <p:pic>
        <p:nvPicPr>
          <p:cNvPr id="10" name="Image 3" descr="preencoded.png"/>
          <p:cNvPicPr>
            <a:picLocks noChangeAspect="1"/>
          </p:cNvPicPr>
          <p:nvPr/>
        </p:nvPicPr>
        <p:blipFill>
          <a:blip r:embed="rId5"/>
          <a:stretch>
            <a:fillRect/>
          </a:stretch>
        </p:blipFill>
        <p:spPr>
          <a:xfrm>
            <a:off x="6324442" y="5314851"/>
            <a:ext cx="133347" cy="151110"/>
          </a:xfrm>
          <a:prstGeom prst="rect">
            <a:avLst/>
          </a:prstGeom>
        </p:spPr>
      </p:pic>
      <p:sp>
        <p:nvSpPr>
          <p:cNvPr id="11" name="Text 5"/>
          <p:cNvSpPr/>
          <p:nvPr/>
        </p:nvSpPr>
        <p:spPr>
          <a:xfrm>
            <a:off x="6324442" y="5575181"/>
            <a:ext cx="5257668" cy="248841"/>
          </a:xfrm>
          <a:prstGeom prst="rect">
            <a:avLst/>
          </a:prstGeom>
          <a:noFill/>
          <a:ln/>
        </p:spPr>
        <p:txBody>
          <a:bodyPr wrap="none" lIns="0" tIns="0" rIns="0" bIns="0" rtlCol="0" anchor="t"/>
          <a:lstStyle/>
          <a:p>
            <a:pPr marL="0" indent="0" algn="l">
              <a:lnSpc>
                <a:spcPct val="117000"/>
              </a:lnSpc>
              <a:buNone/>
            </a:pPr>
            <a:r>
              <a:rPr lang="en-US" sz="1400" b="1" dirty="0">
                <a:solidFill>
                  <a:srgbClr val="EAF6FA"/>
                </a:solidFill>
                <a:latin typeface="Public Sans Bold" pitchFamily="34" charset="0"/>
                <a:ea typeface="Public Sans Bold" pitchFamily="34" charset="-122"/>
                <a:cs typeface="Public Sans Bold" pitchFamily="34" charset="-120"/>
              </a:rPr>
              <a:t>Pericharla Charan Varma </a:t>
            </a:r>
            <a:r>
              <a:rPr lang="en-US" sz="1400" dirty="0">
                <a:solidFill>
                  <a:srgbClr val="EAF6FA"/>
                </a:solidFill>
                <a:latin typeface="Public Sans" pitchFamily="34" charset="0"/>
                <a:ea typeface="Public Sans" pitchFamily="34" charset="-122"/>
                <a:cs typeface="Public Sans" pitchFamily="34" charset="-120"/>
              </a:rPr>
              <a:t>(2620030362)</a:t>
            </a:r>
            <a:endParaRPr lang="en-US" sz="1400" dirty="0"/>
          </a:p>
        </p:txBody>
      </p:sp>
      <p:sp>
        <p:nvSpPr>
          <p:cNvPr id="12" name="Shape 6"/>
          <p:cNvSpPr/>
          <p:nvPr/>
        </p:nvSpPr>
        <p:spPr>
          <a:xfrm>
            <a:off x="609585" y="5978327"/>
            <a:ext cx="1827961" cy="270173"/>
          </a:xfrm>
          <a:prstGeom prst="roundRect">
            <a:avLst>
              <a:gd name="adj" fmla="val 4231"/>
            </a:avLst>
          </a:prstGeom>
          <a:noFill/>
          <a:ln w="12700">
            <a:solidFill>
              <a:srgbClr val="A9DDF0"/>
            </a:solidFill>
            <a:prstDash val="solid"/>
          </a:ln>
        </p:spPr>
      </p:sp>
      <p:sp>
        <p:nvSpPr>
          <p:cNvPr id="13" name="Text 7"/>
          <p:cNvSpPr/>
          <p:nvPr/>
        </p:nvSpPr>
        <p:spPr>
          <a:xfrm>
            <a:off x="716242" y="6032328"/>
            <a:ext cx="2224230" cy="163612"/>
          </a:xfrm>
          <a:prstGeom prst="rect">
            <a:avLst/>
          </a:prstGeom>
          <a:noFill/>
          <a:ln/>
        </p:spPr>
        <p:txBody>
          <a:bodyPr wrap="none" lIns="0" tIns="0" rIns="0" bIns="0" rtlCol="0" anchor="t"/>
          <a:lstStyle/>
          <a:p>
            <a:pPr marL="0" indent="0" algn="l">
              <a:lnSpc>
                <a:spcPct val="96000"/>
              </a:lnSpc>
              <a:buNone/>
            </a:pPr>
            <a:r>
              <a:rPr lang="en-US" sz="1100" dirty="0">
                <a:solidFill>
                  <a:srgbClr val="A9DDF0"/>
                </a:solidFill>
                <a:latin typeface="Public Sans" pitchFamily="34" charset="0"/>
                <a:ea typeface="Public Sans" pitchFamily="34" charset="-122"/>
                <a:cs typeface="Public Sans" pitchFamily="34" charset="-120"/>
              </a:rPr>
              <a:t>END OF PRESENTATION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1671</Words>
  <Application>Microsoft Office PowerPoint</Application>
  <PresentationFormat>Widescreen</PresentationFormat>
  <Paragraphs>294</Paragraphs>
  <Slides>19</Slides>
  <Notes>19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Saira Semi Condensed</vt:lpstr>
      <vt:lpstr>Arial</vt:lpstr>
      <vt:lpstr>Public Sans</vt:lpstr>
      <vt:lpstr>Consolas</vt:lpstr>
      <vt:lpstr>Public Sans Bold</vt:lpstr>
      <vt:lpstr>Public Sans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sai</dc:creator>
  <cp:lastModifiedBy>Charan Varma</cp:lastModifiedBy>
  <cp:revision>2</cp:revision>
  <dcterms:created xsi:type="dcterms:W3CDTF">2026-10-07T03:19:36Z</dcterms:created>
  <dcterms:modified xsi:type="dcterms:W3CDTF">2026-10-12T11:42:48Z</dcterms:modified>
</cp:coreProperties>
</file>